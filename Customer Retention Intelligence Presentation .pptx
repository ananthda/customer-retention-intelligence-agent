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F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9ED41-A09D-4E7C-BDFD-A8D80B14EA6C}"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2493D-64E3-4D2A-8273-83814FDC4BA7}" type="slidenum">
              <a:rPr lang="en-US" smtClean="0"/>
              <a:t>‹#›</a:t>
            </a:fld>
            <a:endParaRPr lang="en-US"/>
          </a:p>
        </p:txBody>
      </p:sp>
    </p:spTree>
    <p:extLst>
      <p:ext uri="{BB962C8B-B14F-4D97-AF65-F5344CB8AC3E}">
        <p14:creationId xmlns:p14="http://schemas.microsoft.com/office/powerpoint/2010/main" val="30332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71E9-203A-782C-64CE-D48F1BB12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E3B154-AEDE-1AA5-3DAF-D66DDC36EA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03EEE6-6AB2-072C-8BD9-C1A755F3FECC}"/>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5" name="Footer Placeholder 4">
            <a:extLst>
              <a:ext uri="{FF2B5EF4-FFF2-40B4-BE49-F238E27FC236}">
                <a16:creationId xmlns:a16="http://schemas.microsoft.com/office/drawing/2014/main" id="{201A12BC-16E0-1D80-BDC7-89B8F0C03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4D182-38F5-E5E5-EF18-96D15C476BD5}"/>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2188835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255F0-BBE4-E0F9-2079-2CB8965E53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3C159A-374B-1713-7DFA-E130FB7F56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A4EA7-B2CD-BCA6-E10A-6DD55B800F70}"/>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5" name="Footer Placeholder 4">
            <a:extLst>
              <a:ext uri="{FF2B5EF4-FFF2-40B4-BE49-F238E27FC236}">
                <a16:creationId xmlns:a16="http://schemas.microsoft.com/office/drawing/2014/main" id="{08EC32B7-0B86-B422-41E6-BF328FBBC4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1CF11-B1C6-3ABF-15C1-939322954621}"/>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237629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52E6-7F2B-162C-7317-37A97A6945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92CAC8-10CC-196C-2F1D-AEE8E39045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19D389-E13B-1CC2-961C-243E157035B8}"/>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5" name="Footer Placeholder 4">
            <a:extLst>
              <a:ext uri="{FF2B5EF4-FFF2-40B4-BE49-F238E27FC236}">
                <a16:creationId xmlns:a16="http://schemas.microsoft.com/office/drawing/2014/main" id="{396096F1-987B-0072-92ED-689EE2798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33B81B-74EA-EFC4-F501-C58F153D1578}"/>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1441587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DCEF7-DE4C-F97B-5803-F609294593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9832EE-4A27-8D11-6049-BB3982E294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D75BF7-4B1E-CA4B-A393-EC9405EAC1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80461-F5F6-1585-43B0-BA8B1B9DF90E}"/>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6" name="Footer Placeholder 5">
            <a:extLst>
              <a:ext uri="{FF2B5EF4-FFF2-40B4-BE49-F238E27FC236}">
                <a16:creationId xmlns:a16="http://schemas.microsoft.com/office/drawing/2014/main" id="{25294E5C-4415-03BE-B4FF-E45D12BFC0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ED95D9-AD63-6675-5ED3-D3F3CD9956F5}"/>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382322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380DF-017B-C34B-072B-2BF7FFAE50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9813A6-8B10-6773-22B2-2B22E3FF19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D70F1-B259-DA04-010D-54B4F8DF12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33351D-3140-BFAC-B596-C51050CA12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9BB791-D24C-7A0F-9F6E-0E97BA686A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5DD04F-12AA-A093-7D75-57A761467602}"/>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8" name="Footer Placeholder 7">
            <a:extLst>
              <a:ext uri="{FF2B5EF4-FFF2-40B4-BE49-F238E27FC236}">
                <a16:creationId xmlns:a16="http://schemas.microsoft.com/office/drawing/2014/main" id="{080F75E4-B99D-F398-2AA1-447430DA34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CEE3FC-8D60-3AA3-00F4-21556763CB4C}"/>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2213581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B8797-8172-DE01-775E-4C225BA260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96ADEF-1784-3425-9887-0C4CAC9CF7BF}"/>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4" name="Footer Placeholder 3">
            <a:extLst>
              <a:ext uri="{FF2B5EF4-FFF2-40B4-BE49-F238E27FC236}">
                <a16:creationId xmlns:a16="http://schemas.microsoft.com/office/drawing/2014/main" id="{B5606160-7621-C907-BE02-1D52FD522D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F9E1B1-7CA8-240C-7313-9F495DDEBF49}"/>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350603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6284DE-28C3-E857-A23D-03507BCB6500}"/>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3" name="Footer Placeholder 2">
            <a:extLst>
              <a:ext uri="{FF2B5EF4-FFF2-40B4-BE49-F238E27FC236}">
                <a16:creationId xmlns:a16="http://schemas.microsoft.com/office/drawing/2014/main" id="{1A81B24D-9C02-F904-6A2D-45A3CC2F5E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C83A21-48A7-4BAB-1076-1FD2C587A24F}"/>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1684748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71FE5-CCA6-B544-C440-E766A7CA6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653780-B63D-BF6D-72CE-6F29FDFC6E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D763C3-CD4C-7891-6FEA-DCC7B2719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BBADAA-A2B8-30CF-1CA5-E2576063EEBF}"/>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6" name="Footer Placeholder 5">
            <a:extLst>
              <a:ext uri="{FF2B5EF4-FFF2-40B4-BE49-F238E27FC236}">
                <a16:creationId xmlns:a16="http://schemas.microsoft.com/office/drawing/2014/main" id="{F565F2C8-8F71-BE01-F094-D56DC58A5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C16B7-329A-C740-2658-58E4DBE34770}"/>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2008569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FFED-58DF-3FED-6C34-3FB6E63645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012D16-E221-198B-4478-747128E9E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5077D7-EFFE-AA65-5C2F-6A1AB76B1B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12004A-4F80-0C3D-308D-8978DAD8D640}"/>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6" name="Footer Placeholder 5">
            <a:extLst>
              <a:ext uri="{FF2B5EF4-FFF2-40B4-BE49-F238E27FC236}">
                <a16:creationId xmlns:a16="http://schemas.microsoft.com/office/drawing/2014/main" id="{9BEB35AB-92C3-3421-2B60-6223249FC1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DA5080-C3AF-D702-CE86-38CD19ED95C0}"/>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3938968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694A-BE27-536D-7343-7FCF6B8BF3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53BC-9EFD-7379-A938-DAC59547DE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06CF4-972A-541B-4CD7-4D93E2E07DB2}"/>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5" name="Footer Placeholder 4">
            <a:extLst>
              <a:ext uri="{FF2B5EF4-FFF2-40B4-BE49-F238E27FC236}">
                <a16:creationId xmlns:a16="http://schemas.microsoft.com/office/drawing/2014/main" id="{6FB83784-3155-EA43-C610-92D9AFB88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F6D841-6936-2A07-A99C-16699D9B8A30}"/>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424539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2EA3DF-86E0-1F6B-4C3B-99DD90298F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CD94C2-8189-3644-18D2-D5D3B96BAA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E582FD-9445-FE05-BA36-EFEB8644D51C}"/>
              </a:ext>
            </a:extLst>
          </p:cNvPr>
          <p:cNvSpPr>
            <a:spLocks noGrp="1"/>
          </p:cNvSpPr>
          <p:nvPr>
            <p:ph type="dt" sz="half" idx="10"/>
          </p:nvPr>
        </p:nvSpPr>
        <p:spPr/>
        <p:txBody>
          <a:bodyPr/>
          <a:lstStyle/>
          <a:p>
            <a:fld id="{457C056B-6BE6-4702-8F42-B4D87582A461}" type="datetimeFigureOut">
              <a:rPr lang="en-US" smtClean="0"/>
              <a:t>7/30/2026</a:t>
            </a:fld>
            <a:endParaRPr lang="en-US"/>
          </a:p>
        </p:txBody>
      </p:sp>
      <p:sp>
        <p:nvSpPr>
          <p:cNvPr id="5" name="Footer Placeholder 4">
            <a:extLst>
              <a:ext uri="{FF2B5EF4-FFF2-40B4-BE49-F238E27FC236}">
                <a16:creationId xmlns:a16="http://schemas.microsoft.com/office/drawing/2014/main" id="{ECAE86C2-7EA9-517F-E496-748CCD6917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492BF-3CC3-93FE-6508-917C2BD00A8C}"/>
              </a:ext>
            </a:extLst>
          </p:cNvPr>
          <p:cNvSpPr>
            <a:spLocks noGrp="1"/>
          </p:cNvSpPr>
          <p:nvPr>
            <p:ph type="sldNum" sz="quarter" idx="12"/>
          </p:nvPr>
        </p:nvSpPr>
        <p:spPr/>
        <p:txBody>
          <a:bodyPr/>
          <a:lstStyle/>
          <a:p>
            <a:fld id="{96FAD4F1-F27E-4BBA-BF84-B954DDD7793C}" type="slidenum">
              <a:rPr lang="en-US" smtClean="0"/>
              <a:t>‹#›</a:t>
            </a:fld>
            <a:endParaRPr lang="en-US"/>
          </a:p>
        </p:txBody>
      </p:sp>
    </p:spTree>
    <p:extLst>
      <p:ext uri="{BB962C8B-B14F-4D97-AF65-F5344CB8AC3E}">
        <p14:creationId xmlns:p14="http://schemas.microsoft.com/office/powerpoint/2010/main" val="3393259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70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4DFC79-8750-E6A1-7573-6C96B8784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6E6DD9-81F3-DFC1-8DA5-5315AADBE7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BCCE3-7794-0963-B7DA-7365C0ABB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7C056B-6BE6-4702-8F42-B4D87582A461}" type="datetimeFigureOut">
              <a:rPr lang="en-US" smtClean="0"/>
              <a:t>7/30/2026</a:t>
            </a:fld>
            <a:endParaRPr lang="en-US"/>
          </a:p>
        </p:txBody>
      </p:sp>
      <p:sp>
        <p:nvSpPr>
          <p:cNvPr id="5" name="Footer Placeholder 4">
            <a:extLst>
              <a:ext uri="{FF2B5EF4-FFF2-40B4-BE49-F238E27FC236}">
                <a16:creationId xmlns:a16="http://schemas.microsoft.com/office/drawing/2014/main" id="{97468EA2-9C25-EF37-EE6F-6B56126BFC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443F1E-0DAD-E6D7-5A83-911DD93DB8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FAD4F1-F27E-4BBA-BF84-B954DDD7793C}" type="slidenum">
              <a:rPr lang="en-US" smtClean="0"/>
              <a:t>‹#›</a:t>
            </a:fld>
            <a:endParaRPr lang="en-US"/>
          </a:p>
        </p:txBody>
      </p:sp>
    </p:spTree>
    <p:extLst>
      <p:ext uri="{BB962C8B-B14F-4D97-AF65-F5344CB8AC3E}">
        <p14:creationId xmlns:p14="http://schemas.microsoft.com/office/powerpoint/2010/main" val="1456955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91FD6-3152-1F5B-DB59-864BC67BA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A8991-F448-3617-563B-48BE64666C1B}"/>
              </a:ext>
            </a:extLst>
          </p:cNvPr>
          <p:cNvSpPr>
            <a:spLocks noGrp="1"/>
          </p:cNvSpPr>
          <p:nvPr>
            <p:ph type="ctrTitle"/>
          </p:nvPr>
        </p:nvSpPr>
        <p:spPr>
          <a:xfrm>
            <a:off x="0" y="0"/>
            <a:ext cx="12192000" cy="6857999"/>
          </a:xfrm>
          <a:solidFill>
            <a:srgbClr val="0B1F3A"/>
          </a:solidFill>
          <a:ln>
            <a:solidFill>
              <a:schemeClr val="tx1"/>
            </a:solidFill>
          </a:ln>
        </p:spPr>
        <p:txBody>
          <a:bodyPr anchor="ctr">
            <a:normAutofit/>
          </a:bodyPr>
          <a:lstStyle/>
          <a:p>
            <a:br>
              <a:rPr lang="en-US" sz="4400" b="1" i="1" dirty="0">
                <a:solidFill>
                  <a:schemeClr val="bg1"/>
                </a:solidFill>
                <a:latin typeface="Arial" panose="020B0604020202020204" pitchFamily="34" charset="0"/>
                <a:cs typeface="Arial" panose="020B0604020202020204" pitchFamily="34" charset="0"/>
              </a:rPr>
            </a:br>
            <a:br>
              <a:rPr lang="en-US" sz="4400" b="1" i="1" dirty="0">
                <a:solidFill>
                  <a:schemeClr val="bg1"/>
                </a:solidFill>
                <a:latin typeface="Arial" panose="020B0604020202020204" pitchFamily="34" charset="0"/>
                <a:cs typeface="Arial" panose="020B0604020202020204" pitchFamily="34" charset="0"/>
              </a:rPr>
            </a:br>
            <a:br>
              <a:rPr lang="en-US" sz="4400" b="1" i="1" dirty="0">
                <a:solidFill>
                  <a:schemeClr val="bg1"/>
                </a:solidFill>
                <a:latin typeface="Arial" panose="020B0604020202020204" pitchFamily="34" charset="0"/>
                <a:cs typeface="Arial" panose="020B0604020202020204" pitchFamily="34" charset="0"/>
              </a:rPr>
            </a:br>
            <a:br>
              <a:rPr lang="en-US" sz="4400" b="1" i="1" dirty="0">
                <a:solidFill>
                  <a:schemeClr val="bg1"/>
                </a:solidFill>
                <a:latin typeface="Arial" panose="020B0604020202020204" pitchFamily="34" charset="0"/>
                <a:cs typeface="Arial" panose="020B0604020202020204" pitchFamily="34" charset="0"/>
              </a:rPr>
            </a:br>
            <a:endParaRPr lang="en-US" sz="4400" b="1" i="1" dirty="0">
              <a:solidFill>
                <a:schemeClr val="bg1"/>
              </a:solidFill>
              <a:latin typeface="Arial" panose="020B0604020202020204" pitchFamily="34" charset="0"/>
              <a:cs typeface="Arial" panose="020B0604020202020204" pitchFamily="34" charset="0"/>
            </a:endParaRPr>
          </a:p>
        </p:txBody>
      </p:sp>
      <p:sp>
        <p:nvSpPr>
          <p:cNvPr id="9" name="Shape 4">
            <a:extLst>
              <a:ext uri="{FF2B5EF4-FFF2-40B4-BE49-F238E27FC236}">
                <a16:creationId xmlns:a16="http://schemas.microsoft.com/office/drawing/2014/main" id="{F72DD2B7-A569-6421-3611-4E80AE1E0893}"/>
              </a:ext>
            </a:extLst>
          </p:cNvPr>
          <p:cNvSpPr/>
          <p:nvPr/>
        </p:nvSpPr>
        <p:spPr>
          <a:xfrm rot="10800000" flipV="1">
            <a:off x="794221" y="687107"/>
            <a:ext cx="98407" cy="3840480"/>
          </a:xfrm>
          <a:prstGeom prst="rect">
            <a:avLst/>
          </a:prstGeom>
          <a:solidFill>
            <a:srgbClr val="FFC000"/>
          </a:solidFill>
          <a:ln w="12700">
            <a:solidFill>
              <a:srgbClr val="2A4A7A"/>
            </a:solidFill>
            <a:prstDash val="solid"/>
          </a:ln>
        </p:spPr>
        <p:txBody>
          <a:bodyPr/>
          <a:lstStyle/>
          <a:p>
            <a:endParaRPr lang="en-US"/>
          </a:p>
        </p:txBody>
      </p:sp>
      <p:sp>
        <p:nvSpPr>
          <p:cNvPr id="3" name="TextBox 2">
            <a:extLst>
              <a:ext uri="{FF2B5EF4-FFF2-40B4-BE49-F238E27FC236}">
                <a16:creationId xmlns:a16="http://schemas.microsoft.com/office/drawing/2014/main" id="{08E751C3-5EC5-80EF-971C-C4FB0BB27A39}"/>
              </a:ext>
            </a:extLst>
          </p:cNvPr>
          <p:cNvSpPr txBox="1"/>
          <p:nvPr/>
        </p:nvSpPr>
        <p:spPr>
          <a:xfrm>
            <a:off x="1066800" y="1066797"/>
            <a:ext cx="5900057" cy="1446550"/>
          </a:xfrm>
          <a:prstGeom prst="rect">
            <a:avLst/>
          </a:prstGeom>
          <a:noFill/>
        </p:spPr>
        <p:txBody>
          <a:bodyPr wrap="square" rtlCol="0">
            <a:spAutoFit/>
          </a:bodyPr>
          <a:lstStyle/>
          <a:p>
            <a:r>
              <a:rPr lang="en-US" sz="4400" b="1" i="1" dirty="0">
                <a:solidFill>
                  <a:schemeClr val="bg1"/>
                </a:solidFill>
                <a:latin typeface="Arial" panose="020B0604020202020204" pitchFamily="34" charset="0"/>
                <a:cs typeface="Arial" panose="020B0604020202020204" pitchFamily="34" charset="0"/>
              </a:rPr>
              <a:t>Customer Retention Intelligence Agent</a:t>
            </a:r>
            <a:endParaRPr lang="en-US" sz="4400" i="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CEBB790-5B01-3B59-3D1E-5266995E0E7B}"/>
              </a:ext>
            </a:extLst>
          </p:cNvPr>
          <p:cNvSpPr txBox="1"/>
          <p:nvPr/>
        </p:nvSpPr>
        <p:spPr>
          <a:xfrm>
            <a:off x="1066800" y="2835947"/>
            <a:ext cx="6651171" cy="307777"/>
          </a:xfrm>
          <a:prstGeom prst="rect">
            <a:avLst/>
          </a:prstGeom>
          <a:noFill/>
        </p:spPr>
        <p:txBody>
          <a:bodyPr wrap="square" rtlCol="0">
            <a:spAutoFit/>
          </a:bodyPr>
          <a:lstStyle/>
          <a:p>
            <a:r>
              <a:rPr lang="en-US" sz="1400" b="1" i="1" dirty="0">
                <a:solidFill>
                  <a:schemeClr val="tx2">
                    <a:lumMod val="25000"/>
                    <a:lumOff val="75000"/>
                  </a:schemeClr>
                </a:solidFill>
                <a:latin typeface="Arial" panose="020B0604020202020204" pitchFamily="34" charset="0"/>
                <a:cs typeface="Arial" panose="020B0604020202020204" pitchFamily="34" charset="0"/>
              </a:rPr>
              <a:t>Multi Agent AI System </a:t>
            </a:r>
            <a:r>
              <a:rPr lang="en-US" sz="1400" b="1" i="1" baseline="30000" dirty="0">
                <a:solidFill>
                  <a:schemeClr val="tx2">
                    <a:lumMod val="25000"/>
                    <a:lumOff val="75000"/>
                  </a:schemeClr>
                </a:solidFill>
                <a:latin typeface="Arial" panose="020B0604020202020204" pitchFamily="34" charset="0"/>
                <a:cs typeface="Arial" panose="020B0604020202020204" pitchFamily="34" charset="0"/>
              </a:rPr>
              <a:t>.</a:t>
            </a:r>
            <a:r>
              <a:rPr lang="en-US" sz="1400" b="1" i="1" dirty="0">
                <a:solidFill>
                  <a:schemeClr val="tx2">
                    <a:lumMod val="25000"/>
                    <a:lumOff val="75000"/>
                  </a:schemeClr>
                </a:solidFill>
                <a:latin typeface="Arial" panose="020B0604020202020204" pitchFamily="34" charset="0"/>
                <a:cs typeface="Arial" panose="020B0604020202020204" pitchFamily="34" charset="0"/>
              </a:rPr>
              <a:t> Lang Graph </a:t>
            </a:r>
            <a:r>
              <a:rPr lang="en-US" sz="1400" b="1" i="1" baseline="30000" dirty="0">
                <a:solidFill>
                  <a:schemeClr val="tx2">
                    <a:lumMod val="25000"/>
                    <a:lumOff val="75000"/>
                  </a:schemeClr>
                </a:solidFill>
                <a:latin typeface="Arial" panose="020B0604020202020204" pitchFamily="34" charset="0"/>
                <a:cs typeface="Arial" panose="020B0604020202020204" pitchFamily="34" charset="0"/>
              </a:rPr>
              <a:t>.</a:t>
            </a:r>
            <a:r>
              <a:rPr lang="en-US" sz="1400" b="1" i="1" dirty="0">
                <a:solidFill>
                  <a:schemeClr val="tx2">
                    <a:lumMod val="25000"/>
                    <a:lumOff val="75000"/>
                  </a:schemeClr>
                </a:solidFill>
                <a:latin typeface="Arial" panose="020B0604020202020204" pitchFamily="34" charset="0"/>
                <a:cs typeface="Arial" panose="020B0604020202020204" pitchFamily="34" charset="0"/>
              </a:rPr>
              <a:t> Chroma DB </a:t>
            </a:r>
            <a:r>
              <a:rPr lang="en-US" sz="1400" b="1" i="1" baseline="30000" dirty="0">
                <a:solidFill>
                  <a:schemeClr val="tx2">
                    <a:lumMod val="25000"/>
                    <a:lumOff val="75000"/>
                  </a:schemeClr>
                </a:solidFill>
                <a:latin typeface="Arial" panose="020B0604020202020204" pitchFamily="34" charset="0"/>
                <a:cs typeface="Arial" panose="020B0604020202020204" pitchFamily="34" charset="0"/>
              </a:rPr>
              <a:t>.</a:t>
            </a:r>
            <a:r>
              <a:rPr lang="en-US" sz="1400" b="1" i="1" dirty="0">
                <a:solidFill>
                  <a:schemeClr val="tx2">
                    <a:lumMod val="25000"/>
                    <a:lumOff val="75000"/>
                  </a:schemeClr>
                </a:solidFill>
                <a:latin typeface="Arial" panose="020B0604020202020204" pitchFamily="34" charset="0"/>
                <a:cs typeface="Arial" panose="020B0604020202020204" pitchFamily="34" charset="0"/>
              </a:rPr>
              <a:t> Azure Open AI GPT-4o</a:t>
            </a:r>
            <a:endParaRPr lang="en-US" sz="1400" dirty="0">
              <a:solidFill>
                <a:schemeClr val="tx2">
                  <a:lumMod val="25000"/>
                  <a:lumOff val="7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F2E4619-2F6F-E30F-9EBB-2C15D4E47053}"/>
              </a:ext>
            </a:extLst>
          </p:cNvPr>
          <p:cNvSpPr txBox="1"/>
          <p:nvPr/>
        </p:nvSpPr>
        <p:spPr>
          <a:xfrm>
            <a:off x="1066800" y="3466324"/>
            <a:ext cx="6651171" cy="261610"/>
          </a:xfrm>
          <a:prstGeom prst="rect">
            <a:avLst/>
          </a:prstGeom>
          <a:noFill/>
        </p:spPr>
        <p:txBody>
          <a:bodyPr wrap="square" rtlCol="0">
            <a:spAutoFit/>
          </a:bodyPr>
          <a:lstStyle/>
          <a:p>
            <a:r>
              <a:rPr lang="en-US" sz="1100" b="1" i="1" dirty="0">
                <a:solidFill>
                  <a:schemeClr val="tx2">
                    <a:lumMod val="50000"/>
                    <a:lumOff val="50000"/>
                  </a:schemeClr>
                </a:solidFill>
                <a:latin typeface="Arial" panose="020B0604020202020204" pitchFamily="34" charset="0"/>
                <a:cs typeface="Arial" panose="020B0604020202020204" pitchFamily="34" charset="0"/>
              </a:rPr>
              <a:t>Anantakumaar Raviprasath </a:t>
            </a:r>
            <a:r>
              <a:rPr lang="en-US" sz="1100" b="1" i="1" baseline="30000" dirty="0">
                <a:solidFill>
                  <a:schemeClr val="tx2">
                    <a:lumMod val="50000"/>
                    <a:lumOff val="50000"/>
                  </a:schemeClr>
                </a:solidFill>
                <a:latin typeface="Arial" panose="020B0604020202020204" pitchFamily="34" charset="0"/>
                <a:cs typeface="Arial" panose="020B0604020202020204" pitchFamily="34" charset="0"/>
              </a:rPr>
              <a:t>.</a:t>
            </a:r>
            <a:r>
              <a:rPr lang="en-US" sz="1100" b="1" i="1" dirty="0">
                <a:solidFill>
                  <a:schemeClr val="tx2">
                    <a:lumMod val="50000"/>
                    <a:lumOff val="50000"/>
                  </a:schemeClr>
                </a:solidFill>
                <a:latin typeface="Arial" panose="020B0604020202020204" pitchFamily="34" charset="0"/>
                <a:cs typeface="Arial" panose="020B0604020202020204" pitchFamily="34" charset="0"/>
              </a:rPr>
              <a:t> DGS AI Proficient Capstone Presentation</a:t>
            </a:r>
            <a:endParaRPr lang="en-US" sz="1100" dirty="0">
              <a:solidFill>
                <a:schemeClr val="tx2">
                  <a:lumMod val="50000"/>
                  <a:lumOff val="50000"/>
                </a:schemeClr>
              </a:solidFill>
              <a:latin typeface="Arial" panose="020B0604020202020204" pitchFamily="34" charset="0"/>
              <a:cs typeface="Arial" panose="020B0604020202020204" pitchFamily="34" charset="0"/>
            </a:endParaRPr>
          </a:p>
        </p:txBody>
      </p:sp>
      <p:sp>
        <p:nvSpPr>
          <p:cNvPr id="10" name="Shape 4">
            <a:extLst>
              <a:ext uri="{FF2B5EF4-FFF2-40B4-BE49-F238E27FC236}">
                <a16:creationId xmlns:a16="http://schemas.microsoft.com/office/drawing/2014/main" id="{B173DDD0-CD02-4BF5-6F77-9EC33B51EBD5}"/>
              </a:ext>
            </a:extLst>
          </p:cNvPr>
          <p:cNvSpPr/>
          <p:nvPr/>
        </p:nvSpPr>
        <p:spPr>
          <a:xfrm rot="16200000" flipV="1">
            <a:off x="4255232" y="191708"/>
            <a:ext cx="45719" cy="6226630"/>
          </a:xfrm>
          <a:prstGeom prst="rect">
            <a:avLst/>
          </a:prstGeom>
          <a:solidFill>
            <a:schemeClr val="accent1">
              <a:lumMod val="75000"/>
            </a:schemeClr>
          </a:solidFill>
          <a:ln w="12700">
            <a:solidFill>
              <a:srgbClr val="2A4A7A"/>
            </a:solidFill>
            <a:prstDash val="solid"/>
          </a:ln>
        </p:spPr>
        <p:txBody>
          <a:bodyPr/>
          <a:lstStyle/>
          <a:p>
            <a:endParaRPr lang="en-US"/>
          </a:p>
        </p:txBody>
      </p:sp>
      <p:sp>
        <p:nvSpPr>
          <p:cNvPr id="13" name="Shape 6">
            <a:extLst>
              <a:ext uri="{FF2B5EF4-FFF2-40B4-BE49-F238E27FC236}">
                <a16:creationId xmlns:a16="http://schemas.microsoft.com/office/drawing/2014/main" id="{7417CB40-947B-2F17-5947-F348AD0AA22C}"/>
              </a:ext>
            </a:extLst>
          </p:cNvPr>
          <p:cNvSpPr/>
          <p:nvPr/>
        </p:nvSpPr>
        <p:spPr>
          <a:xfrm>
            <a:off x="9350829" y="1066797"/>
            <a:ext cx="2423160" cy="1280160"/>
          </a:xfrm>
          <a:prstGeom prst="roundRect">
            <a:avLst>
              <a:gd name="adj" fmla="val 5714"/>
            </a:avLst>
          </a:prstGeom>
          <a:solidFill>
            <a:srgbClr val="14274E"/>
          </a:solidFill>
          <a:ln w="12700">
            <a:solidFill>
              <a:srgbClr val="243B6E"/>
            </a:solidFill>
            <a:prstDash val="solid"/>
          </a:ln>
        </p:spPr>
        <p:txBody>
          <a:bodyPr/>
          <a:lstStyle/>
          <a:p>
            <a:endParaRPr lang="en-US" dirty="0"/>
          </a:p>
        </p:txBody>
      </p:sp>
      <p:sp>
        <p:nvSpPr>
          <p:cNvPr id="15" name="Text 7">
            <a:extLst>
              <a:ext uri="{FF2B5EF4-FFF2-40B4-BE49-F238E27FC236}">
                <a16:creationId xmlns:a16="http://schemas.microsoft.com/office/drawing/2014/main" id="{138C6CAF-B74F-DD2E-DCAF-B219907765AF}"/>
              </a:ext>
            </a:extLst>
          </p:cNvPr>
          <p:cNvSpPr/>
          <p:nvPr/>
        </p:nvSpPr>
        <p:spPr>
          <a:xfrm>
            <a:off x="9350829" y="1175654"/>
            <a:ext cx="2423160" cy="728090"/>
          </a:xfrm>
          <a:prstGeom prst="rect">
            <a:avLst/>
          </a:prstGeom>
          <a:noFill/>
          <a:ln/>
        </p:spPr>
        <p:txBody>
          <a:bodyPr wrap="square" rtlCol="0" anchor="ctr"/>
          <a:lstStyle/>
          <a:p>
            <a:pPr marL="0" indent="0" algn="ctr">
              <a:buNone/>
            </a:pPr>
            <a:r>
              <a:rPr lang="en-US" sz="3600" b="1" dirty="0">
                <a:solidFill>
                  <a:srgbClr val="FFC000"/>
                </a:solidFill>
                <a:latin typeface="Arial" pitchFamily="34" charset="0"/>
                <a:ea typeface="Arial" pitchFamily="34" charset="-122"/>
                <a:cs typeface="Arial" pitchFamily="34" charset="-120"/>
              </a:rPr>
              <a:t>100%</a:t>
            </a:r>
            <a:endParaRPr lang="en-US" sz="3600" dirty="0">
              <a:solidFill>
                <a:srgbClr val="FFC000"/>
              </a:solidFill>
            </a:endParaRPr>
          </a:p>
        </p:txBody>
      </p:sp>
      <p:sp>
        <p:nvSpPr>
          <p:cNvPr id="17" name="Text 8">
            <a:extLst>
              <a:ext uri="{FF2B5EF4-FFF2-40B4-BE49-F238E27FC236}">
                <a16:creationId xmlns:a16="http://schemas.microsoft.com/office/drawing/2014/main" id="{568AB5C5-733C-2B46-C51A-D52AAD98BB67}"/>
              </a:ext>
            </a:extLst>
          </p:cNvPr>
          <p:cNvSpPr/>
          <p:nvPr/>
        </p:nvSpPr>
        <p:spPr>
          <a:xfrm>
            <a:off x="9350829" y="1761307"/>
            <a:ext cx="2423160" cy="457200"/>
          </a:xfrm>
          <a:prstGeom prst="rect">
            <a:avLst/>
          </a:prstGeom>
          <a:noFill/>
          <a:ln/>
        </p:spPr>
        <p:txBody>
          <a:bodyPr wrap="square" rtlCol="0" anchor="ctr"/>
          <a:lstStyle/>
          <a:p>
            <a:pPr marL="0" indent="0" algn="ctr">
              <a:buNone/>
            </a:pPr>
            <a:r>
              <a:rPr lang="en-US" sz="1100" b="1" dirty="0">
                <a:solidFill>
                  <a:schemeClr val="tx2">
                    <a:lumMod val="50000"/>
                    <a:lumOff val="50000"/>
                  </a:schemeClr>
                </a:solidFill>
                <a:latin typeface="Arial" panose="020B0604020202020204" pitchFamily="34" charset="0"/>
                <a:ea typeface="Arial" pitchFamily="34" charset="-122"/>
                <a:cs typeface="Arial" panose="020B0604020202020204" pitchFamily="34" charset="0"/>
              </a:rPr>
              <a:t>Classification</a:t>
            </a:r>
            <a:endParaRPr lang="en-US" sz="1100" b="1" dirty="0">
              <a:solidFill>
                <a:schemeClr val="tx2">
                  <a:lumMod val="50000"/>
                  <a:lumOff val="50000"/>
                </a:schemeClr>
              </a:solidFill>
              <a:latin typeface="Arial" panose="020B0604020202020204" pitchFamily="34" charset="0"/>
              <a:cs typeface="Arial" panose="020B0604020202020204" pitchFamily="34" charset="0"/>
            </a:endParaRPr>
          </a:p>
          <a:p>
            <a:pPr marL="0" indent="0" algn="ctr">
              <a:buNone/>
            </a:pPr>
            <a:r>
              <a:rPr lang="en-US" sz="1100" b="1" dirty="0">
                <a:solidFill>
                  <a:schemeClr val="tx2">
                    <a:lumMod val="50000"/>
                    <a:lumOff val="50000"/>
                  </a:schemeClr>
                </a:solidFill>
                <a:latin typeface="Arial" panose="020B0604020202020204" pitchFamily="34" charset="0"/>
                <a:ea typeface="Arial" pitchFamily="34" charset="-122"/>
                <a:cs typeface="Arial" panose="020B0604020202020204" pitchFamily="34" charset="0"/>
              </a:rPr>
              <a:t>Accuracy</a:t>
            </a:r>
            <a:endParaRPr lang="en-US" sz="1100" b="1" dirty="0">
              <a:solidFill>
                <a:schemeClr val="tx2">
                  <a:lumMod val="50000"/>
                  <a:lumOff val="50000"/>
                </a:schemeClr>
              </a:solidFill>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80209E72-05D4-9FAF-6070-D192033E7FE2}"/>
              </a:ext>
            </a:extLst>
          </p:cNvPr>
          <p:cNvSpPr/>
          <p:nvPr/>
        </p:nvSpPr>
        <p:spPr>
          <a:xfrm>
            <a:off x="9350829" y="2687803"/>
            <a:ext cx="2423160" cy="1280160"/>
          </a:xfrm>
          <a:prstGeom prst="roundRect">
            <a:avLst>
              <a:gd name="adj" fmla="val 5714"/>
            </a:avLst>
          </a:prstGeom>
          <a:solidFill>
            <a:srgbClr val="14274E"/>
          </a:solidFill>
          <a:ln w="12700">
            <a:solidFill>
              <a:srgbClr val="243B6E"/>
            </a:solidFill>
            <a:prstDash val="solid"/>
          </a:ln>
        </p:spPr>
        <p:txBody>
          <a:bodyPr/>
          <a:lstStyle/>
          <a:p>
            <a:endParaRPr lang="en-US" dirty="0"/>
          </a:p>
        </p:txBody>
      </p:sp>
      <p:sp>
        <p:nvSpPr>
          <p:cNvPr id="21" name="Text 7">
            <a:extLst>
              <a:ext uri="{FF2B5EF4-FFF2-40B4-BE49-F238E27FC236}">
                <a16:creationId xmlns:a16="http://schemas.microsoft.com/office/drawing/2014/main" id="{17C67FDD-C267-0BD8-D1E0-1A3AFDB06BCD}"/>
              </a:ext>
            </a:extLst>
          </p:cNvPr>
          <p:cNvSpPr/>
          <p:nvPr/>
        </p:nvSpPr>
        <p:spPr>
          <a:xfrm>
            <a:off x="9350829" y="2840207"/>
            <a:ext cx="2423160" cy="728090"/>
          </a:xfrm>
          <a:prstGeom prst="rect">
            <a:avLst/>
          </a:prstGeom>
          <a:noFill/>
          <a:ln/>
        </p:spPr>
        <p:txBody>
          <a:bodyPr wrap="square" rtlCol="0" anchor="ctr"/>
          <a:lstStyle/>
          <a:p>
            <a:pPr marL="0" indent="0" algn="ctr">
              <a:buNone/>
            </a:pPr>
            <a:r>
              <a:rPr lang="en-US" sz="3600" b="1" dirty="0">
                <a:solidFill>
                  <a:srgbClr val="FFC000"/>
                </a:solidFill>
                <a:latin typeface="Arial" pitchFamily="34" charset="0"/>
                <a:cs typeface="Arial" pitchFamily="34" charset="-120"/>
              </a:rPr>
              <a:t>4.84/5</a:t>
            </a:r>
            <a:endParaRPr lang="en-US" sz="3600" dirty="0">
              <a:solidFill>
                <a:srgbClr val="FFC000"/>
              </a:solidFill>
            </a:endParaRPr>
          </a:p>
        </p:txBody>
      </p:sp>
      <p:sp>
        <p:nvSpPr>
          <p:cNvPr id="23" name="Text 8">
            <a:extLst>
              <a:ext uri="{FF2B5EF4-FFF2-40B4-BE49-F238E27FC236}">
                <a16:creationId xmlns:a16="http://schemas.microsoft.com/office/drawing/2014/main" id="{848CEA66-F53B-7916-ADD7-6AE47FDCFF80}"/>
              </a:ext>
            </a:extLst>
          </p:cNvPr>
          <p:cNvSpPr/>
          <p:nvPr/>
        </p:nvSpPr>
        <p:spPr>
          <a:xfrm>
            <a:off x="9350829" y="3414971"/>
            <a:ext cx="2423160" cy="457200"/>
          </a:xfrm>
          <a:prstGeom prst="rect">
            <a:avLst/>
          </a:prstGeom>
          <a:noFill/>
          <a:ln/>
        </p:spPr>
        <p:txBody>
          <a:bodyPr wrap="square" rtlCol="0" anchor="ctr"/>
          <a:lstStyle/>
          <a:p>
            <a:pPr marL="0" indent="0" algn="ctr">
              <a:buNone/>
            </a:pPr>
            <a:r>
              <a:rPr lang="en-US" sz="1100" b="1" dirty="0">
                <a:solidFill>
                  <a:schemeClr val="tx2">
                    <a:lumMod val="50000"/>
                    <a:lumOff val="50000"/>
                  </a:schemeClr>
                </a:solidFill>
                <a:latin typeface="Arial" panose="020B0604020202020204" pitchFamily="34" charset="0"/>
                <a:ea typeface="Arial" pitchFamily="34" charset="-122"/>
                <a:cs typeface="Arial" panose="020B0604020202020204" pitchFamily="34" charset="0"/>
              </a:rPr>
              <a:t>LLM Judge Score</a:t>
            </a:r>
            <a:endParaRPr lang="en-US" sz="1100" b="1" dirty="0">
              <a:solidFill>
                <a:schemeClr val="tx2">
                  <a:lumMod val="50000"/>
                  <a:lumOff val="50000"/>
                </a:schemeClr>
              </a:solidFill>
              <a:latin typeface="Arial" panose="020B0604020202020204" pitchFamily="34" charset="0"/>
              <a:cs typeface="Arial" panose="020B0604020202020204" pitchFamily="34" charset="0"/>
            </a:endParaRPr>
          </a:p>
        </p:txBody>
      </p:sp>
      <p:sp>
        <p:nvSpPr>
          <p:cNvPr id="25" name="Shape 6">
            <a:extLst>
              <a:ext uri="{FF2B5EF4-FFF2-40B4-BE49-F238E27FC236}">
                <a16:creationId xmlns:a16="http://schemas.microsoft.com/office/drawing/2014/main" id="{7F9D0FCE-FC9D-6FE1-E7A7-9E7E8904E390}"/>
              </a:ext>
            </a:extLst>
          </p:cNvPr>
          <p:cNvSpPr/>
          <p:nvPr/>
        </p:nvSpPr>
        <p:spPr>
          <a:xfrm>
            <a:off x="9350829" y="4308809"/>
            <a:ext cx="2423160" cy="1280160"/>
          </a:xfrm>
          <a:prstGeom prst="roundRect">
            <a:avLst>
              <a:gd name="adj" fmla="val 5714"/>
            </a:avLst>
          </a:prstGeom>
          <a:solidFill>
            <a:srgbClr val="14274E"/>
          </a:solidFill>
          <a:ln w="12700">
            <a:solidFill>
              <a:srgbClr val="243B6E"/>
            </a:solidFill>
            <a:prstDash val="solid"/>
          </a:ln>
        </p:spPr>
        <p:txBody>
          <a:bodyPr/>
          <a:lstStyle/>
          <a:p>
            <a:endParaRPr lang="en-US" dirty="0"/>
          </a:p>
        </p:txBody>
      </p:sp>
      <p:sp>
        <p:nvSpPr>
          <p:cNvPr id="27" name="Text 7">
            <a:extLst>
              <a:ext uri="{FF2B5EF4-FFF2-40B4-BE49-F238E27FC236}">
                <a16:creationId xmlns:a16="http://schemas.microsoft.com/office/drawing/2014/main" id="{F7FF1362-F5B1-564B-C74A-AD3DA692401D}"/>
              </a:ext>
            </a:extLst>
          </p:cNvPr>
          <p:cNvSpPr/>
          <p:nvPr/>
        </p:nvSpPr>
        <p:spPr>
          <a:xfrm>
            <a:off x="9350829" y="4472097"/>
            <a:ext cx="2423160" cy="728090"/>
          </a:xfrm>
          <a:prstGeom prst="rect">
            <a:avLst/>
          </a:prstGeom>
          <a:noFill/>
          <a:ln/>
        </p:spPr>
        <p:txBody>
          <a:bodyPr wrap="square" rtlCol="0" anchor="ctr"/>
          <a:lstStyle/>
          <a:p>
            <a:pPr marL="0" indent="0" algn="ctr">
              <a:buNone/>
            </a:pPr>
            <a:r>
              <a:rPr lang="en-US" sz="3600" b="1" dirty="0">
                <a:solidFill>
                  <a:srgbClr val="FFC000"/>
                </a:solidFill>
                <a:latin typeface="Arial" pitchFamily="34" charset="0"/>
                <a:ea typeface="Arial" pitchFamily="34" charset="-122"/>
                <a:cs typeface="Arial" pitchFamily="34" charset="-120"/>
              </a:rPr>
              <a:t>10/10</a:t>
            </a:r>
            <a:endParaRPr lang="en-US" sz="3600" dirty="0">
              <a:solidFill>
                <a:srgbClr val="FFC000"/>
              </a:solidFill>
            </a:endParaRPr>
          </a:p>
        </p:txBody>
      </p:sp>
      <p:sp>
        <p:nvSpPr>
          <p:cNvPr id="29" name="Text 8">
            <a:extLst>
              <a:ext uri="{FF2B5EF4-FFF2-40B4-BE49-F238E27FC236}">
                <a16:creationId xmlns:a16="http://schemas.microsoft.com/office/drawing/2014/main" id="{303A752E-581D-182B-F2AC-208B43CF00A1}"/>
              </a:ext>
            </a:extLst>
          </p:cNvPr>
          <p:cNvSpPr/>
          <p:nvPr/>
        </p:nvSpPr>
        <p:spPr>
          <a:xfrm>
            <a:off x="9350829" y="5046863"/>
            <a:ext cx="2423160" cy="457200"/>
          </a:xfrm>
          <a:prstGeom prst="rect">
            <a:avLst/>
          </a:prstGeom>
          <a:noFill/>
          <a:ln/>
        </p:spPr>
        <p:txBody>
          <a:bodyPr wrap="square" rtlCol="0" anchor="ctr"/>
          <a:lstStyle/>
          <a:p>
            <a:pPr marL="0" indent="0" algn="ctr">
              <a:buNone/>
            </a:pPr>
            <a:r>
              <a:rPr lang="en-US" sz="1100" b="1" dirty="0">
                <a:solidFill>
                  <a:schemeClr val="tx2">
                    <a:lumMod val="50000"/>
                    <a:lumOff val="50000"/>
                  </a:schemeClr>
                </a:solidFill>
                <a:latin typeface="Arial" panose="020B0604020202020204" pitchFamily="34" charset="0"/>
                <a:ea typeface="Arial" pitchFamily="34" charset="-122"/>
                <a:cs typeface="Arial" panose="020B0604020202020204" pitchFamily="34" charset="0"/>
              </a:rPr>
              <a:t>Validation Pass Rate</a:t>
            </a:r>
            <a:endParaRPr lang="en-US" sz="1100" b="1" dirty="0">
              <a:solidFill>
                <a:schemeClr val="tx2">
                  <a:lumMod val="50000"/>
                  <a:lumOff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4481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11018520" cy="640080"/>
          </a:xfrm>
          <a:prstGeom prst="rect">
            <a:avLst/>
          </a:prstGeom>
          <a:noFill/>
          <a:ln>
            <a:solidFill>
              <a:schemeClr val="bg1">
                <a:lumMod val="95000"/>
              </a:schemeClr>
            </a:solidFill>
          </a:ln>
        </p:spPr>
        <p:txBody>
          <a:bodyPr wrap="square" rtlCol="0" anchor="ctr"/>
          <a:lstStyle/>
          <a:p>
            <a:pPr marL="0" indent="0">
              <a:buNone/>
            </a:pPr>
            <a:r>
              <a:rPr lang="en-US" sz="3600" b="1" dirty="0">
                <a:solidFill>
                  <a:srgbClr val="FFC000"/>
                </a:solidFill>
                <a:latin typeface="Arial" pitchFamily="34" charset="0"/>
                <a:ea typeface="Arial" pitchFamily="34" charset="-122"/>
                <a:cs typeface="Arial" pitchFamily="34" charset="-120"/>
              </a:rPr>
              <a:t>The Business Problem</a:t>
            </a:r>
            <a:endParaRPr lang="en-US" sz="3600" dirty="0">
              <a:solidFill>
                <a:srgbClr val="FFC000"/>
              </a:solidFill>
            </a:endParaRPr>
          </a:p>
        </p:txBody>
      </p:sp>
      <p:sp>
        <p:nvSpPr>
          <p:cNvPr id="4" name="Shape 2"/>
          <p:cNvSpPr/>
          <p:nvPr/>
        </p:nvSpPr>
        <p:spPr>
          <a:xfrm>
            <a:off x="548640" y="1143000"/>
            <a:ext cx="3291840" cy="1828800"/>
          </a:xfrm>
          <a:prstGeom prst="roundRect">
            <a:avLst>
              <a:gd name="adj" fmla="val 5000"/>
            </a:avLst>
          </a:prstGeom>
          <a:solidFill>
            <a:srgbClr val="14274E"/>
          </a:solidFill>
          <a:ln w="12700">
            <a:solidFill>
              <a:srgbClr val="243B6E"/>
            </a:solidFill>
            <a:prstDash val="solid"/>
          </a:ln>
        </p:spPr>
        <p:txBody>
          <a:bodyPr/>
          <a:lstStyle/>
          <a:p>
            <a:endParaRPr lang="en-US"/>
          </a:p>
        </p:txBody>
      </p:sp>
      <p:sp>
        <p:nvSpPr>
          <p:cNvPr id="5" name="Text 3"/>
          <p:cNvSpPr/>
          <p:nvPr/>
        </p:nvSpPr>
        <p:spPr>
          <a:xfrm>
            <a:off x="1012371" y="1308898"/>
            <a:ext cx="2523309" cy="1005840"/>
          </a:xfrm>
          <a:prstGeom prst="rect">
            <a:avLst/>
          </a:prstGeom>
          <a:noFill/>
          <a:ln/>
        </p:spPr>
        <p:txBody>
          <a:bodyPr wrap="square" rtlCol="0" anchor="ctr"/>
          <a:lstStyle/>
          <a:p>
            <a:pPr marL="0" indent="0" algn="ctr">
              <a:buNone/>
            </a:pPr>
            <a:r>
              <a:rPr lang="en-US" sz="6200" b="1" dirty="0">
                <a:solidFill>
                  <a:srgbClr val="FFC000"/>
                </a:solidFill>
                <a:latin typeface="Arial" pitchFamily="34" charset="0"/>
                <a:ea typeface="Arial" pitchFamily="34" charset="-122"/>
                <a:cs typeface="Arial" pitchFamily="34" charset="-120"/>
              </a:rPr>
              <a:t>3-5×</a:t>
            </a:r>
            <a:endParaRPr lang="en-US" sz="6200" dirty="0">
              <a:solidFill>
                <a:srgbClr val="FFC000"/>
              </a:solidFill>
            </a:endParaRPr>
          </a:p>
        </p:txBody>
      </p:sp>
      <p:sp>
        <p:nvSpPr>
          <p:cNvPr id="6" name="Text 4"/>
          <p:cNvSpPr/>
          <p:nvPr/>
        </p:nvSpPr>
        <p:spPr>
          <a:xfrm>
            <a:off x="548640" y="2194560"/>
            <a:ext cx="3291840" cy="685800"/>
          </a:xfrm>
          <a:prstGeom prst="rect">
            <a:avLst/>
          </a:prstGeom>
          <a:noFill/>
          <a:ln/>
        </p:spPr>
        <p:txBody>
          <a:bodyPr wrap="square" rtlCol="0" anchor="ctr"/>
          <a:lstStyle/>
          <a:p>
            <a:pPr marL="0" indent="0" algn="ctr">
              <a:buNone/>
            </a:pPr>
            <a:r>
              <a:rPr lang="en-US" sz="1200" dirty="0">
                <a:solidFill>
                  <a:srgbClr val="FFFFFF"/>
                </a:solidFill>
                <a:latin typeface="Arial" panose="020B0604020202020204" pitchFamily="34" charset="0"/>
                <a:ea typeface="Arial" pitchFamily="34" charset="-122"/>
                <a:cs typeface="Arial" panose="020B0604020202020204" pitchFamily="34" charset="0"/>
              </a:rPr>
              <a:t>More expensive to recover a churned</a:t>
            </a:r>
            <a:endParaRPr lang="en-US" sz="1200" dirty="0">
              <a:latin typeface="Arial" panose="020B0604020202020204" pitchFamily="34" charset="0"/>
              <a:cs typeface="Arial" panose="020B0604020202020204" pitchFamily="34" charset="0"/>
            </a:endParaRPr>
          </a:p>
          <a:p>
            <a:pPr marL="0" indent="0" algn="ctr">
              <a:buNone/>
            </a:pPr>
            <a:r>
              <a:rPr lang="en-US" sz="1200" dirty="0">
                <a:solidFill>
                  <a:srgbClr val="FFFFFF"/>
                </a:solidFill>
                <a:latin typeface="Arial" panose="020B0604020202020204" pitchFamily="34" charset="0"/>
                <a:ea typeface="Arial" pitchFamily="34" charset="-122"/>
                <a:cs typeface="Arial" panose="020B0604020202020204" pitchFamily="34" charset="0"/>
              </a:rPr>
              <a:t>customer than to retain one early</a:t>
            </a:r>
            <a:endParaRPr lang="en-US" sz="1200" dirty="0">
              <a:latin typeface="Arial" panose="020B0604020202020204" pitchFamily="34" charset="0"/>
              <a:cs typeface="Arial" panose="020B0604020202020204" pitchFamily="34" charset="0"/>
            </a:endParaRPr>
          </a:p>
        </p:txBody>
      </p:sp>
      <p:sp>
        <p:nvSpPr>
          <p:cNvPr id="7" name="Shape 5"/>
          <p:cNvSpPr/>
          <p:nvPr/>
        </p:nvSpPr>
        <p:spPr>
          <a:xfrm>
            <a:off x="4160520" y="1143000"/>
            <a:ext cx="7406640" cy="1417320"/>
          </a:xfrm>
          <a:prstGeom prst="roundRect">
            <a:avLst>
              <a:gd name="adj" fmla="val 5161"/>
            </a:avLst>
          </a:prstGeom>
          <a:solidFill>
            <a:schemeClr val="tx2"/>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p>
        </p:txBody>
      </p:sp>
      <p:sp>
        <p:nvSpPr>
          <p:cNvPr id="9" name="Text 7"/>
          <p:cNvSpPr/>
          <p:nvPr/>
        </p:nvSpPr>
        <p:spPr>
          <a:xfrm>
            <a:off x="4362993" y="1307592"/>
            <a:ext cx="6936377" cy="320040"/>
          </a:xfrm>
          <a:prstGeom prst="rect">
            <a:avLst/>
          </a:prstGeom>
          <a:noFill/>
          <a:ln/>
        </p:spPr>
        <p:txBody>
          <a:bodyPr wrap="square" rtlCol="0" anchor="ctr"/>
          <a:lstStyle/>
          <a:p>
            <a:pPr marL="0" indent="0">
              <a:buNone/>
            </a:pPr>
            <a:r>
              <a:rPr lang="en-US" sz="1400" b="1" dirty="0">
                <a:solidFill>
                  <a:schemeClr val="bg1"/>
                </a:solidFill>
                <a:latin typeface="Arial" pitchFamily="34" charset="0"/>
                <a:ea typeface="Arial" pitchFamily="34" charset="-122"/>
                <a:cs typeface="Arial" pitchFamily="34" charset="-120"/>
              </a:rPr>
              <a:t>Silent Churn</a:t>
            </a:r>
            <a:endParaRPr lang="en-US" sz="1400" dirty="0">
              <a:solidFill>
                <a:schemeClr val="bg1"/>
              </a:solidFill>
            </a:endParaRPr>
          </a:p>
        </p:txBody>
      </p:sp>
      <p:sp>
        <p:nvSpPr>
          <p:cNvPr id="10" name="Text 8"/>
          <p:cNvSpPr/>
          <p:nvPr/>
        </p:nvSpPr>
        <p:spPr>
          <a:xfrm>
            <a:off x="4362993" y="1645920"/>
            <a:ext cx="6936377" cy="685800"/>
          </a:xfrm>
          <a:prstGeom prst="rect">
            <a:avLst/>
          </a:prstGeom>
          <a:noFill/>
          <a:ln/>
        </p:spPr>
        <p:txBody>
          <a:bodyPr wrap="square" rtlCol="0" anchor="ctr"/>
          <a:lstStyle/>
          <a:p>
            <a:pPr marL="0" indent="0" algn="just">
              <a:lnSpc>
                <a:spcPct val="120000"/>
              </a:lnSpc>
              <a:buNone/>
            </a:pPr>
            <a:r>
              <a:rPr lang="en-US" sz="1200" dirty="0">
                <a:solidFill>
                  <a:schemeClr val="bg1"/>
                </a:solidFill>
                <a:latin typeface="Arial" pitchFamily="34" charset="0"/>
                <a:ea typeface="Arial" pitchFamily="34" charset="-122"/>
                <a:cs typeface="Arial" pitchFamily="34" charset="-120"/>
              </a:rPr>
              <a:t>Customers disengage gradually — app usage drops, emails go unread — with no complaint raised in the CRM.</a:t>
            </a:r>
            <a:endParaRPr lang="en-US" sz="1200" dirty="0">
              <a:solidFill>
                <a:schemeClr val="bg1"/>
              </a:solidFill>
            </a:endParaRPr>
          </a:p>
        </p:txBody>
      </p:sp>
      <p:sp>
        <p:nvSpPr>
          <p:cNvPr id="11" name="Shape 9"/>
          <p:cNvSpPr/>
          <p:nvPr/>
        </p:nvSpPr>
        <p:spPr>
          <a:xfrm>
            <a:off x="4160520" y="2743200"/>
            <a:ext cx="7406640" cy="1417320"/>
          </a:xfrm>
          <a:prstGeom prst="roundRect">
            <a:avLst>
              <a:gd name="adj" fmla="val 5161"/>
            </a:avLst>
          </a:prstGeom>
          <a:solidFill>
            <a:schemeClr val="tx2"/>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p>
        </p:txBody>
      </p:sp>
      <p:sp>
        <p:nvSpPr>
          <p:cNvPr id="13" name="Text 11"/>
          <p:cNvSpPr/>
          <p:nvPr/>
        </p:nvSpPr>
        <p:spPr>
          <a:xfrm>
            <a:off x="4362993" y="2907792"/>
            <a:ext cx="6936377" cy="320040"/>
          </a:xfrm>
          <a:prstGeom prst="rect">
            <a:avLst/>
          </a:prstGeom>
          <a:noFill/>
          <a:ln/>
        </p:spPr>
        <p:txBody>
          <a:bodyPr wrap="square" rtlCol="0" anchor="ctr"/>
          <a:lstStyle/>
          <a:p>
            <a:pPr marL="0" indent="0">
              <a:buNone/>
            </a:pPr>
            <a:r>
              <a:rPr lang="en-US" sz="1400" b="1" dirty="0">
                <a:solidFill>
                  <a:schemeClr val="bg1"/>
                </a:solidFill>
                <a:latin typeface="Arial" pitchFamily="34" charset="0"/>
                <a:ea typeface="Arial" pitchFamily="34" charset="-122"/>
                <a:cs typeface="Arial" pitchFamily="34" charset="-120"/>
              </a:rPr>
              <a:t>Reactive Detection</a:t>
            </a:r>
            <a:endParaRPr lang="en-US" sz="1400" dirty="0">
              <a:solidFill>
                <a:schemeClr val="bg1"/>
              </a:solidFill>
            </a:endParaRPr>
          </a:p>
        </p:txBody>
      </p:sp>
      <p:sp>
        <p:nvSpPr>
          <p:cNvPr id="14" name="Text 12"/>
          <p:cNvSpPr/>
          <p:nvPr/>
        </p:nvSpPr>
        <p:spPr>
          <a:xfrm>
            <a:off x="4362993" y="3246120"/>
            <a:ext cx="6936377" cy="685800"/>
          </a:xfrm>
          <a:prstGeom prst="rect">
            <a:avLst/>
          </a:prstGeom>
          <a:noFill/>
          <a:ln/>
        </p:spPr>
        <p:txBody>
          <a:bodyPr wrap="square" rtlCol="0" anchor="ctr"/>
          <a:lstStyle/>
          <a:p>
            <a:pPr marL="0" indent="0" algn="just">
              <a:lnSpc>
                <a:spcPct val="120000"/>
              </a:lnSpc>
              <a:buNone/>
            </a:pPr>
            <a:r>
              <a:rPr lang="en-US" sz="1200" dirty="0">
                <a:solidFill>
                  <a:schemeClr val="bg1"/>
                </a:solidFill>
                <a:latin typeface="Arial" pitchFamily="34" charset="0"/>
                <a:ea typeface="Arial" pitchFamily="34" charset="-122"/>
                <a:cs typeface="Arial" pitchFamily="34" charset="-120"/>
              </a:rPr>
              <a:t>By the time the CRM team notices the signals, the customer has already mentally switched to a competitor.</a:t>
            </a:r>
            <a:endParaRPr lang="en-US" sz="1200" dirty="0">
              <a:solidFill>
                <a:schemeClr val="bg1"/>
              </a:solidFill>
            </a:endParaRPr>
          </a:p>
        </p:txBody>
      </p:sp>
      <p:sp>
        <p:nvSpPr>
          <p:cNvPr id="15" name="Shape 13"/>
          <p:cNvSpPr/>
          <p:nvPr/>
        </p:nvSpPr>
        <p:spPr>
          <a:xfrm>
            <a:off x="4160520" y="4343400"/>
            <a:ext cx="7406640" cy="1417320"/>
          </a:xfrm>
          <a:prstGeom prst="roundRect">
            <a:avLst>
              <a:gd name="adj" fmla="val 5161"/>
            </a:avLst>
          </a:prstGeom>
          <a:solidFill>
            <a:schemeClr val="tx2"/>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p>
        </p:txBody>
      </p:sp>
      <p:sp>
        <p:nvSpPr>
          <p:cNvPr id="17" name="Text 15"/>
          <p:cNvSpPr/>
          <p:nvPr/>
        </p:nvSpPr>
        <p:spPr>
          <a:xfrm>
            <a:off x="4362993" y="4507992"/>
            <a:ext cx="6936377" cy="320040"/>
          </a:xfrm>
          <a:prstGeom prst="rect">
            <a:avLst/>
          </a:prstGeom>
          <a:noFill/>
          <a:ln/>
        </p:spPr>
        <p:txBody>
          <a:bodyPr wrap="square" rtlCol="0" anchor="ctr"/>
          <a:lstStyle/>
          <a:p>
            <a:pPr marL="0" indent="0">
              <a:buNone/>
            </a:pPr>
            <a:r>
              <a:rPr lang="en-US" sz="1400" b="1" dirty="0">
                <a:solidFill>
                  <a:schemeClr val="bg1"/>
                </a:solidFill>
                <a:latin typeface="Arial" pitchFamily="34" charset="0"/>
                <a:ea typeface="Arial" pitchFamily="34" charset="-122"/>
                <a:cs typeface="Arial" pitchFamily="34" charset="-120"/>
              </a:rPr>
              <a:t>Inconsistent Treatment</a:t>
            </a:r>
            <a:endParaRPr lang="en-US" sz="1400" dirty="0">
              <a:solidFill>
                <a:schemeClr val="bg1"/>
              </a:solidFill>
            </a:endParaRPr>
          </a:p>
        </p:txBody>
      </p:sp>
      <p:sp>
        <p:nvSpPr>
          <p:cNvPr id="18" name="Text 16"/>
          <p:cNvSpPr/>
          <p:nvPr/>
        </p:nvSpPr>
        <p:spPr>
          <a:xfrm>
            <a:off x="4362993" y="4846320"/>
            <a:ext cx="6936377" cy="685800"/>
          </a:xfrm>
          <a:prstGeom prst="rect">
            <a:avLst/>
          </a:prstGeom>
          <a:noFill/>
          <a:ln/>
        </p:spPr>
        <p:txBody>
          <a:bodyPr wrap="square" rtlCol="0" anchor="ctr"/>
          <a:lstStyle/>
          <a:p>
            <a:pPr marL="0" indent="0" algn="just">
              <a:lnSpc>
                <a:spcPct val="120000"/>
              </a:lnSpc>
              <a:buNone/>
            </a:pPr>
            <a:r>
              <a:rPr lang="en-US" sz="1200" dirty="0">
                <a:solidFill>
                  <a:schemeClr val="bg1"/>
                </a:solidFill>
                <a:latin typeface="Arial" pitchFamily="34" charset="0"/>
                <a:ea typeface="Arial" pitchFamily="34" charset="-122"/>
                <a:cs typeface="Arial" pitchFamily="34" charset="-120"/>
              </a:rPr>
              <a:t>Without standardised playbooks, retention actions vary by agent, region and shift — creating compliance risk.</a:t>
            </a:r>
            <a:endParaRPr lang="en-US" sz="1200" dirty="0">
              <a:solidFill>
                <a:schemeClr val="bg1"/>
              </a:solidFill>
            </a:endParaRPr>
          </a:p>
        </p:txBody>
      </p:sp>
      <p:sp>
        <p:nvSpPr>
          <p:cNvPr id="19" name="Shape 17"/>
          <p:cNvSpPr/>
          <p:nvPr/>
        </p:nvSpPr>
        <p:spPr>
          <a:xfrm>
            <a:off x="548640" y="5989320"/>
            <a:ext cx="11064240" cy="502920"/>
          </a:xfrm>
          <a:prstGeom prst="roundRect">
            <a:avLst>
              <a:gd name="adj" fmla="val 10909"/>
            </a:avLst>
          </a:prstGeom>
          <a:solidFill>
            <a:srgbClr val="FFF3DC"/>
          </a:solidFill>
          <a:ln w="12700">
            <a:solidFill>
              <a:srgbClr val="C8860A"/>
            </a:solidFill>
            <a:prstDash val="solid"/>
          </a:ln>
        </p:spPr>
        <p:txBody>
          <a:bodyPr/>
          <a:lstStyle/>
          <a:p>
            <a:endParaRPr lang="en-US">
              <a:solidFill>
                <a:schemeClr val="bg1"/>
              </a:solidFill>
            </a:endParaRPr>
          </a:p>
        </p:txBody>
      </p:sp>
      <p:sp>
        <p:nvSpPr>
          <p:cNvPr id="20" name="Text 18"/>
          <p:cNvSpPr/>
          <p:nvPr/>
        </p:nvSpPr>
        <p:spPr>
          <a:xfrm>
            <a:off x="548640" y="5989320"/>
            <a:ext cx="11064240" cy="502920"/>
          </a:xfrm>
          <a:prstGeom prst="rect">
            <a:avLst/>
          </a:prstGeom>
          <a:noFill/>
          <a:ln/>
        </p:spPr>
        <p:txBody>
          <a:bodyPr wrap="square" rtlCol="0" anchor="ctr"/>
          <a:lstStyle/>
          <a:p>
            <a:pPr marL="0" indent="0" algn="ctr">
              <a:buNone/>
            </a:pPr>
            <a:r>
              <a:rPr lang="en-US" sz="1200" b="1" dirty="0">
                <a:solidFill>
                  <a:srgbClr val="0D1B2A"/>
                </a:solidFill>
                <a:latin typeface="Arial" pitchFamily="34" charset="0"/>
                <a:ea typeface="Arial" pitchFamily="34" charset="-122"/>
                <a:cs typeface="Arial" pitchFamily="34" charset="-120"/>
              </a:rPr>
              <a:t>Our system catches at-risk customers before they leave — automatically, consistently, and at scale.</a:t>
            </a:r>
            <a:endParaRPr lang="en-US" sz="1200" dirty="0"/>
          </a:p>
        </p:txBody>
      </p:sp>
      <p:sp>
        <p:nvSpPr>
          <p:cNvPr id="21" name="Text 19"/>
          <p:cNvSpPr/>
          <p:nvPr/>
        </p:nvSpPr>
        <p:spPr>
          <a:xfrm>
            <a:off x="7791994" y="4846320"/>
            <a:ext cx="502636" cy="228600"/>
          </a:xfrm>
          <a:prstGeom prst="rect">
            <a:avLst/>
          </a:prstGeom>
          <a:noFill/>
          <a:ln/>
        </p:spPr>
        <p:txBody>
          <a:bodyPr wrap="square" rtlCol="0" anchor="ctr"/>
          <a:lstStyle/>
          <a:p>
            <a:pPr marL="0" indent="0" algn="r">
              <a:buNone/>
            </a:pPr>
            <a:endParaRPr lang="en-US" sz="900" dirty="0"/>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8229600" cy="640080"/>
          </a:xfrm>
          <a:prstGeom prst="rect">
            <a:avLst/>
          </a:prstGeom>
          <a:noFill/>
          <a:ln>
            <a:solidFill>
              <a:schemeClr val="bg1">
                <a:lumMod val="95000"/>
              </a:schemeClr>
            </a:solidFill>
          </a:ln>
        </p:spPr>
        <p:txBody>
          <a:bodyPr wrap="square" rtlCol="0" anchor="ctr"/>
          <a:lstStyle/>
          <a:p>
            <a:pPr marL="0" indent="0">
              <a:buNone/>
            </a:pPr>
            <a:r>
              <a:rPr lang="en-US" sz="3600" b="1" dirty="0">
                <a:solidFill>
                  <a:srgbClr val="FFC000"/>
                </a:solidFill>
                <a:latin typeface="Arial" pitchFamily="34" charset="0"/>
                <a:ea typeface="Arial" pitchFamily="34" charset="-122"/>
                <a:cs typeface="Arial" pitchFamily="34" charset="-120"/>
              </a:rPr>
              <a:t>How the System Works</a:t>
            </a:r>
            <a:endParaRPr lang="en-US" sz="3600" dirty="0">
              <a:solidFill>
                <a:srgbClr val="FFC000"/>
              </a:solidFill>
            </a:endParaRPr>
          </a:p>
        </p:txBody>
      </p:sp>
      <p:sp>
        <p:nvSpPr>
          <p:cNvPr id="4" name="Text 2"/>
          <p:cNvSpPr/>
          <p:nvPr/>
        </p:nvSpPr>
        <p:spPr>
          <a:xfrm>
            <a:off x="548640" y="946404"/>
            <a:ext cx="9144000" cy="320040"/>
          </a:xfrm>
          <a:prstGeom prst="rect">
            <a:avLst/>
          </a:prstGeom>
          <a:noFill/>
          <a:ln>
            <a:solidFill>
              <a:schemeClr val="bg1">
                <a:lumMod val="95000"/>
              </a:schemeClr>
            </a:solidFill>
          </a:ln>
        </p:spPr>
        <p:txBody>
          <a:bodyPr wrap="square" rtlCol="0" anchor="ctr"/>
          <a:lstStyle/>
          <a:p>
            <a:pPr marL="0" indent="0">
              <a:buNone/>
            </a:pPr>
            <a:r>
              <a:rPr lang="en-US" sz="1200" b="1" i="1" dirty="0">
                <a:solidFill>
                  <a:schemeClr val="tx2">
                    <a:lumMod val="25000"/>
                    <a:lumOff val="75000"/>
                  </a:schemeClr>
                </a:solidFill>
                <a:latin typeface="Arial" pitchFamily="34" charset="0"/>
                <a:ea typeface="Arial" pitchFamily="34" charset="-122"/>
                <a:cs typeface="Arial" pitchFamily="34" charset="-120"/>
              </a:rPr>
              <a:t>Centralised Supervisor Pattern · LangGraph · Mandatory sequential execution</a:t>
            </a:r>
            <a:endParaRPr lang="en-US" sz="1200" b="1" dirty="0">
              <a:solidFill>
                <a:schemeClr val="tx2">
                  <a:lumMod val="25000"/>
                  <a:lumOff val="75000"/>
                </a:schemeClr>
              </a:solidFill>
            </a:endParaRPr>
          </a:p>
        </p:txBody>
      </p:sp>
      <p:sp>
        <p:nvSpPr>
          <p:cNvPr id="5" name="Shape 3"/>
          <p:cNvSpPr/>
          <p:nvPr/>
        </p:nvSpPr>
        <p:spPr>
          <a:xfrm>
            <a:off x="320040" y="2651760"/>
            <a:ext cx="1645920" cy="1097280"/>
          </a:xfrm>
          <a:prstGeom prst="roundRect">
            <a:avLst>
              <a:gd name="adj" fmla="val 6667"/>
            </a:avLst>
          </a:prstGeom>
          <a:solidFill>
            <a:schemeClr val="bg1"/>
          </a:solidFill>
          <a:ln w="12700">
            <a:solidFill>
              <a:srgbClr val="1B3A6B"/>
            </a:solidFill>
            <a:prstDash val="solid"/>
          </a:ln>
        </p:spPr>
        <p:txBody>
          <a:bodyPr/>
          <a:lstStyle/>
          <a:p>
            <a:endParaRPr lang="en-US"/>
          </a:p>
        </p:txBody>
      </p:sp>
      <p:sp>
        <p:nvSpPr>
          <p:cNvPr id="6" name="Text 4"/>
          <p:cNvSpPr/>
          <p:nvPr/>
        </p:nvSpPr>
        <p:spPr>
          <a:xfrm>
            <a:off x="320040" y="2651760"/>
            <a:ext cx="1645920" cy="1097280"/>
          </a:xfrm>
          <a:prstGeom prst="rect">
            <a:avLst/>
          </a:prstGeom>
          <a:noFill/>
          <a:ln/>
        </p:spPr>
        <p:txBody>
          <a:bodyPr wrap="square"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INPUT</a:t>
            </a:r>
            <a:endParaRPr lang="en-US" sz="1100" dirty="0"/>
          </a:p>
          <a:p>
            <a:pPr marL="0" indent="0" algn="ctr">
              <a:buNone/>
            </a:pPr>
            <a:r>
              <a:rPr lang="en-US" sz="1100" b="1" dirty="0">
                <a:solidFill>
                  <a:srgbClr val="1B3A6B"/>
                </a:solidFill>
                <a:latin typeface="Arial" pitchFamily="34" charset="0"/>
                <a:ea typeface="Arial" pitchFamily="34" charset="-122"/>
                <a:cs typeface="Arial" pitchFamily="34" charset="-120"/>
              </a:rPr>
              <a:t>customer_id</a:t>
            </a:r>
            <a:endParaRPr lang="en-US" sz="1100" dirty="0"/>
          </a:p>
        </p:txBody>
      </p:sp>
      <p:sp>
        <p:nvSpPr>
          <p:cNvPr id="8" name="Text 6"/>
          <p:cNvSpPr/>
          <p:nvPr/>
        </p:nvSpPr>
        <p:spPr>
          <a:xfrm>
            <a:off x="2560320" y="3035808"/>
            <a:ext cx="228600" cy="237744"/>
          </a:xfrm>
          <a:prstGeom prst="rect">
            <a:avLst/>
          </a:prstGeom>
          <a:noFill/>
          <a:ln/>
        </p:spPr>
        <p:txBody>
          <a:bodyPr wrap="square" rtlCol="0" anchor="ctr"/>
          <a:lstStyle/>
          <a:p>
            <a:pPr marL="0" indent="0" algn="ctr">
              <a:buNone/>
            </a:pPr>
            <a:endParaRPr lang="en-US" sz="1200" dirty="0"/>
          </a:p>
        </p:txBody>
      </p:sp>
      <p:sp>
        <p:nvSpPr>
          <p:cNvPr id="9" name="Shape 7"/>
          <p:cNvSpPr/>
          <p:nvPr/>
        </p:nvSpPr>
        <p:spPr>
          <a:xfrm>
            <a:off x="3999411" y="2599290"/>
            <a:ext cx="2377440" cy="1249899"/>
          </a:xfrm>
          <a:prstGeom prst="roundRect">
            <a:avLst>
              <a:gd name="adj" fmla="val 5556"/>
            </a:avLst>
          </a:prstGeom>
          <a:solidFill>
            <a:srgbClr val="0D1B2A"/>
          </a:solidFill>
          <a:ln w="12700">
            <a:solidFill>
              <a:srgbClr val="C8860A"/>
            </a:solidFill>
            <a:prstDash val="solid"/>
          </a:ln>
          <a:effectLst>
            <a:outerShdw blurRad="101600" dist="38100" dir="16200000" algn="bl" rotWithShape="0">
              <a:srgbClr val="888888">
                <a:alpha val="20000"/>
              </a:srgbClr>
            </a:outerShdw>
          </a:effectLst>
        </p:spPr>
        <p:txBody>
          <a:bodyPr/>
          <a:lstStyle/>
          <a:p>
            <a:endParaRPr lang="en-US"/>
          </a:p>
        </p:txBody>
      </p:sp>
      <p:sp>
        <p:nvSpPr>
          <p:cNvPr id="11" name="Text 9"/>
          <p:cNvSpPr/>
          <p:nvPr/>
        </p:nvSpPr>
        <p:spPr>
          <a:xfrm>
            <a:off x="3999408" y="2775751"/>
            <a:ext cx="2401387" cy="6400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SUPERVISOR</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AGENT</a:t>
            </a:r>
            <a:endParaRPr lang="en-US" sz="1300" dirty="0"/>
          </a:p>
        </p:txBody>
      </p:sp>
      <p:sp>
        <p:nvSpPr>
          <p:cNvPr id="12" name="Text 10"/>
          <p:cNvSpPr/>
          <p:nvPr/>
        </p:nvSpPr>
        <p:spPr>
          <a:xfrm>
            <a:off x="4021182" y="3348232"/>
            <a:ext cx="2377440" cy="274320"/>
          </a:xfrm>
          <a:prstGeom prst="rect">
            <a:avLst/>
          </a:prstGeom>
          <a:noFill/>
          <a:ln/>
        </p:spPr>
        <p:txBody>
          <a:bodyPr wrap="square" rtlCol="0" anchor="ctr"/>
          <a:lstStyle/>
          <a:p>
            <a:pPr marL="0" indent="0" algn="ctr">
              <a:buNone/>
            </a:pPr>
            <a:r>
              <a:rPr lang="en-US" sz="900" b="1" i="1" dirty="0">
                <a:solidFill>
                  <a:srgbClr val="C8860A"/>
                </a:solidFill>
                <a:latin typeface="Arial" pitchFamily="34" charset="0"/>
                <a:ea typeface="Arial" pitchFamily="34" charset="-122"/>
                <a:cs typeface="Arial" pitchFamily="34" charset="-120"/>
              </a:rPr>
              <a:t>Orchestrates &amp; Routes</a:t>
            </a:r>
            <a:endParaRPr lang="en-US" sz="900" b="1" dirty="0"/>
          </a:p>
        </p:txBody>
      </p:sp>
      <p:sp>
        <p:nvSpPr>
          <p:cNvPr id="13" name="Shape 11"/>
          <p:cNvSpPr/>
          <p:nvPr/>
        </p:nvSpPr>
        <p:spPr>
          <a:xfrm>
            <a:off x="1325880" y="4041648"/>
            <a:ext cx="54864" cy="777240"/>
          </a:xfrm>
          <a:prstGeom prst="rect">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4" name="Text 12"/>
          <p:cNvSpPr/>
          <p:nvPr/>
        </p:nvSpPr>
        <p:spPr>
          <a:xfrm>
            <a:off x="1188720" y="4663440"/>
            <a:ext cx="329184" cy="256032"/>
          </a:xfrm>
          <a:prstGeom prst="rect">
            <a:avLst/>
          </a:prstGeom>
          <a:noFill/>
          <a:ln/>
        </p:spPr>
        <p:txBody>
          <a:bodyPr wrap="square" rtlCol="0" anchor="ctr"/>
          <a:lstStyle/>
          <a:p>
            <a:pPr marL="0" indent="0" algn="ctr">
              <a:buNone/>
            </a:pPr>
            <a:endParaRPr lang="en-US" sz="1100" dirty="0"/>
          </a:p>
        </p:txBody>
      </p:sp>
      <p:sp>
        <p:nvSpPr>
          <p:cNvPr id="15" name="Shape 13"/>
          <p:cNvSpPr/>
          <p:nvPr/>
        </p:nvSpPr>
        <p:spPr>
          <a:xfrm>
            <a:off x="5856515" y="4041648"/>
            <a:ext cx="54864" cy="777240"/>
          </a:xfrm>
          <a:prstGeom prst="rect">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6" name="Text 14"/>
          <p:cNvSpPr/>
          <p:nvPr/>
        </p:nvSpPr>
        <p:spPr>
          <a:xfrm>
            <a:off x="5969725" y="4663440"/>
            <a:ext cx="329184" cy="256032"/>
          </a:xfrm>
          <a:prstGeom prst="rect">
            <a:avLst/>
          </a:prstGeom>
          <a:noFill/>
          <a:ln/>
        </p:spPr>
        <p:txBody>
          <a:bodyPr wrap="square" rtlCol="0" anchor="ctr"/>
          <a:lstStyle/>
          <a:p>
            <a:pPr marL="0" indent="0" algn="ctr">
              <a:buNone/>
            </a:pPr>
            <a:endParaRPr lang="en-US" sz="1100" dirty="0"/>
          </a:p>
        </p:txBody>
      </p:sp>
      <p:sp>
        <p:nvSpPr>
          <p:cNvPr id="17" name="Shape 15"/>
          <p:cNvSpPr/>
          <p:nvPr/>
        </p:nvSpPr>
        <p:spPr>
          <a:xfrm>
            <a:off x="9548954" y="4041648"/>
            <a:ext cx="54864" cy="777240"/>
          </a:xfrm>
          <a:prstGeom prst="rect">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8" name="Text 16"/>
          <p:cNvSpPr/>
          <p:nvPr/>
        </p:nvSpPr>
        <p:spPr>
          <a:xfrm>
            <a:off x="9215845" y="4663440"/>
            <a:ext cx="329184" cy="256032"/>
          </a:xfrm>
          <a:prstGeom prst="rect">
            <a:avLst/>
          </a:prstGeom>
          <a:noFill/>
          <a:ln/>
        </p:spPr>
        <p:txBody>
          <a:bodyPr wrap="square" rtlCol="0" anchor="ctr"/>
          <a:lstStyle/>
          <a:p>
            <a:pPr marL="0" indent="0" algn="ctr">
              <a:buNone/>
            </a:pPr>
            <a:endParaRPr lang="en-US" sz="1100" dirty="0"/>
          </a:p>
        </p:txBody>
      </p:sp>
      <p:sp>
        <p:nvSpPr>
          <p:cNvPr id="19" name="Shape 17"/>
          <p:cNvSpPr/>
          <p:nvPr/>
        </p:nvSpPr>
        <p:spPr>
          <a:xfrm>
            <a:off x="1371600" y="4041648"/>
            <a:ext cx="8229600" cy="54864"/>
          </a:xfrm>
          <a:prstGeom prst="rect">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20" name="Shape 18"/>
          <p:cNvSpPr/>
          <p:nvPr/>
        </p:nvSpPr>
        <p:spPr>
          <a:xfrm>
            <a:off x="457200" y="4892040"/>
            <a:ext cx="2331720" cy="1691640"/>
          </a:xfrm>
          <a:prstGeom prst="roundRect">
            <a:avLst>
              <a:gd name="adj" fmla="val 4324"/>
            </a:avLst>
          </a:prstGeom>
          <a:solidFill>
            <a:schemeClr val="bg1"/>
          </a:solidFill>
          <a:ln w="12700">
            <a:solidFill>
              <a:srgbClr val="CBD5E1"/>
            </a:solidFill>
            <a:prstDash val="solid"/>
          </a:ln>
          <a:effectLst>
            <a:outerShdw blurRad="63500" dist="25400" dir="16200000" algn="bl" rotWithShape="0">
              <a:srgbClr val="888888">
                <a:alpha val="10000"/>
              </a:srgbClr>
            </a:outerShdw>
          </a:effectLst>
        </p:spPr>
        <p:txBody>
          <a:bodyPr/>
          <a:lstStyle/>
          <a:p>
            <a:endParaRPr lang="en-US" dirty="0">
              <a:latin typeface="Arial" panose="020B0604020202020204" pitchFamily="34" charset="0"/>
              <a:cs typeface="Arial" panose="020B0604020202020204" pitchFamily="34" charset="0"/>
            </a:endParaRPr>
          </a:p>
        </p:txBody>
      </p:sp>
      <p:sp>
        <p:nvSpPr>
          <p:cNvPr id="22" name="Text 20"/>
          <p:cNvSpPr/>
          <p:nvPr/>
        </p:nvSpPr>
        <p:spPr>
          <a:xfrm>
            <a:off x="481148" y="5097780"/>
            <a:ext cx="2331720" cy="502920"/>
          </a:xfrm>
          <a:prstGeom prst="rect">
            <a:avLst/>
          </a:prstGeom>
          <a:noFill/>
          <a:ln/>
        </p:spPr>
        <p:txBody>
          <a:bodyPr wrap="square" rtlCol="0" anchor="ctr"/>
          <a:lstStyle/>
          <a:p>
            <a:pPr marL="0" indent="0" algn="ctr">
              <a:buNone/>
            </a:pPr>
            <a:r>
              <a:rPr lang="en-US" sz="1200" b="1" dirty="0">
                <a:solidFill>
                  <a:srgbClr val="0D1B2A"/>
                </a:solidFill>
                <a:latin typeface="Arial" pitchFamily="34" charset="0"/>
                <a:ea typeface="Arial" pitchFamily="34" charset="-122"/>
                <a:cs typeface="Arial" pitchFamily="34" charset="-120"/>
              </a:rPr>
              <a:t>Customer</a:t>
            </a:r>
            <a:endParaRPr lang="en-US" sz="1200" dirty="0"/>
          </a:p>
          <a:p>
            <a:pPr marL="0" indent="0" algn="ctr">
              <a:buNone/>
            </a:pPr>
            <a:r>
              <a:rPr lang="en-US" sz="1200" b="1" dirty="0">
                <a:solidFill>
                  <a:srgbClr val="0D1B2A"/>
                </a:solidFill>
                <a:latin typeface="Arial" pitchFamily="34" charset="0"/>
                <a:ea typeface="Arial" pitchFamily="34" charset="-122"/>
                <a:cs typeface="Arial" pitchFamily="34" charset="-120"/>
              </a:rPr>
              <a:t>Profiler</a:t>
            </a:r>
            <a:endParaRPr lang="en-US" sz="1200" dirty="0"/>
          </a:p>
        </p:txBody>
      </p:sp>
      <p:sp>
        <p:nvSpPr>
          <p:cNvPr id="23" name="Text 21"/>
          <p:cNvSpPr/>
          <p:nvPr/>
        </p:nvSpPr>
        <p:spPr>
          <a:xfrm>
            <a:off x="572588" y="5568696"/>
            <a:ext cx="2148840" cy="228600"/>
          </a:xfrm>
          <a:prstGeom prst="rect">
            <a:avLst/>
          </a:prstGeom>
          <a:noFill/>
          <a:ln/>
        </p:spPr>
        <p:txBody>
          <a:bodyPr wrap="square" rtlCol="0" anchor="ctr"/>
          <a:lstStyle/>
          <a:p>
            <a:pPr marL="0" indent="0" algn="ctr">
              <a:buNone/>
            </a:pPr>
            <a:r>
              <a:rPr lang="en-US" sz="1000" b="1" i="1" dirty="0">
                <a:solidFill>
                  <a:srgbClr val="C8860A"/>
                </a:solidFill>
                <a:latin typeface="Arial" pitchFamily="34" charset="0"/>
                <a:ea typeface="Arial" pitchFamily="34" charset="-122"/>
                <a:cs typeface="Arial" pitchFamily="34" charset="-120"/>
              </a:rPr>
              <a:t>fetch_customer_record</a:t>
            </a:r>
            <a:endParaRPr lang="en-US" sz="1000" b="1" dirty="0"/>
          </a:p>
        </p:txBody>
      </p:sp>
      <p:sp>
        <p:nvSpPr>
          <p:cNvPr id="24" name="Text 22"/>
          <p:cNvSpPr/>
          <p:nvPr/>
        </p:nvSpPr>
        <p:spPr>
          <a:xfrm>
            <a:off x="548640" y="5806440"/>
            <a:ext cx="2148840" cy="502920"/>
          </a:xfrm>
          <a:prstGeom prst="rect">
            <a:avLst/>
          </a:prstGeom>
          <a:noFill/>
          <a:ln/>
        </p:spPr>
        <p:txBody>
          <a:bodyPr wrap="square" rtlCol="0" anchor="ctr"/>
          <a:lstStyle/>
          <a:p>
            <a:pPr marL="0" indent="0" algn="ctr">
              <a:lnSpc>
                <a:spcPct val="115000"/>
              </a:lnSpc>
              <a:buNone/>
            </a:pPr>
            <a:r>
              <a:rPr lang="en-US" sz="1000" dirty="0">
                <a:solidFill>
                  <a:srgbClr val="64748B"/>
                </a:solidFill>
                <a:latin typeface="Arial" pitchFamily="34" charset="0"/>
                <a:ea typeface="Arial" pitchFamily="34" charset="-122"/>
                <a:cs typeface="Arial" pitchFamily="34" charset="-120"/>
              </a:rPr>
              <a:t>Retrieves all 7 behavioral signals from the customer pool</a:t>
            </a:r>
            <a:endParaRPr lang="en-US" sz="1000" dirty="0"/>
          </a:p>
        </p:txBody>
      </p:sp>
      <p:sp>
        <p:nvSpPr>
          <p:cNvPr id="25" name="Shape 23"/>
          <p:cNvSpPr/>
          <p:nvPr/>
        </p:nvSpPr>
        <p:spPr>
          <a:xfrm>
            <a:off x="4715689" y="4892040"/>
            <a:ext cx="2331720" cy="1691640"/>
          </a:xfrm>
          <a:prstGeom prst="roundRect">
            <a:avLst>
              <a:gd name="adj" fmla="val 4324"/>
            </a:avLst>
          </a:prstGeom>
          <a:solidFill>
            <a:schemeClr val="bg1"/>
          </a:solidFill>
          <a:ln w="12700">
            <a:solidFill>
              <a:srgbClr val="CBD5E1"/>
            </a:solidFill>
            <a:prstDash val="solid"/>
          </a:ln>
          <a:effectLst>
            <a:outerShdw blurRad="63500" dist="25400" dir="16200000" algn="bl" rotWithShape="0">
              <a:srgbClr val="888888">
                <a:alpha val="10000"/>
              </a:srgbClr>
            </a:outerShdw>
          </a:effectLst>
        </p:spPr>
        <p:txBody>
          <a:bodyPr/>
          <a:lstStyle/>
          <a:p>
            <a:endParaRPr lang="en-US">
              <a:latin typeface="Arial" panose="020B0604020202020204" pitchFamily="34" charset="0"/>
              <a:cs typeface="Arial" panose="020B0604020202020204" pitchFamily="34" charset="0"/>
            </a:endParaRPr>
          </a:p>
        </p:txBody>
      </p:sp>
      <p:sp>
        <p:nvSpPr>
          <p:cNvPr id="26" name="Text 24"/>
          <p:cNvSpPr/>
          <p:nvPr/>
        </p:nvSpPr>
        <p:spPr>
          <a:xfrm>
            <a:off x="4715689" y="4983480"/>
            <a:ext cx="2331720" cy="457200"/>
          </a:xfrm>
          <a:prstGeom prst="rect">
            <a:avLst/>
          </a:prstGeom>
          <a:noFill/>
          <a:ln/>
        </p:spPr>
        <p:txBody>
          <a:bodyPr wrap="square" rtlCol="0" anchor="ctr"/>
          <a:lstStyle/>
          <a:p>
            <a:pPr marL="0" indent="0" algn="ctr">
              <a:buNone/>
            </a:pPr>
            <a:endParaRPr lang="en-US" sz="2000" dirty="0"/>
          </a:p>
        </p:txBody>
      </p:sp>
      <p:sp>
        <p:nvSpPr>
          <p:cNvPr id="27" name="Text 25"/>
          <p:cNvSpPr/>
          <p:nvPr/>
        </p:nvSpPr>
        <p:spPr>
          <a:xfrm>
            <a:off x="4745519" y="5102134"/>
            <a:ext cx="2331720" cy="502920"/>
          </a:xfrm>
          <a:prstGeom prst="rect">
            <a:avLst/>
          </a:prstGeom>
          <a:noFill/>
          <a:ln/>
        </p:spPr>
        <p:txBody>
          <a:bodyPr wrap="square" rtlCol="0" anchor="ctr"/>
          <a:lstStyle/>
          <a:p>
            <a:pPr marL="0" indent="0" algn="ctr">
              <a:buNone/>
            </a:pPr>
            <a:r>
              <a:rPr lang="en-US" sz="1200" b="1" dirty="0">
                <a:solidFill>
                  <a:srgbClr val="0D1B2A"/>
                </a:solidFill>
                <a:latin typeface="Arial" panose="020B0604020202020204" pitchFamily="34" charset="0"/>
                <a:ea typeface="Arial" pitchFamily="34" charset="-122"/>
                <a:cs typeface="Arial" panose="020B0604020202020204" pitchFamily="34" charset="0"/>
              </a:rPr>
              <a:t>Churn</a:t>
            </a:r>
            <a:endParaRPr lang="en-US" sz="1200" dirty="0">
              <a:latin typeface="Arial" panose="020B0604020202020204" pitchFamily="34" charset="0"/>
              <a:cs typeface="Arial" panose="020B0604020202020204" pitchFamily="34" charset="0"/>
            </a:endParaRPr>
          </a:p>
          <a:p>
            <a:pPr marL="0" indent="0" algn="ctr">
              <a:buNone/>
            </a:pPr>
            <a:r>
              <a:rPr lang="en-US" sz="1200" b="1" dirty="0">
                <a:solidFill>
                  <a:srgbClr val="0D1B2A"/>
                </a:solidFill>
                <a:latin typeface="Arial" panose="020B0604020202020204" pitchFamily="34" charset="0"/>
                <a:ea typeface="Arial" pitchFamily="34" charset="-122"/>
                <a:cs typeface="Arial" panose="020B0604020202020204" pitchFamily="34" charset="0"/>
              </a:rPr>
              <a:t>Diagnostician</a:t>
            </a:r>
            <a:endParaRPr lang="en-US" sz="1200" dirty="0">
              <a:latin typeface="Arial" panose="020B0604020202020204" pitchFamily="34" charset="0"/>
              <a:cs typeface="Arial" panose="020B0604020202020204" pitchFamily="34" charset="0"/>
            </a:endParaRPr>
          </a:p>
        </p:txBody>
      </p:sp>
      <p:sp>
        <p:nvSpPr>
          <p:cNvPr id="28" name="Text 26"/>
          <p:cNvSpPr/>
          <p:nvPr/>
        </p:nvSpPr>
        <p:spPr>
          <a:xfrm>
            <a:off x="4836959" y="5577840"/>
            <a:ext cx="2148840" cy="228600"/>
          </a:xfrm>
          <a:prstGeom prst="rect">
            <a:avLst/>
          </a:prstGeom>
          <a:noFill/>
          <a:ln/>
        </p:spPr>
        <p:txBody>
          <a:bodyPr wrap="square" rtlCol="0" anchor="ctr"/>
          <a:lstStyle/>
          <a:p>
            <a:pPr marL="0" indent="0" algn="ctr">
              <a:buNone/>
            </a:pPr>
            <a:r>
              <a:rPr lang="en-US" sz="1000" b="1" i="1" dirty="0">
                <a:solidFill>
                  <a:srgbClr val="C8860A"/>
                </a:solidFill>
                <a:latin typeface="Arial" pitchFamily="34" charset="0"/>
                <a:ea typeface="Arial" pitchFamily="34" charset="-122"/>
                <a:cs typeface="Arial" pitchFamily="34" charset="-120"/>
              </a:rPr>
              <a:t>classify_risk_segment</a:t>
            </a:r>
            <a:endParaRPr lang="en-US" sz="1000" b="1" dirty="0"/>
          </a:p>
        </p:txBody>
      </p:sp>
      <p:sp>
        <p:nvSpPr>
          <p:cNvPr id="29" name="Text 27"/>
          <p:cNvSpPr/>
          <p:nvPr/>
        </p:nvSpPr>
        <p:spPr>
          <a:xfrm>
            <a:off x="4807129" y="5897880"/>
            <a:ext cx="2148840" cy="411480"/>
          </a:xfrm>
          <a:prstGeom prst="rect">
            <a:avLst/>
          </a:prstGeom>
          <a:noFill/>
          <a:ln/>
        </p:spPr>
        <p:txBody>
          <a:bodyPr wrap="square" rtlCol="0" anchor="ctr"/>
          <a:lstStyle/>
          <a:p>
            <a:pPr marL="0" indent="0" algn="ctr">
              <a:lnSpc>
                <a:spcPct val="115000"/>
              </a:lnSpc>
              <a:buNone/>
            </a:pPr>
            <a:r>
              <a:rPr lang="en-US" sz="1000" dirty="0">
                <a:solidFill>
                  <a:srgbClr val="64748B"/>
                </a:solidFill>
                <a:latin typeface="Arial" pitchFamily="34" charset="0"/>
                <a:ea typeface="Arial" pitchFamily="34" charset="-122"/>
                <a:cs typeface="Arial" pitchFamily="34" charset="-120"/>
              </a:rPr>
              <a:t>Deterministic rule engine — classifies into 4 risk segments</a:t>
            </a:r>
            <a:endParaRPr lang="en-US" sz="1000" dirty="0"/>
          </a:p>
        </p:txBody>
      </p:sp>
      <p:sp>
        <p:nvSpPr>
          <p:cNvPr id="30" name="Shape 28"/>
          <p:cNvSpPr/>
          <p:nvPr/>
        </p:nvSpPr>
        <p:spPr>
          <a:xfrm>
            <a:off x="8484325" y="4892040"/>
            <a:ext cx="2331720" cy="1691640"/>
          </a:xfrm>
          <a:prstGeom prst="roundRect">
            <a:avLst>
              <a:gd name="adj" fmla="val 4324"/>
            </a:avLst>
          </a:prstGeom>
          <a:solidFill>
            <a:schemeClr val="bg1"/>
          </a:solidFill>
          <a:ln w="12700">
            <a:solidFill>
              <a:srgbClr val="CBD5E1"/>
            </a:solidFill>
            <a:prstDash val="solid"/>
          </a:ln>
          <a:effectLst>
            <a:outerShdw blurRad="63500" dist="25400" dir="16200000" algn="bl" rotWithShape="0">
              <a:srgbClr val="888888">
                <a:alpha val="10000"/>
              </a:srgbClr>
            </a:outerShdw>
          </a:effectLst>
        </p:spPr>
        <p:txBody>
          <a:bodyPr/>
          <a:lstStyle/>
          <a:p>
            <a:endParaRPr lang="en-US">
              <a:latin typeface="Arial" panose="020B0604020202020204" pitchFamily="34" charset="0"/>
              <a:cs typeface="Arial" panose="020B0604020202020204" pitchFamily="34" charset="0"/>
            </a:endParaRPr>
          </a:p>
        </p:txBody>
      </p:sp>
      <p:sp>
        <p:nvSpPr>
          <p:cNvPr id="32" name="Text 30"/>
          <p:cNvSpPr/>
          <p:nvPr/>
        </p:nvSpPr>
        <p:spPr>
          <a:xfrm>
            <a:off x="8526780" y="5097780"/>
            <a:ext cx="2331720" cy="502920"/>
          </a:xfrm>
          <a:prstGeom prst="rect">
            <a:avLst/>
          </a:prstGeom>
          <a:noFill/>
          <a:ln/>
        </p:spPr>
        <p:txBody>
          <a:bodyPr wrap="square" rtlCol="0" anchor="ctr"/>
          <a:lstStyle/>
          <a:p>
            <a:pPr marL="0" indent="0" algn="ctr">
              <a:buNone/>
            </a:pPr>
            <a:r>
              <a:rPr lang="en-US" sz="1200" b="1" dirty="0">
                <a:solidFill>
                  <a:srgbClr val="0D1B2A"/>
                </a:solidFill>
                <a:latin typeface="Arial" pitchFamily="34" charset="0"/>
                <a:ea typeface="Arial" pitchFamily="34" charset="-122"/>
                <a:cs typeface="Arial" pitchFamily="34" charset="-120"/>
              </a:rPr>
              <a:t>Retention</a:t>
            </a:r>
            <a:endParaRPr lang="en-US" sz="1200" dirty="0"/>
          </a:p>
          <a:p>
            <a:pPr marL="0" indent="0" algn="ctr">
              <a:buNone/>
            </a:pPr>
            <a:r>
              <a:rPr lang="en-US" sz="1200" b="1" dirty="0">
                <a:solidFill>
                  <a:srgbClr val="0D1B2A"/>
                </a:solidFill>
                <a:latin typeface="Arial" pitchFamily="34" charset="0"/>
                <a:ea typeface="Arial" pitchFamily="34" charset="-122"/>
                <a:cs typeface="Arial" pitchFamily="34" charset="-120"/>
              </a:rPr>
              <a:t>Strategist</a:t>
            </a:r>
            <a:endParaRPr lang="en-US" sz="1200" dirty="0"/>
          </a:p>
        </p:txBody>
      </p:sp>
      <p:sp>
        <p:nvSpPr>
          <p:cNvPr id="33" name="Text 31"/>
          <p:cNvSpPr/>
          <p:nvPr/>
        </p:nvSpPr>
        <p:spPr>
          <a:xfrm>
            <a:off x="8631936" y="5577840"/>
            <a:ext cx="2148840" cy="228600"/>
          </a:xfrm>
          <a:prstGeom prst="rect">
            <a:avLst/>
          </a:prstGeom>
          <a:noFill/>
          <a:ln/>
        </p:spPr>
        <p:txBody>
          <a:bodyPr wrap="square" rtlCol="0" anchor="ctr"/>
          <a:lstStyle/>
          <a:p>
            <a:pPr marL="0" indent="0" algn="ctr">
              <a:buNone/>
            </a:pPr>
            <a:r>
              <a:rPr lang="en-US" sz="1000" b="1" i="1" dirty="0">
                <a:solidFill>
                  <a:srgbClr val="C8860A"/>
                </a:solidFill>
                <a:latin typeface="Arial" pitchFamily="34" charset="0"/>
                <a:ea typeface="Arial" pitchFamily="34" charset="-122"/>
                <a:cs typeface="Arial" pitchFamily="34" charset="-120"/>
              </a:rPr>
              <a:t>recommend_retention_action</a:t>
            </a:r>
            <a:endParaRPr lang="en-US" sz="1000" b="1" dirty="0"/>
          </a:p>
        </p:txBody>
      </p:sp>
      <p:sp>
        <p:nvSpPr>
          <p:cNvPr id="34" name="Text 32"/>
          <p:cNvSpPr/>
          <p:nvPr/>
        </p:nvSpPr>
        <p:spPr>
          <a:xfrm>
            <a:off x="8631936" y="5897880"/>
            <a:ext cx="2148840" cy="411480"/>
          </a:xfrm>
          <a:prstGeom prst="rect">
            <a:avLst/>
          </a:prstGeom>
          <a:noFill/>
          <a:ln/>
        </p:spPr>
        <p:txBody>
          <a:bodyPr wrap="square" rtlCol="0" anchor="ctr"/>
          <a:lstStyle/>
          <a:p>
            <a:pPr marL="0" indent="0" algn="ctr">
              <a:lnSpc>
                <a:spcPct val="115000"/>
              </a:lnSpc>
              <a:buNone/>
            </a:pPr>
            <a:r>
              <a:rPr lang="en-US" sz="1000" dirty="0">
                <a:solidFill>
                  <a:srgbClr val="64748B"/>
                </a:solidFill>
                <a:latin typeface="Arial" pitchFamily="34" charset="0"/>
                <a:ea typeface="Arial" pitchFamily="34" charset="-122"/>
                <a:cs typeface="Arial" pitchFamily="34" charset="-120"/>
              </a:rPr>
              <a:t>ChromaDB RAG — retrieves matching retention playbook</a:t>
            </a:r>
            <a:endParaRPr lang="en-US" sz="1000" dirty="0"/>
          </a:p>
        </p:txBody>
      </p:sp>
      <p:sp>
        <p:nvSpPr>
          <p:cNvPr id="35" name="Shape 33"/>
          <p:cNvSpPr/>
          <p:nvPr/>
        </p:nvSpPr>
        <p:spPr>
          <a:xfrm>
            <a:off x="9601200" y="2651760"/>
            <a:ext cx="2057400" cy="1097280"/>
          </a:xfrm>
          <a:prstGeom prst="roundRect">
            <a:avLst>
              <a:gd name="adj" fmla="val 6667"/>
            </a:avLst>
          </a:prstGeom>
          <a:solidFill>
            <a:srgbClr val="1A6B3A"/>
          </a:solidFill>
          <a:ln w="12700">
            <a:solidFill>
              <a:srgbClr val="1A6B3A"/>
            </a:solidFill>
            <a:prstDash val="solid"/>
          </a:ln>
        </p:spPr>
        <p:txBody>
          <a:bodyPr/>
          <a:lstStyle/>
          <a:p>
            <a:endParaRPr lang="en-US"/>
          </a:p>
        </p:txBody>
      </p:sp>
      <p:sp>
        <p:nvSpPr>
          <p:cNvPr id="36" name="Text 34"/>
          <p:cNvSpPr/>
          <p:nvPr/>
        </p:nvSpPr>
        <p:spPr>
          <a:xfrm>
            <a:off x="9601200" y="2651760"/>
            <a:ext cx="2057400" cy="109728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NBA</a:t>
            </a:r>
            <a:endParaRPr lang="en-US" sz="1400" dirty="0"/>
          </a:p>
          <a:p>
            <a:pPr marL="0" indent="0" algn="ctr">
              <a:buNone/>
            </a:pPr>
            <a:r>
              <a:rPr lang="en-US" sz="1400" b="1" dirty="0">
                <a:solidFill>
                  <a:srgbClr val="FFFFFF"/>
                </a:solidFill>
                <a:latin typeface="Arial" pitchFamily="34" charset="0"/>
                <a:ea typeface="Arial" pitchFamily="34" charset="-122"/>
                <a:cs typeface="Arial" pitchFamily="34" charset="-120"/>
              </a:rPr>
              <a:t>DECISION</a:t>
            </a:r>
            <a:endParaRPr lang="en-US" sz="1400" dirty="0"/>
          </a:p>
        </p:txBody>
      </p:sp>
      <p:sp>
        <p:nvSpPr>
          <p:cNvPr id="37" name="Shape 35"/>
          <p:cNvSpPr/>
          <p:nvPr/>
        </p:nvSpPr>
        <p:spPr>
          <a:xfrm>
            <a:off x="7985762" y="2743200"/>
            <a:ext cx="914400" cy="914400"/>
          </a:xfrm>
          <a:prstGeom prst="roundRect">
            <a:avLst>
              <a:gd name="adj" fmla="val 6000"/>
            </a:avLst>
          </a:prstGeom>
          <a:solidFill>
            <a:schemeClr val="bg1"/>
          </a:solidFill>
          <a:ln w="12700">
            <a:solidFill>
              <a:srgbClr val="1B3A6B"/>
            </a:solidFill>
            <a:prstDash val="solid"/>
          </a:ln>
        </p:spPr>
        <p:txBody>
          <a:bodyPr/>
          <a:lstStyle/>
          <a:p>
            <a:endParaRPr lang="en-US"/>
          </a:p>
        </p:txBody>
      </p:sp>
      <p:sp>
        <p:nvSpPr>
          <p:cNvPr id="38" name="Text 36"/>
          <p:cNvSpPr/>
          <p:nvPr/>
        </p:nvSpPr>
        <p:spPr>
          <a:xfrm>
            <a:off x="8003179" y="2743200"/>
            <a:ext cx="914400" cy="914400"/>
          </a:xfrm>
          <a:prstGeom prst="rect">
            <a:avLst/>
          </a:prstGeom>
          <a:noFill/>
          <a:ln/>
        </p:spPr>
        <p:txBody>
          <a:bodyPr wrap="square"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Generate</a:t>
            </a:r>
            <a:endParaRPr lang="en-US" sz="1100" dirty="0"/>
          </a:p>
        </p:txBody>
      </p:sp>
      <p:sp>
        <p:nvSpPr>
          <p:cNvPr id="39" name="Text 37"/>
          <p:cNvSpPr/>
          <p:nvPr/>
        </p:nvSpPr>
        <p:spPr>
          <a:xfrm>
            <a:off x="9464040" y="3035808"/>
            <a:ext cx="182880" cy="274320"/>
          </a:xfrm>
          <a:prstGeom prst="rect">
            <a:avLst/>
          </a:prstGeom>
          <a:noFill/>
          <a:ln/>
        </p:spPr>
        <p:txBody>
          <a:bodyPr wrap="square" rtlCol="0" anchor="ctr"/>
          <a:lstStyle/>
          <a:p>
            <a:pPr marL="0" indent="0" algn="ctr">
              <a:buNone/>
            </a:pPr>
            <a:endParaRPr lang="en-US" sz="1200" dirty="0"/>
          </a:p>
        </p:txBody>
      </p:sp>
      <p:sp>
        <p:nvSpPr>
          <p:cNvPr id="41" name="Text 39"/>
          <p:cNvSpPr/>
          <p:nvPr/>
        </p:nvSpPr>
        <p:spPr>
          <a:xfrm>
            <a:off x="8430768" y="3035808"/>
            <a:ext cx="201168" cy="237744"/>
          </a:xfrm>
          <a:prstGeom prst="rect">
            <a:avLst/>
          </a:prstGeom>
          <a:noFill/>
          <a:ln/>
        </p:spPr>
        <p:txBody>
          <a:bodyPr wrap="square" rtlCol="0" anchor="ctr"/>
          <a:lstStyle/>
          <a:p>
            <a:pPr marL="0" indent="0" algn="ctr">
              <a:buNone/>
            </a:pPr>
            <a:endParaRPr lang="en-US" sz="1200" dirty="0"/>
          </a:p>
        </p:txBody>
      </p:sp>
      <p:sp>
        <p:nvSpPr>
          <p:cNvPr id="43" name="Arrow: Right 42">
            <a:extLst>
              <a:ext uri="{FF2B5EF4-FFF2-40B4-BE49-F238E27FC236}">
                <a16:creationId xmlns:a16="http://schemas.microsoft.com/office/drawing/2014/main" id="{9938A556-85EE-6F59-82C2-F3435D813452}"/>
              </a:ext>
            </a:extLst>
          </p:cNvPr>
          <p:cNvSpPr/>
          <p:nvPr/>
        </p:nvSpPr>
        <p:spPr>
          <a:xfrm>
            <a:off x="2435134" y="3011098"/>
            <a:ext cx="1097280" cy="31960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5" name="Arrow: Right 44">
            <a:extLst>
              <a:ext uri="{FF2B5EF4-FFF2-40B4-BE49-F238E27FC236}">
                <a16:creationId xmlns:a16="http://schemas.microsoft.com/office/drawing/2014/main" id="{D5B6484D-C5FC-ACB2-B422-0475FCF2AD7B}"/>
              </a:ext>
            </a:extLst>
          </p:cNvPr>
          <p:cNvSpPr/>
          <p:nvPr/>
        </p:nvSpPr>
        <p:spPr>
          <a:xfrm>
            <a:off x="6644639" y="3036245"/>
            <a:ext cx="1097280" cy="31960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7" name="Arrow: Right 46">
            <a:extLst>
              <a:ext uri="{FF2B5EF4-FFF2-40B4-BE49-F238E27FC236}">
                <a16:creationId xmlns:a16="http://schemas.microsoft.com/office/drawing/2014/main" id="{A43CBB35-AC3D-435D-49B1-2B7DBD63C01A}"/>
              </a:ext>
            </a:extLst>
          </p:cNvPr>
          <p:cNvSpPr/>
          <p:nvPr/>
        </p:nvSpPr>
        <p:spPr>
          <a:xfrm>
            <a:off x="9030788" y="3035808"/>
            <a:ext cx="457200" cy="319603"/>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287382"/>
            <a:ext cx="8229600" cy="640080"/>
          </a:xfrm>
          <a:prstGeom prst="rect">
            <a:avLst/>
          </a:prstGeom>
          <a:noFill/>
          <a:ln>
            <a:solidFill>
              <a:schemeClr val="bg1">
                <a:lumMod val="95000"/>
              </a:schemeClr>
            </a:solidFill>
          </a:ln>
        </p:spPr>
        <p:txBody>
          <a:bodyPr wrap="square" rtlCol="0" anchor="ctr"/>
          <a:lstStyle/>
          <a:p>
            <a:pPr marL="0" indent="0">
              <a:buNone/>
            </a:pPr>
            <a:r>
              <a:rPr lang="en-US" sz="3600" b="1" dirty="0">
                <a:solidFill>
                  <a:srgbClr val="FFC000"/>
                </a:solidFill>
                <a:latin typeface="Arial" pitchFamily="34" charset="0"/>
                <a:ea typeface="Arial" pitchFamily="34" charset="-122"/>
                <a:cs typeface="Arial" pitchFamily="34" charset="-120"/>
              </a:rPr>
              <a:t>Risk Segment Classification</a:t>
            </a:r>
            <a:endParaRPr lang="en-US" sz="3600" dirty="0">
              <a:solidFill>
                <a:srgbClr val="FFC000"/>
              </a:solidFill>
            </a:endParaRPr>
          </a:p>
        </p:txBody>
      </p:sp>
      <p:sp>
        <p:nvSpPr>
          <p:cNvPr id="4" name="Shape 2"/>
          <p:cNvSpPr/>
          <p:nvPr/>
        </p:nvSpPr>
        <p:spPr>
          <a:xfrm>
            <a:off x="548640" y="1005840"/>
            <a:ext cx="11064240" cy="594360"/>
          </a:xfrm>
          <a:prstGeom prst="roundRect">
            <a:avLst>
              <a:gd name="adj" fmla="val 10769"/>
            </a:avLst>
          </a:prstGeom>
          <a:solidFill>
            <a:srgbClr val="FFF3DC"/>
          </a:solidFill>
          <a:ln w="12700">
            <a:solidFill>
              <a:srgbClr val="C8860A"/>
            </a:solidFill>
            <a:prstDash val="solid"/>
          </a:ln>
        </p:spPr>
        <p:txBody>
          <a:bodyPr/>
          <a:lstStyle/>
          <a:p>
            <a:endParaRPr lang="en-US"/>
          </a:p>
        </p:txBody>
      </p:sp>
      <p:sp>
        <p:nvSpPr>
          <p:cNvPr id="5" name="Text 3"/>
          <p:cNvSpPr/>
          <p:nvPr/>
        </p:nvSpPr>
        <p:spPr>
          <a:xfrm>
            <a:off x="685800" y="1005840"/>
            <a:ext cx="10972800" cy="594360"/>
          </a:xfrm>
          <a:prstGeom prst="rect">
            <a:avLst/>
          </a:prstGeom>
          <a:noFill/>
          <a:ln/>
        </p:spPr>
        <p:txBody>
          <a:bodyPr wrap="square" rtlCol="0" anchor="ctr"/>
          <a:lstStyle/>
          <a:p>
            <a:pPr marL="0" indent="0">
              <a:buNone/>
            </a:pPr>
            <a:r>
              <a:rPr lang="en-US" sz="1200" b="1" dirty="0">
                <a:solidFill>
                  <a:srgbClr val="0D1B2A"/>
                </a:solidFill>
                <a:latin typeface="Arial" panose="020B0604020202020204" pitchFamily="34" charset="0"/>
                <a:ea typeface="Arial" pitchFamily="34" charset="-122"/>
                <a:cs typeface="Arial" panose="020B0604020202020204" pitchFamily="34" charset="0"/>
              </a:rPr>
              <a:t>Deterministic Rule Engine — No LLM. Same inputs always produce the same output. Every decision is auditable.</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548640" y="1783080"/>
            <a:ext cx="2743200" cy="4800600"/>
          </a:xfrm>
          <a:prstGeom prst="roundRect">
            <a:avLst>
              <a:gd name="adj" fmla="val 3333"/>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7" name="Shape 5"/>
          <p:cNvSpPr/>
          <p:nvPr/>
        </p:nvSpPr>
        <p:spPr>
          <a:xfrm>
            <a:off x="548640" y="1783080"/>
            <a:ext cx="2743200" cy="1051560"/>
          </a:xfrm>
          <a:prstGeom prst="roundRect">
            <a:avLst>
              <a:gd name="adj" fmla="val 8696"/>
            </a:avLst>
          </a:prstGeom>
          <a:solidFill>
            <a:srgbClr val="C0392B"/>
          </a:solidFill>
          <a:ln w="12700">
            <a:solidFill>
              <a:srgbClr val="C0392B"/>
            </a:solidFill>
            <a:prstDash val="solid"/>
          </a:ln>
        </p:spPr>
        <p:txBody>
          <a:bodyPr/>
          <a:lstStyle/>
          <a:p>
            <a:endParaRPr lang="en-US">
              <a:latin typeface="Arial" panose="020B0604020202020204" pitchFamily="34" charset="0"/>
              <a:cs typeface="Arial" panose="020B0604020202020204" pitchFamily="34" charset="0"/>
            </a:endParaRPr>
          </a:p>
        </p:txBody>
      </p:sp>
      <p:sp>
        <p:nvSpPr>
          <p:cNvPr id="8" name="Shape 6"/>
          <p:cNvSpPr/>
          <p:nvPr/>
        </p:nvSpPr>
        <p:spPr>
          <a:xfrm>
            <a:off x="548640" y="2423160"/>
            <a:ext cx="2743200" cy="411480"/>
          </a:xfrm>
          <a:prstGeom prst="rect">
            <a:avLst/>
          </a:prstGeom>
          <a:solidFill>
            <a:srgbClr val="C0392B"/>
          </a:solidFill>
          <a:ln w="12700">
            <a:solidFill>
              <a:srgbClr val="C0392B"/>
            </a:solidFill>
            <a:prstDash val="solid"/>
          </a:ln>
        </p:spPr>
        <p:txBody>
          <a:bodyPr/>
          <a:lstStyle/>
          <a:p>
            <a:endParaRPr lang="en-US">
              <a:latin typeface="Arial" panose="020B0604020202020204" pitchFamily="34" charset="0"/>
              <a:cs typeface="Arial" panose="020B0604020202020204" pitchFamily="34" charset="0"/>
            </a:endParaRPr>
          </a:p>
        </p:txBody>
      </p:sp>
      <p:sp>
        <p:nvSpPr>
          <p:cNvPr id="9" name="Text 7"/>
          <p:cNvSpPr/>
          <p:nvPr/>
        </p:nvSpPr>
        <p:spPr>
          <a:xfrm>
            <a:off x="548640" y="1856232"/>
            <a:ext cx="2743200" cy="41148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P1</a:t>
            </a:r>
            <a:endParaRPr lang="en-US" sz="1800" dirty="0">
              <a:latin typeface="Arial" panose="020B0604020202020204" pitchFamily="34" charset="0"/>
              <a:cs typeface="Arial" panose="020B0604020202020204" pitchFamily="34" charset="0"/>
            </a:endParaRPr>
          </a:p>
        </p:txBody>
      </p:sp>
      <p:sp>
        <p:nvSpPr>
          <p:cNvPr id="10" name="Text 8"/>
          <p:cNvSpPr/>
          <p:nvPr/>
        </p:nvSpPr>
        <p:spPr>
          <a:xfrm>
            <a:off x="548640" y="2286000"/>
            <a:ext cx="2743200" cy="438912"/>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Support-Fatigued</a:t>
            </a:r>
            <a:endParaRPr lang="en-US" sz="1200" dirty="0">
              <a:latin typeface="Arial" panose="020B0604020202020204" pitchFamily="34" charset="0"/>
              <a:cs typeface="Arial" panose="020B0604020202020204" pitchFamily="34" charset="0"/>
            </a:endParaRPr>
          </a:p>
        </p:txBody>
      </p:sp>
      <p:sp>
        <p:nvSpPr>
          <p:cNvPr id="11" name="Shape 9"/>
          <p:cNvSpPr/>
          <p:nvPr/>
        </p:nvSpPr>
        <p:spPr>
          <a:xfrm>
            <a:off x="1234440" y="2880360"/>
            <a:ext cx="1371600" cy="310896"/>
          </a:xfrm>
          <a:prstGeom prst="roundRect">
            <a:avLst>
              <a:gd name="adj" fmla="val 14706"/>
            </a:avLst>
          </a:prstGeom>
          <a:solidFill>
            <a:srgbClr val="C0392B"/>
          </a:solidFill>
          <a:ln w="12700">
            <a:solidFill>
              <a:srgbClr val="C0392B"/>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12" name="Text 10"/>
          <p:cNvSpPr/>
          <p:nvPr/>
        </p:nvSpPr>
        <p:spPr>
          <a:xfrm>
            <a:off x="1234440" y="2880360"/>
            <a:ext cx="1371600" cy="310896"/>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ESCALATE</a:t>
            </a:r>
            <a:endParaRPr lang="en-US" sz="1200" dirty="0">
              <a:latin typeface="Arial" panose="020B0604020202020204" pitchFamily="34" charset="0"/>
              <a:cs typeface="Arial" panose="020B0604020202020204" pitchFamily="34" charset="0"/>
            </a:endParaRPr>
          </a:p>
        </p:txBody>
      </p:sp>
      <p:sp>
        <p:nvSpPr>
          <p:cNvPr id="13" name="Text 11"/>
          <p:cNvSpPr/>
          <p:nvPr/>
        </p:nvSpPr>
        <p:spPr>
          <a:xfrm>
            <a:off x="685800" y="3337560"/>
            <a:ext cx="2468880" cy="228600"/>
          </a:xfrm>
          <a:prstGeom prst="rect">
            <a:avLst/>
          </a:prstGeom>
          <a:noFill/>
          <a:ln/>
        </p:spPr>
        <p:txBody>
          <a:bodyPr wrap="square" rtlCol="0" anchor="ctr"/>
          <a:lstStyle/>
          <a:p>
            <a:pPr marL="0" indent="0" algn="just">
              <a:buNone/>
            </a:pPr>
            <a:r>
              <a:rPr lang="en-US" sz="1200" b="1" dirty="0">
                <a:solidFill>
                  <a:srgbClr val="334155"/>
                </a:solidFill>
                <a:latin typeface="Arial" panose="020B0604020202020204" pitchFamily="34" charset="0"/>
                <a:ea typeface="Arial" pitchFamily="34" charset="-122"/>
                <a:cs typeface="Arial" panose="020B0604020202020204" pitchFamily="34" charset="0"/>
              </a:rPr>
              <a:t>Required signals:</a:t>
            </a:r>
            <a:endParaRPr lang="en-US" sz="1200" dirty="0">
              <a:latin typeface="Arial" panose="020B0604020202020204" pitchFamily="34" charset="0"/>
              <a:cs typeface="Arial" panose="020B0604020202020204" pitchFamily="34" charset="0"/>
            </a:endParaRPr>
          </a:p>
        </p:txBody>
      </p:sp>
      <p:sp>
        <p:nvSpPr>
          <p:cNvPr id="14" name="Text 12"/>
          <p:cNvSpPr/>
          <p:nvPr/>
        </p:nvSpPr>
        <p:spPr>
          <a:xfrm>
            <a:off x="685800" y="3566160"/>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Support tickets ≥ 3</a:t>
            </a:r>
            <a:endParaRPr lang="en-US" sz="1200" dirty="0">
              <a:latin typeface="Arial" panose="020B0604020202020204" pitchFamily="34" charset="0"/>
              <a:cs typeface="Arial" panose="020B0604020202020204" pitchFamily="34" charset="0"/>
            </a:endParaRPr>
          </a:p>
        </p:txBody>
      </p:sp>
      <p:sp>
        <p:nvSpPr>
          <p:cNvPr id="15" name="Text 13"/>
          <p:cNvSpPr/>
          <p:nvPr/>
        </p:nvSpPr>
        <p:spPr>
          <a:xfrm>
            <a:off x="685800" y="3913632"/>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NPS score ≤ 4</a:t>
            </a:r>
            <a:endParaRPr lang="en-US" sz="1200" dirty="0">
              <a:latin typeface="Arial" panose="020B0604020202020204" pitchFamily="34" charset="0"/>
              <a:cs typeface="Arial" panose="020B0604020202020204" pitchFamily="34" charset="0"/>
            </a:endParaRPr>
          </a:p>
        </p:txBody>
      </p:sp>
      <p:sp>
        <p:nvSpPr>
          <p:cNvPr id="16" name="Text 14"/>
          <p:cNvSpPr/>
          <p:nvPr/>
        </p:nvSpPr>
        <p:spPr>
          <a:xfrm>
            <a:off x="685800" y="4261104"/>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Email open rate &lt; 20%</a:t>
            </a:r>
            <a:endParaRPr lang="en-US" sz="1200" dirty="0">
              <a:latin typeface="Arial" panose="020B0604020202020204" pitchFamily="34" charset="0"/>
              <a:cs typeface="Arial" panose="020B0604020202020204" pitchFamily="34" charset="0"/>
            </a:endParaRPr>
          </a:p>
        </p:txBody>
      </p:sp>
      <p:sp>
        <p:nvSpPr>
          <p:cNvPr id="17" name="Shape 15"/>
          <p:cNvSpPr/>
          <p:nvPr/>
        </p:nvSpPr>
        <p:spPr>
          <a:xfrm>
            <a:off x="640080" y="4663440"/>
            <a:ext cx="2560320" cy="822960"/>
          </a:xfrm>
          <a:prstGeom prst="roundRect">
            <a:avLst>
              <a:gd name="adj" fmla="val 5556"/>
            </a:avLst>
          </a:prstGeom>
          <a:solidFill>
            <a:srgbClr val="F6F7F9"/>
          </a:solidFill>
          <a:ln w="12700">
            <a:solidFill>
              <a:srgbClr val="CBD5E1"/>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18" name="Text 16"/>
          <p:cNvSpPr/>
          <p:nvPr/>
        </p:nvSpPr>
        <p:spPr>
          <a:xfrm>
            <a:off x="685800" y="4709160"/>
            <a:ext cx="2468880" cy="749808"/>
          </a:xfrm>
          <a:prstGeom prst="rect">
            <a:avLst/>
          </a:prstGeom>
          <a:noFill/>
          <a:ln/>
        </p:spPr>
        <p:txBody>
          <a:bodyPr wrap="square" rtlCol="0" anchor="ctr"/>
          <a:lstStyle/>
          <a:p>
            <a:pPr marL="0" indent="0">
              <a:lnSpc>
                <a:spcPct val="115000"/>
              </a:lnSpc>
              <a:buNone/>
            </a:pPr>
            <a:r>
              <a:rPr lang="en-US" sz="1200" b="1" dirty="0">
                <a:solidFill>
                  <a:srgbClr val="64748B"/>
                </a:solidFill>
                <a:latin typeface="Arial" panose="020B0604020202020204" pitchFamily="34" charset="0"/>
                <a:ea typeface="Arial" pitchFamily="34" charset="-122"/>
                <a:cs typeface="Arial" panose="020B0604020202020204" pitchFamily="34" charset="0"/>
              </a:rPr>
              <a:t>Policy: No promotional content until service issue resolved</a:t>
            </a:r>
            <a:endParaRPr lang="en-US" sz="1200" b="1" dirty="0">
              <a:latin typeface="Arial" panose="020B0604020202020204" pitchFamily="34" charset="0"/>
              <a:cs typeface="Arial" panose="020B0604020202020204" pitchFamily="34" charset="0"/>
            </a:endParaRPr>
          </a:p>
        </p:txBody>
      </p:sp>
      <p:sp>
        <p:nvSpPr>
          <p:cNvPr id="19" name="Shape 17"/>
          <p:cNvSpPr/>
          <p:nvPr/>
        </p:nvSpPr>
        <p:spPr>
          <a:xfrm>
            <a:off x="3474720" y="1783080"/>
            <a:ext cx="2743200" cy="4800600"/>
          </a:xfrm>
          <a:prstGeom prst="roundRect">
            <a:avLst>
              <a:gd name="adj" fmla="val 3333"/>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20" name="Shape 18"/>
          <p:cNvSpPr/>
          <p:nvPr/>
        </p:nvSpPr>
        <p:spPr>
          <a:xfrm>
            <a:off x="3474720" y="1783080"/>
            <a:ext cx="2743200" cy="1051560"/>
          </a:xfrm>
          <a:prstGeom prst="roundRect">
            <a:avLst>
              <a:gd name="adj" fmla="val 8696"/>
            </a:avLst>
          </a:prstGeom>
          <a:solidFill>
            <a:srgbClr val="C8860A"/>
          </a:solidFill>
          <a:ln w="12700">
            <a:solidFill>
              <a:srgbClr val="C8860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1" name="Shape 19"/>
          <p:cNvSpPr/>
          <p:nvPr/>
        </p:nvSpPr>
        <p:spPr>
          <a:xfrm>
            <a:off x="3474720" y="2423160"/>
            <a:ext cx="2743200" cy="411480"/>
          </a:xfrm>
          <a:prstGeom prst="rect">
            <a:avLst/>
          </a:prstGeom>
          <a:solidFill>
            <a:srgbClr val="C8860A"/>
          </a:solidFill>
          <a:ln w="12700">
            <a:solidFill>
              <a:srgbClr val="C8860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2" name="Text 20"/>
          <p:cNvSpPr/>
          <p:nvPr/>
        </p:nvSpPr>
        <p:spPr>
          <a:xfrm>
            <a:off x="3474720" y="1856232"/>
            <a:ext cx="2743200" cy="41148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P2</a:t>
            </a:r>
            <a:endParaRPr lang="en-US" sz="1800" dirty="0">
              <a:latin typeface="Arial" panose="020B0604020202020204" pitchFamily="34" charset="0"/>
              <a:cs typeface="Arial" panose="020B0604020202020204" pitchFamily="34" charset="0"/>
            </a:endParaRPr>
          </a:p>
        </p:txBody>
      </p:sp>
      <p:sp>
        <p:nvSpPr>
          <p:cNvPr id="23" name="Text 21"/>
          <p:cNvSpPr/>
          <p:nvPr/>
        </p:nvSpPr>
        <p:spPr>
          <a:xfrm>
            <a:off x="3474720" y="2286000"/>
            <a:ext cx="2743200" cy="438912"/>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Competitor-Switched</a:t>
            </a:r>
            <a:endParaRPr lang="en-US" sz="1200" dirty="0">
              <a:latin typeface="Arial" panose="020B0604020202020204" pitchFamily="34" charset="0"/>
              <a:cs typeface="Arial" panose="020B0604020202020204" pitchFamily="34" charset="0"/>
            </a:endParaRPr>
          </a:p>
        </p:txBody>
      </p:sp>
      <p:sp>
        <p:nvSpPr>
          <p:cNvPr id="24" name="Shape 22"/>
          <p:cNvSpPr/>
          <p:nvPr/>
        </p:nvSpPr>
        <p:spPr>
          <a:xfrm>
            <a:off x="4160520" y="2880360"/>
            <a:ext cx="1371600" cy="310896"/>
          </a:xfrm>
          <a:prstGeom prst="roundRect">
            <a:avLst>
              <a:gd name="adj" fmla="val 14706"/>
            </a:avLst>
          </a:prstGeom>
          <a:solidFill>
            <a:srgbClr val="C8860A"/>
          </a:solidFill>
          <a:ln w="12700">
            <a:solidFill>
              <a:srgbClr val="C8860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25" name="Text 23"/>
          <p:cNvSpPr/>
          <p:nvPr/>
        </p:nvSpPr>
        <p:spPr>
          <a:xfrm>
            <a:off x="4160520" y="2880360"/>
            <a:ext cx="1371600" cy="310896"/>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NURTURE</a:t>
            </a:r>
            <a:endParaRPr lang="en-US" sz="1200" dirty="0">
              <a:latin typeface="Arial" panose="020B0604020202020204" pitchFamily="34" charset="0"/>
              <a:cs typeface="Arial" panose="020B0604020202020204" pitchFamily="34" charset="0"/>
            </a:endParaRPr>
          </a:p>
        </p:txBody>
      </p:sp>
      <p:sp>
        <p:nvSpPr>
          <p:cNvPr id="26" name="Text 24"/>
          <p:cNvSpPr/>
          <p:nvPr/>
        </p:nvSpPr>
        <p:spPr>
          <a:xfrm>
            <a:off x="3611880" y="3337560"/>
            <a:ext cx="2468880" cy="228600"/>
          </a:xfrm>
          <a:prstGeom prst="rect">
            <a:avLst/>
          </a:prstGeom>
          <a:noFill/>
          <a:ln/>
        </p:spPr>
        <p:txBody>
          <a:bodyPr wrap="square" rtlCol="0" anchor="ctr"/>
          <a:lstStyle/>
          <a:p>
            <a:pPr marL="0" indent="0" algn="just">
              <a:buNone/>
            </a:pPr>
            <a:r>
              <a:rPr lang="en-US" sz="1200" b="1" dirty="0">
                <a:solidFill>
                  <a:srgbClr val="334155"/>
                </a:solidFill>
                <a:latin typeface="Arial" panose="020B0604020202020204" pitchFamily="34" charset="0"/>
                <a:ea typeface="Arial" pitchFamily="34" charset="-122"/>
                <a:cs typeface="Arial" panose="020B0604020202020204" pitchFamily="34" charset="0"/>
              </a:rPr>
              <a:t>Required signals:</a:t>
            </a:r>
            <a:endParaRPr lang="en-US" sz="1200" dirty="0">
              <a:latin typeface="Arial" panose="020B0604020202020204" pitchFamily="34" charset="0"/>
              <a:cs typeface="Arial" panose="020B0604020202020204" pitchFamily="34" charset="0"/>
            </a:endParaRPr>
          </a:p>
        </p:txBody>
      </p:sp>
      <p:sp>
        <p:nvSpPr>
          <p:cNvPr id="27" name="Text 25"/>
          <p:cNvSpPr/>
          <p:nvPr/>
        </p:nvSpPr>
        <p:spPr>
          <a:xfrm>
            <a:off x="3611880" y="3566160"/>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Recency &gt; 90 days</a:t>
            </a:r>
            <a:endParaRPr lang="en-US" sz="1200" dirty="0">
              <a:latin typeface="Arial" panose="020B0604020202020204" pitchFamily="34" charset="0"/>
              <a:cs typeface="Arial" panose="020B0604020202020204" pitchFamily="34" charset="0"/>
            </a:endParaRPr>
          </a:p>
        </p:txBody>
      </p:sp>
      <p:sp>
        <p:nvSpPr>
          <p:cNvPr id="28" name="Text 26"/>
          <p:cNvSpPr/>
          <p:nvPr/>
        </p:nvSpPr>
        <p:spPr>
          <a:xfrm>
            <a:off x="3611880" y="3913632"/>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App sessions = 0 / month</a:t>
            </a:r>
            <a:endParaRPr lang="en-US" sz="1200" dirty="0">
              <a:latin typeface="Arial" panose="020B0604020202020204" pitchFamily="34" charset="0"/>
              <a:cs typeface="Arial" panose="020B0604020202020204" pitchFamily="34" charset="0"/>
            </a:endParaRPr>
          </a:p>
        </p:txBody>
      </p:sp>
      <p:sp>
        <p:nvSpPr>
          <p:cNvPr id="29" name="Text 27"/>
          <p:cNvSpPr/>
          <p:nvPr/>
        </p:nvSpPr>
        <p:spPr>
          <a:xfrm>
            <a:off x="3611880" y="4261104"/>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Email open rate &lt; 10%</a:t>
            </a:r>
            <a:endParaRPr lang="en-US" sz="1200" dirty="0">
              <a:latin typeface="Arial" panose="020B0604020202020204" pitchFamily="34" charset="0"/>
              <a:cs typeface="Arial" panose="020B0604020202020204" pitchFamily="34" charset="0"/>
            </a:endParaRPr>
          </a:p>
        </p:txBody>
      </p:sp>
      <p:sp>
        <p:nvSpPr>
          <p:cNvPr id="30" name="Shape 28"/>
          <p:cNvSpPr/>
          <p:nvPr/>
        </p:nvSpPr>
        <p:spPr>
          <a:xfrm>
            <a:off x="3566160" y="4663440"/>
            <a:ext cx="2560320" cy="822960"/>
          </a:xfrm>
          <a:prstGeom prst="roundRect">
            <a:avLst>
              <a:gd name="adj" fmla="val 5556"/>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31" name="Text 29"/>
          <p:cNvSpPr/>
          <p:nvPr/>
        </p:nvSpPr>
        <p:spPr>
          <a:xfrm>
            <a:off x="3611880" y="4709160"/>
            <a:ext cx="2468880" cy="749808"/>
          </a:xfrm>
          <a:prstGeom prst="rect">
            <a:avLst/>
          </a:prstGeom>
          <a:noFill/>
          <a:ln/>
        </p:spPr>
        <p:txBody>
          <a:bodyPr wrap="square" rtlCol="0" anchor="ctr"/>
          <a:lstStyle/>
          <a:p>
            <a:pPr marL="0" indent="0">
              <a:lnSpc>
                <a:spcPct val="115000"/>
              </a:lnSpc>
              <a:buNone/>
            </a:pPr>
            <a:r>
              <a:rPr lang="en-US" sz="1200" b="1" dirty="0">
                <a:solidFill>
                  <a:srgbClr val="64748B"/>
                </a:solidFill>
                <a:latin typeface="Arial" panose="020B0604020202020204" pitchFamily="34" charset="0"/>
                <a:ea typeface="Arial" pitchFamily="34" charset="-122"/>
                <a:cs typeface="Arial" panose="020B0604020202020204" pitchFamily="34" charset="0"/>
              </a:rPr>
              <a:t>Policy: Win-back window closes at 180 days of inactivity</a:t>
            </a:r>
            <a:endParaRPr lang="en-US" sz="1200" b="1" dirty="0">
              <a:latin typeface="Arial" panose="020B0604020202020204" pitchFamily="34" charset="0"/>
              <a:cs typeface="Arial" panose="020B0604020202020204" pitchFamily="34" charset="0"/>
            </a:endParaRPr>
          </a:p>
        </p:txBody>
      </p:sp>
      <p:sp>
        <p:nvSpPr>
          <p:cNvPr id="32" name="Shape 30"/>
          <p:cNvSpPr/>
          <p:nvPr/>
        </p:nvSpPr>
        <p:spPr>
          <a:xfrm>
            <a:off x="6400800" y="1783080"/>
            <a:ext cx="2743200" cy="4800600"/>
          </a:xfrm>
          <a:prstGeom prst="roundRect">
            <a:avLst>
              <a:gd name="adj" fmla="val 3333"/>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33" name="Shape 31"/>
          <p:cNvSpPr/>
          <p:nvPr/>
        </p:nvSpPr>
        <p:spPr>
          <a:xfrm>
            <a:off x="6400800" y="1783080"/>
            <a:ext cx="2743200" cy="1051560"/>
          </a:xfrm>
          <a:prstGeom prst="roundRect">
            <a:avLst>
              <a:gd name="adj" fmla="val 8696"/>
            </a:avLst>
          </a:prstGeom>
          <a:solidFill>
            <a:srgbClr val="1B3A6B"/>
          </a:solidFill>
          <a:ln w="12700">
            <a:solidFill>
              <a:srgbClr val="1B3A6B"/>
            </a:solidFill>
            <a:prstDash val="solid"/>
          </a:ln>
        </p:spPr>
        <p:txBody>
          <a:bodyPr/>
          <a:lstStyle/>
          <a:p>
            <a:endParaRPr lang="en-US">
              <a:latin typeface="Arial" panose="020B0604020202020204" pitchFamily="34" charset="0"/>
              <a:cs typeface="Arial" panose="020B0604020202020204" pitchFamily="34" charset="0"/>
            </a:endParaRPr>
          </a:p>
        </p:txBody>
      </p:sp>
      <p:sp>
        <p:nvSpPr>
          <p:cNvPr id="34" name="Shape 32"/>
          <p:cNvSpPr/>
          <p:nvPr/>
        </p:nvSpPr>
        <p:spPr>
          <a:xfrm>
            <a:off x="6400800" y="2423160"/>
            <a:ext cx="2743200" cy="411480"/>
          </a:xfrm>
          <a:prstGeom prst="rect">
            <a:avLst/>
          </a:prstGeom>
          <a:solidFill>
            <a:srgbClr val="1B3A6B"/>
          </a:solidFill>
          <a:ln w="12700">
            <a:solidFill>
              <a:srgbClr val="1B3A6B"/>
            </a:solidFill>
            <a:prstDash val="solid"/>
          </a:ln>
        </p:spPr>
        <p:txBody>
          <a:bodyPr/>
          <a:lstStyle/>
          <a:p>
            <a:endParaRPr lang="en-US">
              <a:latin typeface="Arial" panose="020B0604020202020204" pitchFamily="34" charset="0"/>
              <a:cs typeface="Arial" panose="020B0604020202020204" pitchFamily="34" charset="0"/>
            </a:endParaRPr>
          </a:p>
        </p:txBody>
      </p:sp>
      <p:sp>
        <p:nvSpPr>
          <p:cNvPr id="35" name="Text 33"/>
          <p:cNvSpPr/>
          <p:nvPr/>
        </p:nvSpPr>
        <p:spPr>
          <a:xfrm>
            <a:off x="6400800" y="1856232"/>
            <a:ext cx="2743200" cy="41148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P3</a:t>
            </a:r>
            <a:endParaRPr lang="en-US" sz="1800" dirty="0">
              <a:latin typeface="Arial" panose="020B0604020202020204" pitchFamily="34" charset="0"/>
              <a:cs typeface="Arial" panose="020B0604020202020204" pitchFamily="34" charset="0"/>
            </a:endParaRPr>
          </a:p>
        </p:txBody>
      </p:sp>
      <p:sp>
        <p:nvSpPr>
          <p:cNvPr id="36" name="Text 34"/>
          <p:cNvSpPr/>
          <p:nvPr/>
        </p:nvSpPr>
        <p:spPr>
          <a:xfrm>
            <a:off x="6400800" y="2286000"/>
            <a:ext cx="2743200" cy="438912"/>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Disengaged</a:t>
            </a:r>
            <a:endParaRPr lang="en-US" sz="1200" dirty="0">
              <a:latin typeface="Arial" panose="020B0604020202020204" pitchFamily="34" charset="0"/>
              <a:cs typeface="Arial" panose="020B0604020202020204" pitchFamily="34" charset="0"/>
            </a:endParaRPr>
          </a:p>
        </p:txBody>
      </p:sp>
      <p:sp>
        <p:nvSpPr>
          <p:cNvPr id="37" name="Shape 35"/>
          <p:cNvSpPr/>
          <p:nvPr/>
        </p:nvSpPr>
        <p:spPr>
          <a:xfrm>
            <a:off x="7086600" y="2880360"/>
            <a:ext cx="1371600" cy="310896"/>
          </a:xfrm>
          <a:prstGeom prst="roundRect">
            <a:avLst>
              <a:gd name="adj" fmla="val 14706"/>
            </a:avLst>
          </a:prstGeom>
          <a:solidFill>
            <a:srgbClr val="1B3A6B"/>
          </a:solidFill>
          <a:ln w="12700">
            <a:solidFill>
              <a:srgbClr val="1B3A6B"/>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38" name="Text 36"/>
          <p:cNvSpPr/>
          <p:nvPr/>
        </p:nvSpPr>
        <p:spPr>
          <a:xfrm>
            <a:off x="7086600" y="2880360"/>
            <a:ext cx="1371600" cy="310896"/>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NURTURE</a:t>
            </a:r>
            <a:endParaRPr lang="en-US" sz="1200" dirty="0">
              <a:latin typeface="Arial" panose="020B0604020202020204" pitchFamily="34" charset="0"/>
              <a:cs typeface="Arial" panose="020B0604020202020204" pitchFamily="34" charset="0"/>
            </a:endParaRPr>
          </a:p>
        </p:txBody>
      </p:sp>
      <p:sp>
        <p:nvSpPr>
          <p:cNvPr id="39" name="Text 37"/>
          <p:cNvSpPr/>
          <p:nvPr/>
        </p:nvSpPr>
        <p:spPr>
          <a:xfrm>
            <a:off x="6537960" y="3337560"/>
            <a:ext cx="2468880" cy="228600"/>
          </a:xfrm>
          <a:prstGeom prst="rect">
            <a:avLst/>
          </a:prstGeom>
          <a:noFill/>
          <a:ln/>
        </p:spPr>
        <p:txBody>
          <a:bodyPr wrap="square" rtlCol="0" anchor="ctr"/>
          <a:lstStyle/>
          <a:p>
            <a:pPr marL="0" indent="0" algn="just">
              <a:buNone/>
            </a:pPr>
            <a:r>
              <a:rPr lang="en-US" sz="1200" b="1" dirty="0">
                <a:solidFill>
                  <a:srgbClr val="334155"/>
                </a:solidFill>
                <a:latin typeface="Arial" panose="020B0604020202020204" pitchFamily="34" charset="0"/>
                <a:ea typeface="Arial" pitchFamily="34" charset="-122"/>
                <a:cs typeface="Arial" panose="020B0604020202020204" pitchFamily="34" charset="0"/>
              </a:rPr>
              <a:t>Required signals:</a:t>
            </a:r>
            <a:endParaRPr lang="en-US" sz="1200" dirty="0">
              <a:latin typeface="Arial" panose="020B0604020202020204" pitchFamily="34" charset="0"/>
              <a:cs typeface="Arial" panose="020B0604020202020204" pitchFamily="34" charset="0"/>
            </a:endParaRPr>
          </a:p>
        </p:txBody>
      </p:sp>
      <p:sp>
        <p:nvSpPr>
          <p:cNvPr id="40" name="Text 38"/>
          <p:cNvSpPr/>
          <p:nvPr/>
        </p:nvSpPr>
        <p:spPr>
          <a:xfrm>
            <a:off x="6537960" y="3566160"/>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Recency &gt; 60 days</a:t>
            </a:r>
            <a:endParaRPr lang="en-US" sz="1200" dirty="0">
              <a:latin typeface="Arial" panose="020B0604020202020204" pitchFamily="34" charset="0"/>
              <a:cs typeface="Arial" panose="020B0604020202020204" pitchFamily="34" charset="0"/>
            </a:endParaRPr>
          </a:p>
        </p:txBody>
      </p:sp>
      <p:sp>
        <p:nvSpPr>
          <p:cNvPr id="41" name="Text 39"/>
          <p:cNvSpPr/>
          <p:nvPr/>
        </p:nvSpPr>
        <p:spPr>
          <a:xfrm>
            <a:off x="6537960" y="3913632"/>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App sessions &lt; 2 / month</a:t>
            </a:r>
            <a:endParaRPr lang="en-US" sz="1200" dirty="0">
              <a:latin typeface="Arial" panose="020B0604020202020204" pitchFamily="34" charset="0"/>
              <a:cs typeface="Arial" panose="020B0604020202020204" pitchFamily="34" charset="0"/>
            </a:endParaRPr>
          </a:p>
        </p:txBody>
      </p:sp>
      <p:sp>
        <p:nvSpPr>
          <p:cNvPr id="42" name="Text 40"/>
          <p:cNvSpPr/>
          <p:nvPr/>
        </p:nvSpPr>
        <p:spPr>
          <a:xfrm>
            <a:off x="6537960" y="4261104"/>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Email open rate &lt; 15%</a:t>
            </a:r>
            <a:endParaRPr lang="en-US" sz="1200" dirty="0">
              <a:latin typeface="Arial" panose="020B0604020202020204" pitchFamily="34" charset="0"/>
              <a:cs typeface="Arial" panose="020B0604020202020204" pitchFamily="34" charset="0"/>
            </a:endParaRPr>
          </a:p>
        </p:txBody>
      </p:sp>
      <p:sp>
        <p:nvSpPr>
          <p:cNvPr id="43" name="Shape 41"/>
          <p:cNvSpPr/>
          <p:nvPr/>
        </p:nvSpPr>
        <p:spPr>
          <a:xfrm>
            <a:off x="6492240" y="4663440"/>
            <a:ext cx="2560320" cy="822960"/>
          </a:xfrm>
          <a:prstGeom prst="roundRect">
            <a:avLst>
              <a:gd name="adj" fmla="val 5556"/>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44" name="Text 42"/>
          <p:cNvSpPr/>
          <p:nvPr/>
        </p:nvSpPr>
        <p:spPr>
          <a:xfrm>
            <a:off x="6537960" y="4709160"/>
            <a:ext cx="2468880" cy="749808"/>
          </a:xfrm>
          <a:prstGeom prst="rect">
            <a:avLst/>
          </a:prstGeom>
          <a:noFill/>
          <a:ln/>
        </p:spPr>
        <p:txBody>
          <a:bodyPr wrap="square" rtlCol="0" anchor="ctr"/>
          <a:lstStyle/>
          <a:p>
            <a:pPr marL="0" indent="0">
              <a:lnSpc>
                <a:spcPct val="115000"/>
              </a:lnSpc>
              <a:buNone/>
            </a:pPr>
            <a:r>
              <a:rPr lang="en-US" sz="1200" b="1" dirty="0">
                <a:solidFill>
                  <a:srgbClr val="64748B"/>
                </a:solidFill>
                <a:latin typeface="Arial" panose="020B0604020202020204" pitchFamily="34" charset="0"/>
                <a:ea typeface="Arial" pitchFamily="34" charset="-122"/>
                <a:cs typeface="Arial" panose="020B0604020202020204" pitchFamily="34" charset="0"/>
              </a:rPr>
              <a:t>Policy: Personalise outreach to top product category</a:t>
            </a:r>
            <a:endParaRPr lang="en-US" sz="1200" b="1" dirty="0">
              <a:latin typeface="Arial" panose="020B0604020202020204" pitchFamily="34" charset="0"/>
              <a:cs typeface="Arial" panose="020B0604020202020204" pitchFamily="34" charset="0"/>
            </a:endParaRPr>
          </a:p>
        </p:txBody>
      </p:sp>
      <p:sp>
        <p:nvSpPr>
          <p:cNvPr id="45" name="Shape 43"/>
          <p:cNvSpPr/>
          <p:nvPr/>
        </p:nvSpPr>
        <p:spPr>
          <a:xfrm>
            <a:off x="9326880" y="1783080"/>
            <a:ext cx="2743200" cy="4800600"/>
          </a:xfrm>
          <a:prstGeom prst="roundRect">
            <a:avLst>
              <a:gd name="adj" fmla="val 3333"/>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46" name="Shape 44"/>
          <p:cNvSpPr/>
          <p:nvPr/>
        </p:nvSpPr>
        <p:spPr>
          <a:xfrm>
            <a:off x="9326880" y="1783080"/>
            <a:ext cx="2743200" cy="1051560"/>
          </a:xfrm>
          <a:prstGeom prst="roundRect">
            <a:avLst>
              <a:gd name="adj" fmla="val 8696"/>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47" name="Shape 45"/>
          <p:cNvSpPr/>
          <p:nvPr/>
        </p:nvSpPr>
        <p:spPr>
          <a:xfrm>
            <a:off x="9326880" y="2423160"/>
            <a:ext cx="2743200" cy="411480"/>
          </a:xfrm>
          <a:prstGeom prst="rect">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48" name="Text 46"/>
          <p:cNvSpPr/>
          <p:nvPr/>
        </p:nvSpPr>
        <p:spPr>
          <a:xfrm>
            <a:off x="9326880" y="1856232"/>
            <a:ext cx="2743200" cy="41148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P4</a:t>
            </a:r>
            <a:endParaRPr lang="en-US" sz="1800" dirty="0">
              <a:latin typeface="Arial" panose="020B0604020202020204" pitchFamily="34" charset="0"/>
              <a:cs typeface="Arial" panose="020B0604020202020204" pitchFamily="34" charset="0"/>
            </a:endParaRPr>
          </a:p>
        </p:txBody>
      </p:sp>
      <p:sp>
        <p:nvSpPr>
          <p:cNvPr id="49" name="Text 47"/>
          <p:cNvSpPr/>
          <p:nvPr/>
        </p:nvSpPr>
        <p:spPr>
          <a:xfrm>
            <a:off x="9326880" y="2286000"/>
            <a:ext cx="2743200" cy="438912"/>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Healthy</a:t>
            </a:r>
            <a:endParaRPr lang="en-US" sz="1200" dirty="0">
              <a:latin typeface="Arial" panose="020B0604020202020204" pitchFamily="34" charset="0"/>
              <a:cs typeface="Arial" panose="020B0604020202020204" pitchFamily="34" charset="0"/>
            </a:endParaRPr>
          </a:p>
        </p:txBody>
      </p:sp>
      <p:sp>
        <p:nvSpPr>
          <p:cNvPr id="50" name="Shape 48"/>
          <p:cNvSpPr/>
          <p:nvPr/>
        </p:nvSpPr>
        <p:spPr>
          <a:xfrm>
            <a:off x="10012680" y="2880360"/>
            <a:ext cx="1371600" cy="310896"/>
          </a:xfrm>
          <a:prstGeom prst="roundRect">
            <a:avLst>
              <a:gd name="adj" fmla="val 14706"/>
            </a:avLst>
          </a:prstGeom>
          <a:solidFill>
            <a:srgbClr val="1A6B3A"/>
          </a:solidFill>
          <a:ln w="12700">
            <a:solidFill>
              <a:srgbClr val="1A6B3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51" name="Text 49"/>
          <p:cNvSpPr/>
          <p:nvPr/>
        </p:nvSpPr>
        <p:spPr>
          <a:xfrm>
            <a:off x="10012680" y="2880360"/>
            <a:ext cx="1371600" cy="310896"/>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HOLD</a:t>
            </a:r>
            <a:endParaRPr lang="en-US" sz="1200" dirty="0">
              <a:latin typeface="Arial" panose="020B0604020202020204" pitchFamily="34" charset="0"/>
              <a:cs typeface="Arial" panose="020B0604020202020204" pitchFamily="34" charset="0"/>
            </a:endParaRPr>
          </a:p>
        </p:txBody>
      </p:sp>
      <p:sp>
        <p:nvSpPr>
          <p:cNvPr id="52" name="Text 50"/>
          <p:cNvSpPr/>
          <p:nvPr/>
        </p:nvSpPr>
        <p:spPr>
          <a:xfrm>
            <a:off x="9464040" y="3337560"/>
            <a:ext cx="2468880" cy="228600"/>
          </a:xfrm>
          <a:prstGeom prst="rect">
            <a:avLst/>
          </a:prstGeom>
          <a:noFill/>
          <a:ln/>
        </p:spPr>
        <p:txBody>
          <a:bodyPr wrap="square" rtlCol="0" anchor="ctr"/>
          <a:lstStyle/>
          <a:p>
            <a:pPr marL="0" indent="0" algn="just">
              <a:buNone/>
            </a:pPr>
            <a:r>
              <a:rPr lang="en-US" sz="1200" b="1" dirty="0">
                <a:solidFill>
                  <a:srgbClr val="334155"/>
                </a:solidFill>
                <a:latin typeface="Arial" panose="020B0604020202020204" pitchFamily="34" charset="0"/>
                <a:ea typeface="Arial" pitchFamily="34" charset="-122"/>
                <a:cs typeface="Arial" panose="020B0604020202020204" pitchFamily="34" charset="0"/>
              </a:rPr>
              <a:t>Required signals:</a:t>
            </a:r>
            <a:endParaRPr lang="en-US" sz="1200" dirty="0">
              <a:latin typeface="Arial" panose="020B0604020202020204" pitchFamily="34" charset="0"/>
              <a:cs typeface="Arial" panose="020B0604020202020204" pitchFamily="34" charset="0"/>
            </a:endParaRPr>
          </a:p>
        </p:txBody>
      </p:sp>
      <p:sp>
        <p:nvSpPr>
          <p:cNvPr id="53" name="Text 51"/>
          <p:cNvSpPr/>
          <p:nvPr/>
        </p:nvSpPr>
        <p:spPr>
          <a:xfrm>
            <a:off x="9464040" y="3566160"/>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Recency ≤ 30 days</a:t>
            </a:r>
            <a:endParaRPr lang="en-US" sz="1200" dirty="0">
              <a:latin typeface="Arial" panose="020B0604020202020204" pitchFamily="34" charset="0"/>
              <a:cs typeface="Arial" panose="020B0604020202020204" pitchFamily="34" charset="0"/>
            </a:endParaRPr>
          </a:p>
        </p:txBody>
      </p:sp>
      <p:sp>
        <p:nvSpPr>
          <p:cNvPr id="54" name="Text 52"/>
          <p:cNvSpPr/>
          <p:nvPr/>
        </p:nvSpPr>
        <p:spPr>
          <a:xfrm>
            <a:off x="9464040" y="3913632"/>
            <a:ext cx="2468880" cy="320040"/>
          </a:xfrm>
          <a:prstGeom prst="rect">
            <a:avLst/>
          </a:prstGeom>
          <a:noFill/>
          <a:ln/>
        </p:spPr>
        <p:txBody>
          <a:bodyPr wrap="square" rtlCol="0" anchor="ctr"/>
          <a:lstStyle/>
          <a:p>
            <a:pPr marL="0" indent="0" algn="just">
              <a:buNone/>
            </a:pPr>
            <a:r>
              <a:rPr lang="en-US" sz="1200" dirty="0">
                <a:solidFill>
                  <a:srgbClr val="334155"/>
                </a:solidFill>
                <a:latin typeface="Arial" panose="020B0604020202020204" pitchFamily="34" charset="0"/>
                <a:ea typeface="Arial" pitchFamily="34" charset="-122"/>
                <a:cs typeface="Arial" panose="020B0604020202020204" pitchFamily="34" charset="0"/>
              </a:rPr>
              <a:t>• NPS score ≥ 7</a:t>
            </a:r>
            <a:endParaRPr lang="en-US" sz="1200" dirty="0">
              <a:latin typeface="Arial" panose="020B0604020202020204" pitchFamily="34" charset="0"/>
              <a:cs typeface="Arial" panose="020B0604020202020204" pitchFamily="34" charset="0"/>
            </a:endParaRPr>
          </a:p>
        </p:txBody>
      </p:sp>
      <p:sp>
        <p:nvSpPr>
          <p:cNvPr id="55" name="Shape 53"/>
          <p:cNvSpPr/>
          <p:nvPr/>
        </p:nvSpPr>
        <p:spPr>
          <a:xfrm>
            <a:off x="9418320" y="4663440"/>
            <a:ext cx="2560320" cy="822960"/>
          </a:xfrm>
          <a:prstGeom prst="roundRect">
            <a:avLst>
              <a:gd name="adj" fmla="val 5556"/>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56" name="Text 54"/>
          <p:cNvSpPr/>
          <p:nvPr/>
        </p:nvSpPr>
        <p:spPr>
          <a:xfrm>
            <a:off x="9464040" y="4709160"/>
            <a:ext cx="2468880" cy="749808"/>
          </a:xfrm>
          <a:prstGeom prst="rect">
            <a:avLst/>
          </a:prstGeom>
          <a:noFill/>
          <a:ln/>
        </p:spPr>
        <p:txBody>
          <a:bodyPr wrap="square" rtlCol="0" anchor="ctr"/>
          <a:lstStyle/>
          <a:p>
            <a:pPr marL="0" indent="0">
              <a:lnSpc>
                <a:spcPct val="115000"/>
              </a:lnSpc>
              <a:buNone/>
            </a:pPr>
            <a:r>
              <a:rPr lang="en-US" sz="1200" b="1" dirty="0">
                <a:solidFill>
                  <a:srgbClr val="64748B"/>
                </a:solidFill>
                <a:latin typeface="Arial" panose="020B0604020202020204" pitchFamily="34" charset="0"/>
                <a:ea typeface="Arial" pitchFamily="34" charset="-122"/>
                <a:cs typeface="Arial" panose="020B0604020202020204" pitchFamily="34" charset="0"/>
              </a:rPr>
              <a:t>Policy: No retention spend — route to referral programme</a:t>
            </a:r>
            <a:endParaRPr lang="en-US" sz="1200" b="1" dirty="0">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11338560" cy="640080"/>
          </a:xfrm>
          <a:prstGeom prst="rect">
            <a:avLst/>
          </a:prstGeom>
          <a:noFill/>
          <a:ln>
            <a:solidFill>
              <a:schemeClr val="bg1">
                <a:lumMod val="95000"/>
              </a:schemeClr>
            </a:solidFill>
          </a:ln>
        </p:spPr>
        <p:txBody>
          <a:bodyPr wrap="square" rtlCol="0" anchor="ctr"/>
          <a:lstStyle/>
          <a:p>
            <a:pPr marL="0" indent="0">
              <a:buNone/>
            </a:pPr>
            <a:r>
              <a:rPr lang="en-US" sz="3600" b="1" dirty="0">
                <a:solidFill>
                  <a:srgbClr val="FFC000"/>
                </a:solidFill>
                <a:latin typeface="Arial" panose="020B0604020202020204" pitchFamily="34" charset="0"/>
                <a:ea typeface="Arial" pitchFamily="34" charset="-122"/>
                <a:cs typeface="Arial" panose="020B0604020202020204" pitchFamily="34" charset="0"/>
              </a:rPr>
              <a:t>Playbook Retrieval — RAG with ChromaDB</a:t>
            </a:r>
            <a:endParaRPr lang="en-US" sz="3600" dirty="0">
              <a:solidFill>
                <a:srgbClr val="FFC000"/>
              </a:solidFill>
              <a:latin typeface="Arial" panose="020B0604020202020204" pitchFamily="34" charset="0"/>
              <a:cs typeface="Arial" panose="020B0604020202020204" pitchFamily="34" charset="0"/>
            </a:endParaRPr>
          </a:p>
        </p:txBody>
      </p:sp>
      <p:sp>
        <p:nvSpPr>
          <p:cNvPr id="4" name="Shape 2"/>
          <p:cNvSpPr/>
          <p:nvPr/>
        </p:nvSpPr>
        <p:spPr>
          <a:xfrm>
            <a:off x="457200" y="1234440"/>
            <a:ext cx="2103120" cy="1508760"/>
          </a:xfrm>
          <a:prstGeom prst="roundRect">
            <a:avLst>
              <a:gd name="adj" fmla="val 4848"/>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6" name="Text 4"/>
          <p:cNvSpPr/>
          <p:nvPr/>
        </p:nvSpPr>
        <p:spPr>
          <a:xfrm>
            <a:off x="502920" y="1755648"/>
            <a:ext cx="2011680" cy="685800"/>
          </a:xfrm>
          <a:prstGeom prst="rect">
            <a:avLst/>
          </a:prstGeom>
          <a:noFill/>
          <a:ln/>
        </p:spPr>
        <p:txBody>
          <a:bodyPr wrap="square" rtlCol="0" anchor="t"/>
          <a:lstStyle/>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Segment Name</a:t>
            </a:r>
            <a:endParaRPr lang="en-US" sz="1200" dirty="0">
              <a:latin typeface="Arial" panose="020B0604020202020204" pitchFamily="34" charset="0"/>
              <a:cs typeface="Arial" panose="020B0604020202020204" pitchFamily="34" charset="0"/>
            </a:endParaRPr>
          </a:p>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(from rules engine)</a:t>
            </a:r>
            <a:endParaRPr lang="en-US" sz="1200" dirty="0">
              <a:latin typeface="Arial" panose="020B0604020202020204" pitchFamily="34" charset="0"/>
              <a:cs typeface="Arial" panose="020B0604020202020204" pitchFamily="34" charset="0"/>
            </a:endParaRPr>
          </a:p>
        </p:txBody>
      </p:sp>
      <p:sp>
        <p:nvSpPr>
          <p:cNvPr id="7" name="Text 5"/>
          <p:cNvSpPr/>
          <p:nvPr/>
        </p:nvSpPr>
        <p:spPr>
          <a:xfrm>
            <a:off x="2532888" y="1764792"/>
            <a:ext cx="274320" cy="384048"/>
          </a:xfrm>
          <a:prstGeom prst="rect">
            <a:avLst/>
          </a:prstGeom>
          <a:noFill/>
          <a:ln/>
        </p:spPr>
        <p:txBody>
          <a:bodyPr wrap="square" rtlCol="0" anchor="ctr"/>
          <a:lstStyle/>
          <a:p>
            <a:pPr marL="0" indent="0" algn="ctr">
              <a:buNone/>
            </a:pPr>
            <a:r>
              <a:rPr lang="en-US" sz="1400" dirty="0">
                <a:solidFill>
                  <a:srgbClr val="CBD5E1"/>
                </a:solidFill>
              </a:rPr>
              <a:t>▶</a:t>
            </a:r>
            <a:endParaRPr lang="en-US" sz="1400" dirty="0"/>
          </a:p>
        </p:txBody>
      </p:sp>
      <p:sp>
        <p:nvSpPr>
          <p:cNvPr id="8" name="Shape 6"/>
          <p:cNvSpPr/>
          <p:nvPr/>
        </p:nvSpPr>
        <p:spPr>
          <a:xfrm>
            <a:off x="2788920" y="1234440"/>
            <a:ext cx="2103120" cy="1508760"/>
          </a:xfrm>
          <a:prstGeom prst="roundRect">
            <a:avLst>
              <a:gd name="adj" fmla="val 4848"/>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0" name="Text 8"/>
          <p:cNvSpPr/>
          <p:nvPr/>
        </p:nvSpPr>
        <p:spPr>
          <a:xfrm>
            <a:off x="2834640" y="1755648"/>
            <a:ext cx="2011680" cy="685800"/>
          </a:xfrm>
          <a:prstGeom prst="rect">
            <a:avLst/>
          </a:prstGeom>
          <a:noFill/>
          <a:ln/>
        </p:spPr>
        <p:txBody>
          <a:bodyPr wrap="square" rtlCol="0" anchor="t"/>
          <a:lstStyle/>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Embedding Query</a:t>
            </a:r>
            <a:endParaRPr lang="en-US" sz="1200" dirty="0">
              <a:latin typeface="Arial" panose="020B0604020202020204" pitchFamily="34" charset="0"/>
              <a:cs typeface="Arial" panose="020B0604020202020204" pitchFamily="34" charset="0"/>
            </a:endParaRPr>
          </a:p>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(text-embedding-ada-002)</a:t>
            </a:r>
            <a:endParaRPr lang="en-US" sz="1200" dirty="0">
              <a:latin typeface="Arial" panose="020B0604020202020204" pitchFamily="34" charset="0"/>
              <a:cs typeface="Arial" panose="020B0604020202020204" pitchFamily="34" charset="0"/>
            </a:endParaRPr>
          </a:p>
        </p:txBody>
      </p:sp>
      <p:sp>
        <p:nvSpPr>
          <p:cNvPr id="11" name="Text 9"/>
          <p:cNvSpPr/>
          <p:nvPr/>
        </p:nvSpPr>
        <p:spPr>
          <a:xfrm>
            <a:off x="4864608" y="1764792"/>
            <a:ext cx="274320" cy="384048"/>
          </a:xfrm>
          <a:prstGeom prst="rect">
            <a:avLst/>
          </a:prstGeom>
          <a:noFill/>
          <a:ln/>
        </p:spPr>
        <p:txBody>
          <a:bodyPr wrap="square" rtlCol="0" anchor="ctr"/>
          <a:lstStyle/>
          <a:p>
            <a:pPr marL="0" indent="0" algn="ctr">
              <a:buNone/>
            </a:pPr>
            <a:r>
              <a:rPr lang="en-US" sz="1400" dirty="0">
                <a:solidFill>
                  <a:srgbClr val="CBD5E1"/>
                </a:solidFill>
              </a:rPr>
              <a:t>▶</a:t>
            </a:r>
            <a:endParaRPr lang="en-US" sz="1400" dirty="0"/>
          </a:p>
        </p:txBody>
      </p:sp>
      <p:sp>
        <p:nvSpPr>
          <p:cNvPr id="12" name="Shape 10"/>
          <p:cNvSpPr/>
          <p:nvPr/>
        </p:nvSpPr>
        <p:spPr>
          <a:xfrm>
            <a:off x="5120640" y="1234440"/>
            <a:ext cx="2103120" cy="1508760"/>
          </a:xfrm>
          <a:prstGeom prst="roundRect">
            <a:avLst>
              <a:gd name="adj" fmla="val 4848"/>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4" name="Text 12"/>
          <p:cNvSpPr/>
          <p:nvPr/>
        </p:nvSpPr>
        <p:spPr>
          <a:xfrm>
            <a:off x="5166360" y="1755648"/>
            <a:ext cx="2011680" cy="685800"/>
          </a:xfrm>
          <a:prstGeom prst="rect">
            <a:avLst/>
          </a:prstGeom>
          <a:noFill/>
          <a:ln/>
        </p:spPr>
        <p:txBody>
          <a:bodyPr wrap="square" rtlCol="0" anchor="t"/>
          <a:lstStyle/>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ChromaDB</a:t>
            </a:r>
            <a:endParaRPr lang="en-US" sz="1200" dirty="0">
              <a:latin typeface="Arial" panose="020B0604020202020204" pitchFamily="34" charset="0"/>
              <a:cs typeface="Arial" panose="020B0604020202020204" pitchFamily="34" charset="0"/>
            </a:endParaRPr>
          </a:p>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Semantic Search</a:t>
            </a:r>
            <a:endParaRPr lang="en-US" sz="1200" dirty="0">
              <a:latin typeface="Arial" panose="020B0604020202020204" pitchFamily="34" charset="0"/>
              <a:cs typeface="Arial" panose="020B0604020202020204" pitchFamily="34" charset="0"/>
            </a:endParaRPr>
          </a:p>
        </p:txBody>
      </p:sp>
      <p:sp>
        <p:nvSpPr>
          <p:cNvPr id="15" name="Text 13"/>
          <p:cNvSpPr/>
          <p:nvPr/>
        </p:nvSpPr>
        <p:spPr>
          <a:xfrm>
            <a:off x="7196328" y="1764792"/>
            <a:ext cx="274320" cy="384048"/>
          </a:xfrm>
          <a:prstGeom prst="rect">
            <a:avLst/>
          </a:prstGeom>
          <a:noFill/>
          <a:ln/>
        </p:spPr>
        <p:txBody>
          <a:bodyPr wrap="square" rtlCol="0" anchor="ctr"/>
          <a:lstStyle/>
          <a:p>
            <a:pPr marL="0" indent="0" algn="ctr">
              <a:buNone/>
            </a:pPr>
            <a:r>
              <a:rPr lang="en-US" sz="1400" dirty="0">
                <a:solidFill>
                  <a:srgbClr val="CBD5E1"/>
                </a:solidFill>
              </a:rPr>
              <a:t>▶</a:t>
            </a:r>
            <a:endParaRPr lang="en-US" sz="1400" dirty="0"/>
          </a:p>
        </p:txBody>
      </p:sp>
      <p:sp>
        <p:nvSpPr>
          <p:cNvPr id="16" name="Shape 14"/>
          <p:cNvSpPr/>
          <p:nvPr/>
        </p:nvSpPr>
        <p:spPr>
          <a:xfrm>
            <a:off x="7452360" y="1234440"/>
            <a:ext cx="2103120" cy="1508760"/>
          </a:xfrm>
          <a:prstGeom prst="roundRect">
            <a:avLst>
              <a:gd name="adj" fmla="val 4848"/>
            </a:avLst>
          </a:prstGeom>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18" name="Text 16"/>
          <p:cNvSpPr/>
          <p:nvPr/>
        </p:nvSpPr>
        <p:spPr>
          <a:xfrm>
            <a:off x="7498080" y="1755648"/>
            <a:ext cx="2011680" cy="685800"/>
          </a:xfrm>
          <a:prstGeom prst="rect">
            <a:avLst/>
          </a:prstGeom>
          <a:noFill/>
          <a:ln/>
        </p:spPr>
        <p:txBody>
          <a:bodyPr wrap="square" rtlCol="0" anchor="t"/>
          <a:lstStyle/>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Top Matching</a:t>
            </a:r>
            <a:endParaRPr lang="en-US" sz="1200" dirty="0">
              <a:latin typeface="Arial" panose="020B0604020202020204" pitchFamily="34" charset="0"/>
              <a:cs typeface="Arial" panose="020B0604020202020204" pitchFamily="34" charset="0"/>
            </a:endParaRPr>
          </a:p>
          <a:p>
            <a:pPr marL="0" indent="0" algn="ctr">
              <a:lnSpc>
                <a:spcPct val="115000"/>
              </a:lnSpc>
              <a:buNone/>
            </a:pPr>
            <a:r>
              <a:rPr lang="en-US" sz="1200" b="1" dirty="0">
                <a:solidFill>
                  <a:srgbClr val="0D1B2A"/>
                </a:solidFill>
                <a:latin typeface="Arial" panose="020B0604020202020204" pitchFamily="34" charset="0"/>
                <a:ea typeface="Arial" pitchFamily="34" charset="-122"/>
                <a:cs typeface="Arial" panose="020B0604020202020204" pitchFamily="34" charset="0"/>
              </a:rPr>
              <a:t>Playbook Retrieved</a:t>
            </a:r>
            <a:endParaRPr lang="en-US" sz="1200" dirty="0">
              <a:latin typeface="Arial" panose="020B0604020202020204" pitchFamily="34" charset="0"/>
              <a:cs typeface="Arial" panose="020B0604020202020204" pitchFamily="34" charset="0"/>
            </a:endParaRPr>
          </a:p>
        </p:txBody>
      </p:sp>
      <p:sp>
        <p:nvSpPr>
          <p:cNvPr id="19" name="Text 17"/>
          <p:cNvSpPr/>
          <p:nvPr/>
        </p:nvSpPr>
        <p:spPr>
          <a:xfrm>
            <a:off x="9528048" y="1764792"/>
            <a:ext cx="274320" cy="384048"/>
          </a:xfrm>
          <a:prstGeom prst="rect">
            <a:avLst/>
          </a:prstGeom>
          <a:noFill/>
          <a:ln/>
        </p:spPr>
        <p:txBody>
          <a:bodyPr wrap="square" rtlCol="0" anchor="ctr"/>
          <a:lstStyle/>
          <a:p>
            <a:pPr marL="0" indent="0" algn="ctr">
              <a:buNone/>
            </a:pPr>
            <a:r>
              <a:rPr lang="en-US" sz="1400" dirty="0">
                <a:solidFill>
                  <a:srgbClr val="CBD5E1"/>
                </a:solidFill>
              </a:rPr>
              <a:t>▶</a:t>
            </a:r>
            <a:endParaRPr lang="en-US" sz="1400" dirty="0"/>
          </a:p>
        </p:txBody>
      </p:sp>
      <p:sp>
        <p:nvSpPr>
          <p:cNvPr id="20" name="Shape 18"/>
          <p:cNvSpPr/>
          <p:nvPr/>
        </p:nvSpPr>
        <p:spPr>
          <a:xfrm>
            <a:off x="9784080" y="1234440"/>
            <a:ext cx="2103120" cy="1508760"/>
          </a:xfrm>
          <a:prstGeom prst="roundRect">
            <a:avLst>
              <a:gd name="adj" fmla="val 4848"/>
            </a:avLst>
          </a:prstGeom>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a:lstStyle/>
          <a:p>
            <a:endParaRPr lang="en-US"/>
          </a:p>
        </p:txBody>
      </p:sp>
      <p:sp>
        <p:nvSpPr>
          <p:cNvPr id="22" name="Text 20"/>
          <p:cNvSpPr/>
          <p:nvPr/>
        </p:nvSpPr>
        <p:spPr>
          <a:xfrm>
            <a:off x="9829800" y="1755648"/>
            <a:ext cx="2011680" cy="685800"/>
          </a:xfrm>
          <a:prstGeom prst="rect">
            <a:avLst/>
          </a:prstGeom>
          <a:noFill/>
          <a:ln/>
        </p:spPr>
        <p:txBody>
          <a:bodyPr wrap="square" rtlCol="0" anchor="t"/>
          <a:lstStyle/>
          <a:p>
            <a:pPr marL="0" indent="0" algn="ctr">
              <a:lnSpc>
                <a:spcPct val="115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CLV-Tier</a:t>
            </a:r>
            <a:endParaRPr lang="en-US" sz="1200" dirty="0">
              <a:latin typeface="Arial" panose="020B0604020202020204" pitchFamily="34" charset="0"/>
              <a:cs typeface="Arial" panose="020B0604020202020204" pitchFamily="34" charset="0"/>
            </a:endParaRPr>
          </a:p>
          <a:p>
            <a:pPr marL="0" indent="0" algn="ctr">
              <a:lnSpc>
                <a:spcPct val="115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NBA Report</a:t>
            </a:r>
            <a:endParaRPr lang="en-US" sz="1200" dirty="0">
              <a:latin typeface="Arial" panose="020B0604020202020204" pitchFamily="34" charset="0"/>
              <a:cs typeface="Arial" panose="020B0604020202020204" pitchFamily="34" charset="0"/>
            </a:endParaRPr>
          </a:p>
        </p:txBody>
      </p:sp>
      <p:sp>
        <p:nvSpPr>
          <p:cNvPr id="23" name="Text 21"/>
          <p:cNvSpPr/>
          <p:nvPr/>
        </p:nvSpPr>
        <p:spPr>
          <a:xfrm>
            <a:off x="548640" y="3017520"/>
            <a:ext cx="11064240" cy="365760"/>
          </a:xfrm>
          <a:prstGeom prst="rect">
            <a:avLst/>
          </a:prstGeom>
          <a:noFill/>
          <a:ln>
            <a:solidFill>
              <a:schemeClr val="bg1"/>
            </a:solidFill>
          </a:ln>
        </p:spPr>
        <p:txBody>
          <a:bodyPr wrap="square" rtlCol="0" anchor="ctr"/>
          <a:lstStyle/>
          <a:p>
            <a:pPr marL="0" indent="0">
              <a:buNone/>
            </a:pPr>
            <a:r>
              <a:rPr lang="en-US" sz="1600" b="1" dirty="0">
                <a:solidFill>
                  <a:srgbClr val="FFC000"/>
                </a:solidFill>
                <a:latin typeface="Arial" panose="020B0604020202020204" pitchFamily="34" charset="0"/>
                <a:ea typeface="Arial" pitchFamily="34" charset="-122"/>
                <a:cs typeface="Arial" panose="020B0604020202020204" pitchFamily="34" charset="0"/>
              </a:rPr>
              <a:t>Why RAG instead of a hardcoded lookup?</a:t>
            </a:r>
            <a:endParaRPr lang="en-US" sz="1600" dirty="0">
              <a:solidFill>
                <a:srgbClr val="FFC000"/>
              </a:solidFill>
              <a:latin typeface="Arial" panose="020B0604020202020204" pitchFamily="34" charset="0"/>
              <a:cs typeface="Arial" panose="020B0604020202020204" pitchFamily="34" charset="0"/>
            </a:endParaRPr>
          </a:p>
        </p:txBody>
      </p:sp>
      <p:sp>
        <p:nvSpPr>
          <p:cNvPr id="24" name="Shape 22"/>
          <p:cNvSpPr/>
          <p:nvPr/>
        </p:nvSpPr>
        <p:spPr>
          <a:xfrm>
            <a:off x="548640" y="3520440"/>
            <a:ext cx="5486400" cy="1234440"/>
          </a:xfrm>
          <a:prstGeom prst="roundRect">
            <a:avLst>
              <a:gd name="adj" fmla="val 5926"/>
            </a:avLst>
          </a:prstGeom>
          <a:solidFill>
            <a:srgbClr val="FFFFFF"/>
          </a:solidFill>
          <a:ln w="12700">
            <a:solidFill>
              <a:srgbClr val="CBD5E1"/>
            </a:solidFill>
            <a:prstDash val="solid"/>
          </a:ln>
          <a:effectLst>
            <a:outerShdw blurRad="50800" dist="25400" dir="16200000" algn="bl" rotWithShape="0">
              <a:srgbClr val="888888">
                <a:alpha val="10000"/>
              </a:srgbClr>
            </a:outerShdw>
          </a:effectLst>
        </p:spPr>
        <p:txBody>
          <a:bodyPr/>
          <a:lstStyle/>
          <a:p>
            <a:endParaRPr lang="en-US"/>
          </a:p>
        </p:txBody>
      </p:sp>
      <p:sp>
        <p:nvSpPr>
          <p:cNvPr id="25" name="Shape 23"/>
          <p:cNvSpPr/>
          <p:nvPr/>
        </p:nvSpPr>
        <p:spPr>
          <a:xfrm>
            <a:off x="548640" y="3520440"/>
            <a:ext cx="256032" cy="1234440"/>
          </a:xfrm>
          <a:prstGeom prst="roundRect">
            <a:avLst>
              <a:gd name="adj" fmla="val 14286"/>
            </a:avLst>
          </a:prstGeom>
          <a:solidFill>
            <a:schemeClr val="bg2"/>
          </a:solidFill>
          <a:ln w="12700">
            <a:solidFill>
              <a:srgbClr val="1B3A6B"/>
            </a:solidFill>
            <a:prstDash val="solid"/>
          </a:ln>
        </p:spPr>
        <p:txBody>
          <a:bodyPr/>
          <a:lstStyle/>
          <a:p>
            <a:endParaRPr lang="en-US"/>
          </a:p>
        </p:txBody>
      </p:sp>
      <p:sp>
        <p:nvSpPr>
          <p:cNvPr id="26" name="Text 24"/>
          <p:cNvSpPr/>
          <p:nvPr/>
        </p:nvSpPr>
        <p:spPr>
          <a:xfrm>
            <a:off x="896112" y="3611880"/>
            <a:ext cx="5029200" cy="32004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Updateable without code</a:t>
            </a:r>
            <a:endParaRPr lang="en-US" sz="1400" dirty="0">
              <a:latin typeface="Arial" panose="020B0604020202020204" pitchFamily="34" charset="0"/>
              <a:cs typeface="Arial" panose="020B0604020202020204" pitchFamily="34" charset="0"/>
            </a:endParaRPr>
          </a:p>
        </p:txBody>
      </p:sp>
      <p:sp>
        <p:nvSpPr>
          <p:cNvPr id="27" name="Text 25"/>
          <p:cNvSpPr/>
          <p:nvPr/>
        </p:nvSpPr>
        <p:spPr>
          <a:xfrm>
            <a:off x="896112" y="3959352"/>
            <a:ext cx="5029200" cy="68580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CRM specialists update playbooks in the knowledge base — no engineer needed. The vector store is rebuilt independently.</a:t>
            </a:r>
            <a:endParaRPr lang="en-US" sz="1200" dirty="0">
              <a:latin typeface="Arial" panose="020B0604020202020204" pitchFamily="34" charset="0"/>
              <a:cs typeface="Arial" panose="020B0604020202020204" pitchFamily="34" charset="0"/>
            </a:endParaRPr>
          </a:p>
        </p:txBody>
      </p:sp>
      <p:sp>
        <p:nvSpPr>
          <p:cNvPr id="28" name="Shape 26"/>
          <p:cNvSpPr/>
          <p:nvPr/>
        </p:nvSpPr>
        <p:spPr>
          <a:xfrm>
            <a:off x="548640" y="4937760"/>
            <a:ext cx="5486400" cy="1234440"/>
          </a:xfrm>
          <a:prstGeom prst="roundRect">
            <a:avLst>
              <a:gd name="adj" fmla="val 5926"/>
            </a:avLst>
          </a:prstGeom>
          <a:solidFill>
            <a:srgbClr val="FFFFFF"/>
          </a:solidFill>
          <a:ln w="12700">
            <a:solidFill>
              <a:srgbClr val="CBD5E1"/>
            </a:solidFill>
            <a:prstDash val="solid"/>
          </a:ln>
          <a:effectLst>
            <a:outerShdw blurRad="50800" dist="25400" dir="16200000" algn="bl" rotWithShape="0">
              <a:srgbClr val="888888">
                <a:alpha val="10000"/>
              </a:srgbClr>
            </a:outerShdw>
          </a:effectLst>
        </p:spPr>
        <p:txBody>
          <a:bodyPr/>
          <a:lstStyle/>
          <a:p>
            <a:endParaRPr lang="en-US"/>
          </a:p>
        </p:txBody>
      </p:sp>
      <p:sp>
        <p:nvSpPr>
          <p:cNvPr id="29" name="Shape 27"/>
          <p:cNvSpPr/>
          <p:nvPr/>
        </p:nvSpPr>
        <p:spPr>
          <a:xfrm>
            <a:off x="548640" y="4937760"/>
            <a:ext cx="256032" cy="1234440"/>
          </a:xfrm>
          <a:prstGeom prst="roundRect">
            <a:avLst>
              <a:gd name="adj" fmla="val 14286"/>
            </a:avLst>
          </a:prstGeom>
          <a:solidFill>
            <a:schemeClr val="bg2"/>
          </a:solidFill>
          <a:ln w="12700">
            <a:solidFill>
              <a:srgbClr val="1B3A6B"/>
            </a:solidFill>
            <a:prstDash val="solid"/>
          </a:ln>
        </p:spPr>
        <p:txBody>
          <a:bodyPr/>
          <a:lstStyle/>
          <a:p>
            <a:endParaRPr lang="en-US"/>
          </a:p>
        </p:txBody>
      </p:sp>
      <p:sp>
        <p:nvSpPr>
          <p:cNvPr id="30" name="Text 28"/>
          <p:cNvSpPr/>
          <p:nvPr/>
        </p:nvSpPr>
        <p:spPr>
          <a:xfrm>
            <a:off x="896112" y="5029200"/>
            <a:ext cx="5029200" cy="32004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Semantically extensible</a:t>
            </a:r>
            <a:endParaRPr lang="en-US" sz="1400" dirty="0">
              <a:latin typeface="Arial" panose="020B0604020202020204" pitchFamily="34" charset="0"/>
              <a:cs typeface="Arial" panose="020B0604020202020204" pitchFamily="34" charset="0"/>
            </a:endParaRPr>
          </a:p>
        </p:txBody>
      </p:sp>
      <p:sp>
        <p:nvSpPr>
          <p:cNvPr id="31" name="Text 29"/>
          <p:cNvSpPr/>
          <p:nvPr/>
        </p:nvSpPr>
        <p:spPr>
          <a:xfrm>
            <a:off x="896112" y="5376672"/>
            <a:ext cx="5029200" cy="68580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New segment names or rephrasings are handled naturally by similarity search — no brittle string matching.</a:t>
            </a:r>
            <a:endParaRPr lang="en-US" sz="1200" dirty="0">
              <a:latin typeface="Arial" panose="020B0604020202020204" pitchFamily="34" charset="0"/>
              <a:cs typeface="Arial" panose="020B0604020202020204" pitchFamily="34" charset="0"/>
            </a:endParaRPr>
          </a:p>
        </p:txBody>
      </p:sp>
      <p:sp>
        <p:nvSpPr>
          <p:cNvPr id="32" name="Shape 30"/>
          <p:cNvSpPr/>
          <p:nvPr/>
        </p:nvSpPr>
        <p:spPr>
          <a:xfrm>
            <a:off x="6355080" y="3520440"/>
            <a:ext cx="5486400" cy="1234440"/>
          </a:xfrm>
          <a:prstGeom prst="roundRect">
            <a:avLst>
              <a:gd name="adj" fmla="val 5926"/>
            </a:avLst>
          </a:prstGeom>
          <a:solidFill>
            <a:srgbClr val="FFFFFF"/>
          </a:solidFill>
          <a:ln w="12700">
            <a:solidFill>
              <a:srgbClr val="CBD5E1"/>
            </a:solidFill>
            <a:prstDash val="solid"/>
          </a:ln>
          <a:effectLst>
            <a:outerShdw blurRad="50800" dist="25400" dir="16200000" algn="bl" rotWithShape="0">
              <a:srgbClr val="888888">
                <a:alpha val="10000"/>
              </a:srgbClr>
            </a:outerShdw>
          </a:effectLst>
        </p:spPr>
        <p:txBody>
          <a:bodyPr/>
          <a:lstStyle/>
          <a:p>
            <a:endParaRPr lang="en-US"/>
          </a:p>
        </p:txBody>
      </p:sp>
      <p:sp>
        <p:nvSpPr>
          <p:cNvPr id="33" name="Shape 31"/>
          <p:cNvSpPr/>
          <p:nvPr/>
        </p:nvSpPr>
        <p:spPr>
          <a:xfrm>
            <a:off x="6355080" y="3520440"/>
            <a:ext cx="256032" cy="1234440"/>
          </a:xfrm>
          <a:prstGeom prst="roundRect">
            <a:avLst>
              <a:gd name="adj" fmla="val 14286"/>
            </a:avLst>
          </a:prstGeom>
          <a:solidFill>
            <a:schemeClr val="bg2"/>
          </a:solidFill>
          <a:ln w="12700">
            <a:solidFill>
              <a:srgbClr val="1B3A6B"/>
            </a:solidFill>
            <a:prstDash val="solid"/>
          </a:ln>
        </p:spPr>
        <p:txBody>
          <a:bodyPr/>
          <a:lstStyle/>
          <a:p>
            <a:endParaRPr lang="en-US"/>
          </a:p>
        </p:txBody>
      </p:sp>
      <p:sp>
        <p:nvSpPr>
          <p:cNvPr id="34" name="Text 32"/>
          <p:cNvSpPr/>
          <p:nvPr/>
        </p:nvSpPr>
        <p:spPr>
          <a:xfrm>
            <a:off x="6702552" y="3611880"/>
            <a:ext cx="5029200" cy="32004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LLM used only for narrative</a:t>
            </a:r>
            <a:endParaRPr lang="en-US" sz="1400" dirty="0">
              <a:latin typeface="Arial" panose="020B0604020202020204" pitchFamily="34" charset="0"/>
              <a:cs typeface="Arial" panose="020B0604020202020204" pitchFamily="34" charset="0"/>
            </a:endParaRPr>
          </a:p>
        </p:txBody>
      </p:sp>
      <p:sp>
        <p:nvSpPr>
          <p:cNvPr id="35" name="Text 33"/>
          <p:cNvSpPr/>
          <p:nvPr/>
        </p:nvSpPr>
        <p:spPr>
          <a:xfrm>
            <a:off x="6702552" y="3959352"/>
            <a:ext cx="5029200" cy="68580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Classification is deterministic. GPT-4o only writes the final report — it never decides the segment or the action.</a:t>
            </a:r>
            <a:endParaRPr lang="en-US" sz="1200" dirty="0">
              <a:latin typeface="Arial" panose="020B0604020202020204" pitchFamily="34" charset="0"/>
              <a:cs typeface="Arial" panose="020B0604020202020204" pitchFamily="34" charset="0"/>
            </a:endParaRPr>
          </a:p>
        </p:txBody>
      </p:sp>
      <p:sp>
        <p:nvSpPr>
          <p:cNvPr id="36" name="Shape 34"/>
          <p:cNvSpPr/>
          <p:nvPr/>
        </p:nvSpPr>
        <p:spPr>
          <a:xfrm>
            <a:off x="6355080" y="4937760"/>
            <a:ext cx="5486400" cy="1234440"/>
          </a:xfrm>
          <a:prstGeom prst="roundRect">
            <a:avLst>
              <a:gd name="adj" fmla="val 5926"/>
            </a:avLst>
          </a:prstGeom>
          <a:solidFill>
            <a:srgbClr val="FFFFFF"/>
          </a:solidFill>
          <a:ln w="12700">
            <a:solidFill>
              <a:srgbClr val="CBD5E1"/>
            </a:solidFill>
            <a:prstDash val="solid"/>
          </a:ln>
          <a:effectLst>
            <a:outerShdw blurRad="50800" dist="25400" dir="16200000" algn="bl" rotWithShape="0">
              <a:srgbClr val="888888">
                <a:alpha val="10000"/>
              </a:srgbClr>
            </a:outerShdw>
          </a:effectLst>
        </p:spPr>
        <p:txBody>
          <a:bodyPr/>
          <a:lstStyle/>
          <a:p>
            <a:endParaRPr lang="en-US"/>
          </a:p>
        </p:txBody>
      </p:sp>
      <p:sp>
        <p:nvSpPr>
          <p:cNvPr id="37" name="Shape 35"/>
          <p:cNvSpPr/>
          <p:nvPr/>
        </p:nvSpPr>
        <p:spPr>
          <a:xfrm>
            <a:off x="6355080" y="4937760"/>
            <a:ext cx="256032" cy="1234440"/>
          </a:xfrm>
          <a:prstGeom prst="roundRect">
            <a:avLst>
              <a:gd name="adj" fmla="val 14286"/>
            </a:avLst>
          </a:prstGeom>
          <a:solidFill>
            <a:schemeClr val="bg2"/>
          </a:solidFill>
          <a:ln w="12700">
            <a:solidFill>
              <a:srgbClr val="1B3A6B"/>
            </a:solidFill>
            <a:prstDash val="solid"/>
          </a:ln>
        </p:spPr>
        <p:txBody>
          <a:bodyPr/>
          <a:lstStyle/>
          <a:p>
            <a:endParaRPr lang="en-US"/>
          </a:p>
        </p:txBody>
      </p:sp>
      <p:sp>
        <p:nvSpPr>
          <p:cNvPr id="38" name="Text 36"/>
          <p:cNvSpPr/>
          <p:nvPr/>
        </p:nvSpPr>
        <p:spPr>
          <a:xfrm>
            <a:off x="6702552" y="5029200"/>
            <a:ext cx="5029200" cy="32004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CLV-tier adaptation</a:t>
            </a:r>
            <a:endParaRPr lang="en-US" sz="1400" dirty="0">
              <a:latin typeface="Arial" panose="020B0604020202020204" pitchFamily="34" charset="0"/>
              <a:cs typeface="Arial" panose="020B0604020202020204" pitchFamily="34" charset="0"/>
            </a:endParaRPr>
          </a:p>
        </p:txBody>
      </p:sp>
      <p:sp>
        <p:nvSpPr>
          <p:cNvPr id="39" name="Text 37"/>
          <p:cNvSpPr/>
          <p:nvPr/>
        </p:nvSpPr>
        <p:spPr>
          <a:xfrm>
            <a:off x="6702552" y="5376672"/>
            <a:ext cx="5029200" cy="68580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Gold/Platinum: personal CRM call within 24h + 750 pts. Silver/Bronze: email within 48h + 15% discount.</a:t>
            </a:r>
            <a:endParaRPr lang="en-US" sz="1200" dirty="0">
              <a:latin typeface="Arial" panose="020B0604020202020204" pitchFamily="34" charset="0"/>
              <a:cs typeface="Arial" panose="020B0604020202020204" pitchFamily="34" charset="0"/>
            </a:endParaRPr>
          </a:p>
        </p:txBody>
      </p:sp>
      <p:sp>
        <p:nvSpPr>
          <p:cNvPr id="40" name="Text 38"/>
          <p:cNvSpPr/>
          <p:nvPr/>
        </p:nvSpPr>
        <p:spPr>
          <a:xfrm>
            <a:off x="8412480" y="4846320"/>
            <a:ext cx="457200" cy="228600"/>
          </a:xfrm>
          <a:prstGeom prst="rect">
            <a:avLst/>
          </a:prstGeom>
          <a:noFill/>
          <a:ln/>
        </p:spPr>
        <p:txBody>
          <a:bodyPr wrap="square" rtlCol="0" anchor="ctr"/>
          <a:lstStyle/>
          <a:p>
            <a:pPr marL="0" indent="0" algn="r">
              <a:buNone/>
            </a:pPr>
            <a:r>
              <a:rPr lang="en-US" sz="900" dirty="0">
                <a:solidFill>
                  <a:srgbClr val="6688AA"/>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10972800" cy="548640"/>
          </a:xfrm>
          <a:prstGeom prst="rect">
            <a:avLst/>
          </a:prstGeom>
          <a:noFill/>
          <a:ln>
            <a:solidFill>
              <a:schemeClr val="bg1"/>
            </a:solidFill>
          </a:ln>
        </p:spPr>
        <p:txBody>
          <a:bodyPr wrap="square" rtlCol="0" anchor="ctr"/>
          <a:lstStyle/>
          <a:p>
            <a:pPr marL="0" indent="0">
              <a:buNone/>
            </a:pPr>
            <a:r>
              <a:rPr lang="en-US" sz="3000" b="1" dirty="0">
                <a:solidFill>
                  <a:srgbClr val="FFC000"/>
                </a:solidFill>
                <a:latin typeface="Arial" panose="020B0604020202020204" pitchFamily="34" charset="0"/>
                <a:ea typeface="Arial" pitchFamily="34" charset="-122"/>
                <a:cs typeface="Arial" panose="020B0604020202020204" pitchFamily="34" charset="0"/>
              </a:rPr>
              <a:t>Live Output — T001: Alok Saxena (Platinum)</a:t>
            </a:r>
            <a:endParaRPr lang="en-US" sz="3000" dirty="0">
              <a:solidFill>
                <a:srgbClr val="FFC000"/>
              </a:solidFill>
              <a:latin typeface="Arial" panose="020B0604020202020204" pitchFamily="34" charset="0"/>
              <a:cs typeface="Arial" panose="020B0604020202020204" pitchFamily="34" charset="0"/>
            </a:endParaRPr>
          </a:p>
        </p:txBody>
      </p:sp>
      <p:sp>
        <p:nvSpPr>
          <p:cNvPr id="4" name="Text 2"/>
          <p:cNvSpPr/>
          <p:nvPr/>
        </p:nvSpPr>
        <p:spPr>
          <a:xfrm>
            <a:off x="548640" y="877389"/>
            <a:ext cx="9144000" cy="320040"/>
          </a:xfrm>
          <a:prstGeom prst="rect">
            <a:avLst/>
          </a:prstGeom>
          <a:noFill/>
          <a:ln>
            <a:solidFill>
              <a:schemeClr val="bg1"/>
            </a:solidFill>
          </a:ln>
        </p:spPr>
        <p:txBody>
          <a:bodyPr wrap="square" rtlCol="0" anchor="ctr"/>
          <a:lstStyle/>
          <a:p>
            <a:pPr marL="0" indent="0">
              <a:buNone/>
            </a:pPr>
            <a:r>
              <a:rPr lang="en-US" sz="1200" b="1" i="1" dirty="0">
                <a:solidFill>
                  <a:srgbClr val="8899AA"/>
                </a:solidFill>
                <a:latin typeface="Arial" panose="020B0604020202020204" pitchFamily="34" charset="0"/>
                <a:ea typeface="Arial" pitchFamily="34" charset="-122"/>
                <a:cs typeface="Arial" panose="020B0604020202020204" pitchFamily="34" charset="0"/>
              </a:rPr>
              <a:t>Walking through a real system output end-to-end</a:t>
            </a:r>
            <a:endParaRPr lang="en-US" sz="1200" b="1" dirty="0">
              <a:latin typeface="Arial" panose="020B0604020202020204" pitchFamily="34" charset="0"/>
              <a:cs typeface="Arial" panose="020B0604020202020204" pitchFamily="34" charset="0"/>
            </a:endParaRPr>
          </a:p>
        </p:txBody>
      </p:sp>
      <p:sp>
        <p:nvSpPr>
          <p:cNvPr id="5" name="Shape 3"/>
          <p:cNvSpPr/>
          <p:nvPr/>
        </p:nvSpPr>
        <p:spPr>
          <a:xfrm>
            <a:off x="548640" y="1280160"/>
            <a:ext cx="3474720" cy="5166360"/>
          </a:xfrm>
          <a:prstGeom prst="roundRect">
            <a:avLst>
              <a:gd name="adj" fmla="val 2632"/>
            </a:avLst>
          </a:prstGeom>
          <a:solidFill>
            <a:srgbClr val="14274E"/>
          </a:solidFill>
          <a:ln w="12700">
            <a:solidFill>
              <a:srgbClr val="243B6E"/>
            </a:solidFill>
            <a:prstDash val="solid"/>
          </a:ln>
        </p:spPr>
        <p:txBody>
          <a:bodyPr/>
          <a:lstStyle/>
          <a:p>
            <a:endParaRPr lang="en-US"/>
          </a:p>
        </p:txBody>
      </p:sp>
      <p:sp>
        <p:nvSpPr>
          <p:cNvPr id="6" name="Text 4"/>
          <p:cNvSpPr/>
          <p:nvPr/>
        </p:nvSpPr>
        <p:spPr>
          <a:xfrm>
            <a:off x="548640" y="1371600"/>
            <a:ext cx="3474720" cy="365760"/>
          </a:xfrm>
          <a:prstGeom prst="rect">
            <a:avLst/>
          </a:prstGeom>
          <a:noFill/>
          <a:ln/>
        </p:spPr>
        <p:txBody>
          <a:bodyPr wrap="square" rtlCol="0" anchor="ctr"/>
          <a:lstStyle/>
          <a:p>
            <a:pPr marL="0" indent="0" algn="ctr">
              <a:buNone/>
            </a:pPr>
            <a:r>
              <a:rPr lang="en-US" sz="1300" b="1" dirty="0">
                <a:solidFill>
                  <a:srgbClr val="FFC000"/>
                </a:solidFill>
                <a:latin typeface="Arial" panose="020B0604020202020204" pitchFamily="34" charset="0"/>
                <a:ea typeface="Arial" pitchFamily="34" charset="-122"/>
                <a:cs typeface="Arial" panose="020B0604020202020204" pitchFamily="34" charset="0"/>
              </a:rPr>
              <a:t>Customer Signals</a:t>
            </a:r>
            <a:endParaRPr lang="en-US" sz="1300" b="1" dirty="0">
              <a:solidFill>
                <a:srgbClr val="FFC000"/>
              </a:solidFill>
              <a:latin typeface="Arial" panose="020B0604020202020204" pitchFamily="34" charset="0"/>
              <a:cs typeface="Arial" panose="020B0604020202020204" pitchFamily="34" charset="0"/>
            </a:endParaRPr>
          </a:p>
        </p:txBody>
      </p:sp>
      <p:sp>
        <p:nvSpPr>
          <p:cNvPr id="7" name="Text 5"/>
          <p:cNvSpPr/>
          <p:nvPr/>
        </p:nvSpPr>
        <p:spPr>
          <a:xfrm>
            <a:off x="731520" y="1874520"/>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Customer ID</a:t>
            </a:r>
            <a:endParaRPr lang="en-US" sz="1200" dirty="0">
              <a:latin typeface="Arial" panose="020B0604020202020204" pitchFamily="34" charset="0"/>
              <a:cs typeface="Arial" panose="020B0604020202020204" pitchFamily="34" charset="0"/>
            </a:endParaRPr>
          </a:p>
        </p:txBody>
      </p:sp>
      <p:sp>
        <p:nvSpPr>
          <p:cNvPr id="8" name="Text 6"/>
          <p:cNvSpPr/>
          <p:nvPr/>
        </p:nvSpPr>
        <p:spPr>
          <a:xfrm>
            <a:off x="2423160" y="1874520"/>
            <a:ext cx="1417320" cy="411480"/>
          </a:xfrm>
          <a:prstGeom prst="rect">
            <a:avLst/>
          </a:prstGeom>
          <a:noFill/>
          <a:ln/>
        </p:spPr>
        <p:txBody>
          <a:bodyPr wrap="square" rtlCol="0" anchor="ctr"/>
          <a:lstStyle/>
          <a:p>
            <a:pPr marL="0" indent="0" algn="r">
              <a:buNone/>
            </a:pPr>
            <a:r>
              <a:rPr lang="en-US" sz="1200" b="1" dirty="0">
                <a:solidFill>
                  <a:srgbClr val="FFFFFF"/>
                </a:solidFill>
                <a:latin typeface="Arial" panose="020B0604020202020204" pitchFamily="34" charset="0"/>
                <a:ea typeface="Arial" pitchFamily="34" charset="-122"/>
                <a:cs typeface="Arial" panose="020B0604020202020204" pitchFamily="34" charset="0"/>
              </a:rPr>
              <a:t>T001</a:t>
            </a:r>
            <a:endParaRPr lang="en-US" sz="1200" dirty="0">
              <a:latin typeface="Arial" panose="020B0604020202020204" pitchFamily="34" charset="0"/>
              <a:cs typeface="Arial" panose="020B0604020202020204" pitchFamily="34" charset="0"/>
            </a:endParaRPr>
          </a:p>
        </p:txBody>
      </p:sp>
      <p:sp>
        <p:nvSpPr>
          <p:cNvPr id="9" name="Text 7"/>
          <p:cNvSpPr/>
          <p:nvPr/>
        </p:nvSpPr>
        <p:spPr>
          <a:xfrm>
            <a:off x="731520" y="2404872"/>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Name</a:t>
            </a:r>
            <a:endParaRPr lang="en-US" sz="1200" dirty="0">
              <a:latin typeface="Arial" panose="020B0604020202020204" pitchFamily="34" charset="0"/>
              <a:cs typeface="Arial" panose="020B0604020202020204" pitchFamily="34" charset="0"/>
            </a:endParaRPr>
          </a:p>
        </p:txBody>
      </p:sp>
      <p:sp>
        <p:nvSpPr>
          <p:cNvPr id="10" name="Text 8"/>
          <p:cNvSpPr/>
          <p:nvPr/>
        </p:nvSpPr>
        <p:spPr>
          <a:xfrm>
            <a:off x="2423160" y="2404872"/>
            <a:ext cx="1417320" cy="411480"/>
          </a:xfrm>
          <a:prstGeom prst="rect">
            <a:avLst/>
          </a:prstGeom>
          <a:noFill/>
          <a:ln/>
        </p:spPr>
        <p:txBody>
          <a:bodyPr wrap="square" rtlCol="0" anchor="ctr"/>
          <a:lstStyle/>
          <a:p>
            <a:pPr marL="0" indent="0" algn="r">
              <a:buNone/>
            </a:pPr>
            <a:r>
              <a:rPr lang="en-US" sz="1200" b="1" dirty="0">
                <a:solidFill>
                  <a:srgbClr val="FFFFFF"/>
                </a:solidFill>
                <a:latin typeface="Arial" panose="020B0604020202020204" pitchFamily="34" charset="0"/>
                <a:ea typeface="Arial" pitchFamily="34" charset="-122"/>
                <a:cs typeface="Arial" panose="020B0604020202020204" pitchFamily="34" charset="0"/>
              </a:rPr>
              <a:t>Alok Saxena</a:t>
            </a:r>
            <a:endParaRPr lang="en-US" sz="1200" dirty="0">
              <a:latin typeface="Arial" panose="020B0604020202020204" pitchFamily="34" charset="0"/>
              <a:cs typeface="Arial" panose="020B0604020202020204" pitchFamily="34" charset="0"/>
            </a:endParaRPr>
          </a:p>
        </p:txBody>
      </p:sp>
      <p:sp>
        <p:nvSpPr>
          <p:cNvPr id="11" name="Text 9"/>
          <p:cNvSpPr/>
          <p:nvPr/>
        </p:nvSpPr>
        <p:spPr>
          <a:xfrm>
            <a:off x="731520" y="2935224"/>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CLV Tier</a:t>
            </a:r>
            <a:endParaRPr lang="en-US" sz="1200" dirty="0">
              <a:latin typeface="Arial" panose="020B0604020202020204" pitchFamily="34" charset="0"/>
              <a:cs typeface="Arial" panose="020B0604020202020204" pitchFamily="34" charset="0"/>
            </a:endParaRPr>
          </a:p>
        </p:txBody>
      </p:sp>
      <p:sp>
        <p:nvSpPr>
          <p:cNvPr id="12" name="Text 10"/>
          <p:cNvSpPr/>
          <p:nvPr/>
        </p:nvSpPr>
        <p:spPr>
          <a:xfrm>
            <a:off x="2423160" y="2935224"/>
            <a:ext cx="1417320" cy="411480"/>
          </a:xfrm>
          <a:prstGeom prst="rect">
            <a:avLst/>
          </a:prstGeom>
          <a:noFill/>
          <a:ln/>
        </p:spPr>
        <p:txBody>
          <a:bodyPr wrap="square" rtlCol="0" anchor="ctr"/>
          <a:lstStyle/>
          <a:p>
            <a:pPr marL="0" indent="0" algn="r">
              <a:buNone/>
            </a:pPr>
            <a:r>
              <a:rPr lang="en-US" sz="1200" b="1" dirty="0">
                <a:solidFill>
                  <a:srgbClr val="FFFFFF"/>
                </a:solidFill>
                <a:latin typeface="Arial" panose="020B0604020202020204" pitchFamily="34" charset="0"/>
                <a:ea typeface="Arial" pitchFamily="34" charset="-122"/>
                <a:cs typeface="Arial" panose="020B0604020202020204" pitchFamily="34" charset="0"/>
              </a:rPr>
              <a:t>Platinum</a:t>
            </a:r>
            <a:endParaRPr lang="en-US" sz="1200" dirty="0">
              <a:latin typeface="Arial" panose="020B0604020202020204" pitchFamily="34" charset="0"/>
              <a:cs typeface="Arial" panose="020B0604020202020204" pitchFamily="34" charset="0"/>
            </a:endParaRPr>
          </a:p>
        </p:txBody>
      </p:sp>
      <p:sp>
        <p:nvSpPr>
          <p:cNvPr id="13" name="Text 11"/>
          <p:cNvSpPr/>
          <p:nvPr/>
        </p:nvSpPr>
        <p:spPr>
          <a:xfrm>
            <a:off x="731520" y="3465576"/>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Recency</a:t>
            </a:r>
            <a:endParaRPr lang="en-US" sz="1200" dirty="0">
              <a:latin typeface="Arial" panose="020B0604020202020204" pitchFamily="34" charset="0"/>
              <a:cs typeface="Arial" panose="020B0604020202020204" pitchFamily="34" charset="0"/>
            </a:endParaRPr>
          </a:p>
        </p:txBody>
      </p:sp>
      <p:sp>
        <p:nvSpPr>
          <p:cNvPr id="14" name="Text 12"/>
          <p:cNvSpPr/>
          <p:nvPr/>
        </p:nvSpPr>
        <p:spPr>
          <a:xfrm>
            <a:off x="2423160" y="3465576"/>
            <a:ext cx="1417320" cy="411480"/>
          </a:xfrm>
          <a:prstGeom prst="rect">
            <a:avLst/>
          </a:prstGeom>
          <a:noFill/>
          <a:ln/>
        </p:spPr>
        <p:txBody>
          <a:bodyPr wrap="square" rtlCol="0" anchor="ctr"/>
          <a:lstStyle/>
          <a:p>
            <a:pPr marL="0" indent="0" algn="r">
              <a:buNone/>
            </a:pPr>
            <a:r>
              <a:rPr lang="en-US" sz="1200" b="1" dirty="0">
                <a:solidFill>
                  <a:srgbClr val="C0392B"/>
                </a:solidFill>
                <a:latin typeface="Arial" panose="020B0604020202020204" pitchFamily="34" charset="0"/>
                <a:ea typeface="Arial" pitchFamily="34" charset="-122"/>
                <a:cs typeface="Arial" panose="020B0604020202020204" pitchFamily="34" charset="0"/>
              </a:rPr>
              <a:t>80 days</a:t>
            </a:r>
            <a:endParaRPr lang="en-US" sz="1200" dirty="0">
              <a:latin typeface="Arial" panose="020B0604020202020204" pitchFamily="34" charset="0"/>
              <a:cs typeface="Arial" panose="020B0604020202020204" pitchFamily="34" charset="0"/>
            </a:endParaRPr>
          </a:p>
        </p:txBody>
      </p:sp>
      <p:sp>
        <p:nvSpPr>
          <p:cNvPr id="15" name="Text 13"/>
          <p:cNvSpPr/>
          <p:nvPr/>
        </p:nvSpPr>
        <p:spPr>
          <a:xfrm>
            <a:off x="731520" y="3995928"/>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App Sessions</a:t>
            </a:r>
            <a:endParaRPr lang="en-US" sz="1200" dirty="0">
              <a:latin typeface="Arial" panose="020B0604020202020204" pitchFamily="34" charset="0"/>
              <a:cs typeface="Arial" panose="020B0604020202020204" pitchFamily="34" charset="0"/>
            </a:endParaRPr>
          </a:p>
        </p:txBody>
      </p:sp>
      <p:sp>
        <p:nvSpPr>
          <p:cNvPr id="16" name="Text 14"/>
          <p:cNvSpPr/>
          <p:nvPr/>
        </p:nvSpPr>
        <p:spPr>
          <a:xfrm>
            <a:off x="2423160" y="3995928"/>
            <a:ext cx="1417320" cy="411480"/>
          </a:xfrm>
          <a:prstGeom prst="rect">
            <a:avLst/>
          </a:prstGeom>
          <a:noFill/>
          <a:ln/>
        </p:spPr>
        <p:txBody>
          <a:bodyPr wrap="square" rtlCol="0" anchor="ctr"/>
          <a:lstStyle/>
          <a:p>
            <a:pPr marL="0" indent="0" algn="r">
              <a:buNone/>
            </a:pPr>
            <a:r>
              <a:rPr lang="en-US" sz="1200" b="1" dirty="0">
                <a:solidFill>
                  <a:srgbClr val="C0392B"/>
                </a:solidFill>
                <a:latin typeface="Arial" panose="020B0604020202020204" pitchFamily="34" charset="0"/>
                <a:ea typeface="Arial" pitchFamily="34" charset="-122"/>
                <a:cs typeface="Arial" panose="020B0604020202020204" pitchFamily="34" charset="0"/>
              </a:rPr>
              <a:t>1 / month</a:t>
            </a:r>
            <a:endParaRPr lang="en-US" sz="1200" dirty="0">
              <a:latin typeface="Arial" panose="020B0604020202020204" pitchFamily="34" charset="0"/>
              <a:cs typeface="Arial" panose="020B0604020202020204" pitchFamily="34" charset="0"/>
            </a:endParaRPr>
          </a:p>
        </p:txBody>
      </p:sp>
      <p:sp>
        <p:nvSpPr>
          <p:cNvPr id="17" name="Text 15"/>
          <p:cNvSpPr/>
          <p:nvPr/>
        </p:nvSpPr>
        <p:spPr>
          <a:xfrm>
            <a:off x="731520" y="4526280"/>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Email Open</a:t>
            </a:r>
            <a:endParaRPr lang="en-US" sz="1200" dirty="0">
              <a:latin typeface="Arial" panose="020B0604020202020204" pitchFamily="34" charset="0"/>
              <a:cs typeface="Arial" panose="020B0604020202020204" pitchFamily="34" charset="0"/>
            </a:endParaRPr>
          </a:p>
        </p:txBody>
      </p:sp>
      <p:sp>
        <p:nvSpPr>
          <p:cNvPr id="18" name="Text 16"/>
          <p:cNvSpPr/>
          <p:nvPr/>
        </p:nvSpPr>
        <p:spPr>
          <a:xfrm>
            <a:off x="2423160" y="4526280"/>
            <a:ext cx="1417320" cy="411480"/>
          </a:xfrm>
          <a:prstGeom prst="rect">
            <a:avLst/>
          </a:prstGeom>
          <a:noFill/>
          <a:ln/>
        </p:spPr>
        <p:txBody>
          <a:bodyPr wrap="square" rtlCol="0" anchor="ctr"/>
          <a:lstStyle/>
          <a:p>
            <a:pPr marL="0" indent="0" algn="r">
              <a:buNone/>
            </a:pPr>
            <a:r>
              <a:rPr lang="en-US" sz="1200" b="1" dirty="0">
                <a:solidFill>
                  <a:srgbClr val="C0392B"/>
                </a:solidFill>
                <a:latin typeface="Arial" panose="020B0604020202020204" pitchFamily="34" charset="0"/>
                <a:ea typeface="Arial" pitchFamily="34" charset="-122"/>
                <a:cs typeface="Arial" panose="020B0604020202020204" pitchFamily="34" charset="0"/>
              </a:rPr>
              <a:t>7%</a:t>
            </a:r>
            <a:endParaRPr lang="en-US" sz="1200" dirty="0">
              <a:latin typeface="Arial" panose="020B0604020202020204" pitchFamily="34" charset="0"/>
              <a:cs typeface="Arial" panose="020B0604020202020204" pitchFamily="34" charset="0"/>
            </a:endParaRPr>
          </a:p>
        </p:txBody>
      </p:sp>
      <p:sp>
        <p:nvSpPr>
          <p:cNvPr id="19" name="Text 17"/>
          <p:cNvSpPr/>
          <p:nvPr/>
        </p:nvSpPr>
        <p:spPr>
          <a:xfrm>
            <a:off x="731520" y="5056632"/>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NPS Score</a:t>
            </a:r>
            <a:endParaRPr lang="en-US" sz="1200" dirty="0">
              <a:latin typeface="Arial" panose="020B0604020202020204" pitchFamily="34" charset="0"/>
              <a:cs typeface="Arial" panose="020B0604020202020204" pitchFamily="34" charset="0"/>
            </a:endParaRPr>
          </a:p>
        </p:txBody>
      </p:sp>
      <p:sp>
        <p:nvSpPr>
          <p:cNvPr id="20" name="Text 18"/>
          <p:cNvSpPr/>
          <p:nvPr/>
        </p:nvSpPr>
        <p:spPr>
          <a:xfrm>
            <a:off x="2423160" y="5056632"/>
            <a:ext cx="1417320" cy="411480"/>
          </a:xfrm>
          <a:prstGeom prst="rect">
            <a:avLst/>
          </a:prstGeom>
          <a:noFill/>
          <a:ln/>
        </p:spPr>
        <p:txBody>
          <a:bodyPr wrap="square" rtlCol="0" anchor="ctr"/>
          <a:lstStyle/>
          <a:p>
            <a:pPr marL="0" indent="0" algn="r">
              <a:buNone/>
            </a:pPr>
            <a:r>
              <a:rPr lang="en-US" sz="1200" b="1" dirty="0">
                <a:solidFill>
                  <a:srgbClr val="C0392B"/>
                </a:solidFill>
                <a:latin typeface="Arial" panose="020B0604020202020204" pitchFamily="34" charset="0"/>
                <a:ea typeface="Arial" pitchFamily="34" charset="-122"/>
                <a:cs typeface="Arial" panose="020B0604020202020204" pitchFamily="34" charset="0"/>
              </a:rPr>
              <a:t>3 / 10</a:t>
            </a:r>
            <a:endParaRPr lang="en-US" sz="1200" dirty="0">
              <a:latin typeface="Arial" panose="020B0604020202020204" pitchFamily="34" charset="0"/>
              <a:cs typeface="Arial" panose="020B0604020202020204" pitchFamily="34" charset="0"/>
            </a:endParaRPr>
          </a:p>
        </p:txBody>
      </p:sp>
      <p:sp>
        <p:nvSpPr>
          <p:cNvPr id="21" name="Text 19"/>
          <p:cNvSpPr/>
          <p:nvPr/>
        </p:nvSpPr>
        <p:spPr>
          <a:xfrm>
            <a:off x="731520" y="5586984"/>
            <a:ext cx="1645920" cy="411480"/>
          </a:xfrm>
          <a:prstGeom prst="rect">
            <a:avLst/>
          </a:prstGeom>
          <a:noFill/>
          <a:ln/>
        </p:spPr>
        <p:txBody>
          <a:bodyPr wrap="square" rtlCol="0" anchor="ctr"/>
          <a:lstStyle/>
          <a:p>
            <a:pPr marL="0" indent="0">
              <a:buNone/>
            </a:pPr>
            <a:r>
              <a:rPr lang="en-US" sz="1200" dirty="0">
                <a:solidFill>
                  <a:srgbClr val="8899AA"/>
                </a:solidFill>
                <a:latin typeface="Arial" panose="020B0604020202020204" pitchFamily="34" charset="0"/>
                <a:ea typeface="Arial" pitchFamily="34" charset="-122"/>
                <a:cs typeface="Arial" panose="020B0604020202020204" pitchFamily="34" charset="0"/>
              </a:rPr>
              <a:t>Support Tickets</a:t>
            </a:r>
            <a:endParaRPr lang="en-US" sz="1200" dirty="0">
              <a:latin typeface="Arial" panose="020B0604020202020204" pitchFamily="34" charset="0"/>
              <a:cs typeface="Arial" panose="020B0604020202020204" pitchFamily="34" charset="0"/>
            </a:endParaRPr>
          </a:p>
        </p:txBody>
      </p:sp>
      <p:sp>
        <p:nvSpPr>
          <p:cNvPr id="22" name="Text 20"/>
          <p:cNvSpPr/>
          <p:nvPr/>
        </p:nvSpPr>
        <p:spPr>
          <a:xfrm>
            <a:off x="2423160" y="5586984"/>
            <a:ext cx="1417320" cy="411480"/>
          </a:xfrm>
          <a:prstGeom prst="rect">
            <a:avLst/>
          </a:prstGeom>
          <a:noFill/>
          <a:ln/>
        </p:spPr>
        <p:txBody>
          <a:bodyPr wrap="square" rtlCol="0" anchor="ctr"/>
          <a:lstStyle/>
          <a:p>
            <a:pPr marL="0" indent="0" algn="r">
              <a:buNone/>
            </a:pPr>
            <a:r>
              <a:rPr lang="en-US" sz="1200" b="1" dirty="0">
                <a:solidFill>
                  <a:srgbClr val="C0392B"/>
                </a:solidFill>
                <a:latin typeface="Arial" panose="020B0604020202020204" pitchFamily="34" charset="0"/>
                <a:ea typeface="Arial" pitchFamily="34" charset="-122"/>
                <a:cs typeface="Arial" panose="020B0604020202020204" pitchFamily="34" charset="0"/>
              </a:rPr>
              <a:t>4</a:t>
            </a:r>
            <a:endParaRPr lang="en-US" sz="1200" dirty="0">
              <a:latin typeface="Arial" panose="020B0604020202020204" pitchFamily="34" charset="0"/>
              <a:cs typeface="Arial" panose="020B0604020202020204" pitchFamily="34" charset="0"/>
            </a:endParaRPr>
          </a:p>
        </p:txBody>
      </p:sp>
      <p:sp>
        <p:nvSpPr>
          <p:cNvPr id="23" name="Shape 21"/>
          <p:cNvSpPr/>
          <p:nvPr/>
        </p:nvSpPr>
        <p:spPr>
          <a:xfrm>
            <a:off x="4297680" y="1280160"/>
            <a:ext cx="3474720" cy="5166360"/>
          </a:xfrm>
          <a:prstGeom prst="roundRect">
            <a:avLst>
              <a:gd name="adj" fmla="val 2632"/>
            </a:avLst>
          </a:prstGeom>
          <a:solidFill>
            <a:srgbClr val="14274E"/>
          </a:solidFill>
          <a:ln w="12700">
            <a:solidFill>
              <a:srgbClr val="C0392B"/>
            </a:solidFill>
            <a:prstDash val="solid"/>
          </a:ln>
        </p:spPr>
        <p:txBody>
          <a:bodyPr/>
          <a:lstStyle/>
          <a:p>
            <a:endParaRPr lang="en-US">
              <a:latin typeface="Arial" panose="020B0604020202020204" pitchFamily="34" charset="0"/>
              <a:cs typeface="Arial" panose="020B0604020202020204" pitchFamily="34" charset="0"/>
            </a:endParaRPr>
          </a:p>
        </p:txBody>
      </p:sp>
      <p:sp>
        <p:nvSpPr>
          <p:cNvPr id="24" name="Text 22"/>
          <p:cNvSpPr/>
          <p:nvPr/>
        </p:nvSpPr>
        <p:spPr>
          <a:xfrm>
            <a:off x="4297680" y="1371600"/>
            <a:ext cx="3474720" cy="365760"/>
          </a:xfrm>
          <a:prstGeom prst="rect">
            <a:avLst/>
          </a:prstGeom>
          <a:noFill/>
          <a:ln/>
        </p:spPr>
        <p:txBody>
          <a:bodyPr wrap="square" rtlCol="0" anchor="ctr"/>
          <a:lstStyle/>
          <a:p>
            <a:pPr marL="0" indent="0" algn="ctr">
              <a:buNone/>
            </a:pPr>
            <a:r>
              <a:rPr lang="en-US" sz="1300" b="1" dirty="0">
                <a:solidFill>
                  <a:srgbClr val="C0392B"/>
                </a:solidFill>
                <a:latin typeface="Arial" panose="020B0604020202020204" pitchFamily="34" charset="0"/>
                <a:ea typeface="Arial" pitchFamily="34" charset="-122"/>
                <a:cs typeface="Arial" panose="020B0604020202020204" pitchFamily="34" charset="0"/>
              </a:rPr>
              <a:t>Segment Matched</a:t>
            </a:r>
            <a:endParaRPr lang="en-US" sz="1300" dirty="0">
              <a:latin typeface="Arial" panose="020B0604020202020204" pitchFamily="34" charset="0"/>
              <a:cs typeface="Arial" panose="020B0604020202020204" pitchFamily="34" charset="0"/>
            </a:endParaRPr>
          </a:p>
        </p:txBody>
      </p:sp>
      <p:sp>
        <p:nvSpPr>
          <p:cNvPr id="25" name="Shape 23"/>
          <p:cNvSpPr/>
          <p:nvPr/>
        </p:nvSpPr>
        <p:spPr>
          <a:xfrm>
            <a:off x="4572000" y="1874520"/>
            <a:ext cx="2926080" cy="502920"/>
          </a:xfrm>
          <a:prstGeom prst="roundRect">
            <a:avLst>
              <a:gd name="adj" fmla="val 10909"/>
            </a:avLst>
          </a:prstGeom>
          <a:solidFill>
            <a:srgbClr val="C0392B"/>
          </a:solidFill>
          <a:ln w="12700">
            <a:solidFill>
              <a:srgbClr val="C0392B"/>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26" name="Text 24"/>
          <p:cNvSpPr/>
          <p:nvPr/>
        </p:nvSpPr>
        <p:spPr>
          <a:xfrm>
            <a:off x="4572000" y="1874520"/>
            <a:ext cx="2926080" cy="502920"/>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Support-Fatigued  →  ESCALATE</a:t>
            </a:r>
            <a:endParaRPr lang="en-US" sz="1200" dirty="0">
              <a:latin typeface="Arial" panose="020B0604020202020204" pitchFamily="34" charset="0"/>
              <a:cs typeface="Arial" panose="020B0604020202020204" pitchFamily="34" charset="0"/>
            </a:endParaRPr>
          </a:p>
        </p:txBody>
      </p:sp>
      <p:sp>
        <p:nvSpPr>
          <p:cNvPr id="27" name="Text 25"/>
          <p:cNvSpPr/>
          <p:nvPr/>
        </p:nvSpPr>
        <p:spPr>
          <a:xfrm>
            <a:off x="4434840" y="2514600"/>
            <a:ext cx="3200400" cy="320040"/>
          </a:xfrm>
          <a:prstGeom prst="rect">
            <a:avLst/>
          </a:prstGeom>
          <a:noFill/>
          <a:ln/>
        </p:spPr>
        <p:txBody>
          <a:bodyPr wrap="square" rtlCol="0" anchor="ctr"/>
          <a:lstStyle/>
          <a:p>
            <a:pPr marL="0" indent="0">
              <a:buNone/>
            </a:pPr>
            <a:r>
              <a:rPr lang="en-US" sz="1200" b="1" dirty="0">
                <a:solidFill>
                  <a:srgbClr val="AABBCC"/>
                </a:solidFill>
                <a:latin typeface="Arial" panose="020B0604020202020204" pitchFamily="34" charset="0"/>
                <a:ea typeface="Arial" pitchFamily="34" charset="-122"/>
                <a:cs typeface="Arial" panose="020B0604020202020204" pitchFamily="34" charset="0"/>
              </a:rPr>
              <a:t>Rule checks (ALL true):</a:t>
            </a:r>
            <a:endParaRPr lang="en-US" sz="1200" dirty="0">
              <a:latin typeface="Arial" panose="020B0604020202020204" pitchFamily="34" charset="0"/>
              <a:cs typeface="Arial" panose="020B0604020202020204" pitchFamily="34" charset="0"/>
            </a:endParaRPr>
          </a:p>
        </p:txBody>
      </p:sp>
      <p:sp>
        <p:nvSpPr>
          <p:cNvPr id="28" name="Text 26"/>
          <p:cNvSpPr/>
          <p:nvPr/>
        </p:nvSpPr>
        <p:spPr>
          <a:xfrm>
            <a:off x="4434840" y="2926080"/>
            <a:ext cx="3200400" cy="411480"/>
          </a:xfrm>
          <a:prstGeom prst="rect">
            <a:avLst/>
          </a:prstGeom>
          <a:noFill/>
          <a:ln/>
        </p:spPr>
        <p:txBody>
          <a:bodyPr wrap="square" rtlCol="0" anchor="ctr"/>
          <a:lstStyle/>
          <a:p>
            <a:pPr marL="0" indent="0">
              <a:buNone/>
            </a:pPr>
            <a:r>
              <a:rPr lang="en-US" sz="1200" dirty="0">
                <a:solidFill>
                  <a:srgbClr val="FFFFFF"/>
                </a:solidFill>
                <a:latin typeface="Arial" panose="020B0604020202020204" pitchFamily="34" charset="0"/>
                <a:ea typeface="Arial" pitchFamily="34" charset="-122"/>
                <a:cs typeface="Arial" panose="020B0604020202020204" pitchFamily="34" charset="0"/>
              </a:rPr>
              <a:t>✅  Tickets: 4 ≥ 3</a:t>
            </a:r>
            <a:endParaRPr lang="en-US" sz="1200" dirty="0">
              <a:latin typeface="Arial" panose="020B0604020202020204" pitchFamily="34" charset="0"/>
              <a:cs typeface="Arial" panose="020B0604020202020204" pitchFamily="34" charset="0"/>
            </a:endParaRPr>
          </a:p>
        </p:txBody>
      </p:sp>
      <p:sp>
        <p:nvSpPr>
          <p:cNvPr id="29" name="Text 27"/>
          <p:cNvSpPr/>
          <p:nvPr/>
        </p:nvSpPr>
        <p:spPr>
          <a:xfrm>
            <a:off x="4434840" y="3401568"/>
            <a:ext cx="3200400" cy="411480"/>
          </a:xfrm>
          <a:prstGeom prst="rect">
            <a:avLst/>
          </a:prstGeom>
          <a:noFill/>
          <a:ln/>
        </p:spPr>
        <p:txBody>
          <a:bodyPr wrap="square" rtlCol="0" anchor="ctr"/>
          <a:lstStyle/>
          <a:p>
            <a:pPr marL="0" indent="0">
              <a:buNone/>
            </a:pPr>
            <a:r>
              <a:rPr lang="en-US" sz="1200" dirty="0">
                <a:solidFill>
                  <a:srgbClr val="FFFFFF"/>
                </a:solidFill>
                <a:latin typeface="Arial" panose="020B0604020202020204" pitchFamily="34" charset="0"/>
                <a:ea typeface="Arial" pitchFamily="34" charset="-122"/>
                <a:cs typeface="Arial" panose="020B0604020202020204" pitchFamily="34" charset="0"/>
              </a:rPr>
              <a:t>✅  NPS: 3 ≤ 4</a:t>
            </a:r>
            <a:endParaRPr lang="en-US" sz="1200" dirty="0">
              <a:latin typeface="Arial" panose="020B0604020202020204" pitchFamily="34" charset="0"/>
              <a:cs typeface="Arial" panose="020B0604020202020204" pitchFamily="34" charset="0"/>
            </a:endParaRPr>
          </a:p>
        </p:txBody>
      </p:sp>
      <p:sp>
        <p:nvSpPr>
          <p:cNvPr id="30" name="Text 28"/>
          <p:cNvSpPr/>
          <p:nvPr/>
        </p:nvSpPr>
        <p:spPr>
          <a:xfrm>
            <a:off x="4434840" y="3877056"/>
            <a:ext cx="3200400" cy="411480"/>
          </a:xfrm>
          <a:prstGeom prst="rect">
            <a:avLst/>
          </a:prstGeom>
          <a:noFill/>
          <a:ln/>
        </p:spPr>
        <p:txBody>
          <a:bodyPr wrap="square" rtlCol="0" anchor="ctr"/>
          <a:lstStyle/>
          <a:p>
            <a:pPr marL="0" indent="0">
              <a:buNone/>
            </a:pPr>
            <a:r>
              <a:rPr lang="en-US" sz="1200" dirty="0">
                <a:solidFill>
                  <a:srgbClr val="FFFFFF"/>
                </a:solidFill>
                <a:latin typeface="Arial" panose="020B0604020202020204" pitchFamily="34" charset="0"/>
                <a:ea typeface="Arial" pitchFamily="34" charset="-122"/>
                <a:cs typeface="Arial" panose="020B0604020202020204" pitchFamily="34" charset="0"/>
              </a:rPr>
              <a:t>✅  Email: 7% &lt; 20%</a:t>
            </a:r>
            <a:endParaRPr lang="en-US" sz="1200" dirty="0">
              <a:latin typeface="Arial" panose="020B0604020202020204" pitchFamily="34" charset="0"/>
              <a:cs typeface="Arial" panose="020B0604020202020204" pitchFamily="34" charset="0"/>
            </a:endParaRPr>
          </a:p>
        </p:txBody>
      </p:sp>
      <p:sp>
        <p:nvSpPr>
          <p:cNvPr id="31" name="Text 29"/>
          <p:cNvSpPr/>
          <p:nvPr/>
        </p:nvSpPr>
        <p:spPr>
          <a:xfrm>
            <a:off x="4434840" y="4526280"/>
            <a:ext cx="3200400" cy="685800"/>
          </a:xfrm>
          <a:prstGeom prst="rect">
            <a:avLst/>
          </a:prstGeom>
          <a:noFill/>
          <a:ln/>
        </p:spPr>
        <p:txBody>
          <a:bodyPr wrap="square" rtlCol="0" anchor="ctr"/>
          <a:lstStyle/>
          <a:p>
            <a:pPr marL="0" indent="0">
              <a:lnSpc>
                <a:spcPct val="120000"/>
              </a:lnSpc>
              <a:buNone/>
            </a:pPr>
            <a:r>
              <a:rPr lang="en-US" sz="1200" i="1" dirty="0">
                <a:solidFill>
                  <a:srgbClr val="8899AA"/>
                </a:solidFill>
                <a:latin typeface="Arial" panose="020B0604020202020204" pitchFamily="34" charset="0"/>
                <a:ea typeface="Arial" pitchFamily="34" charset="-122"/>
                <a:cs typeface="Arial" panose="020B0604020202020204" pitchFamily="34" charset="0"/>
              </a:rPr>
              <a:t>Priority 1 — highest urgency.</a:t>
            </a:r>
            <a:endParaRPr lang="en-US" sz="1200" dirty="0">
              <a:latin typeface="Arial" panose="020B0604020202020204" pitchFamily="34" charset="0"/>
              <a:cs typeface="Arial" panose="020B0604020202020204" pitchFamily="34" charset="0"/>
            </a:endParaRPr>
          </a:p>
          <a:p>
            <a:pPr marL="0" indent="0">
              <a:lnSpc>
                <a:spcPct val="120000"/>
              </a:lnSpc>
              <a:buNone/>
            </a:pPr>
            <a:r>
              <a:rPr lang="en-US" sz="1200" i="1" dirty="0">
                <a:solidFill>
                  <a:srgbClr val="8899AA"/>
                </a:solidFill>
                <a:latin typeface="Arial" panose="020B0604020202020204" pitchFamily="34" charset="0"/>
                <a:ea typeface="Arial" pitchFamily="34" charset="-122"/>
                <a:cs typeface="Arial" panose="020B0604020202020204" pitchFamily="34" charset="0"/>
              </a:rPr>
              <a:t>No other segments evaluated.</a:t>
            </a:r>
            <a:endParaRPr lang="en-US" sz="1200" dirty="0">
              <a:latin typeface="Arial" panose="020B0604020202020204" pitchFamily="34" charset="0"/>
              <a:cs typeface="Arial" panose="020B0604020202020204" pitchFamily="34" charset="0"/>
            </a:endParaRPr>
          </a:p>
        </p:txBody>
      </p:sp>
      <p:sp>
        <p:nvSpPr>
          <p:cNvPr id="32" name="Shape 30"/>
          <p:cNvSpPr/>
          <p:nvPr/>
        </p:nvSpPr>
        <p:spPr>
          <a:xfrm>
            <a:off x="8001000" y="1280160"/>
            <a:ext cx="3611880" cy="5166360"/>
          </a:xfrm>
          <a:prstGeom prst="roundRect">
            <a:avLst>
              <a:gd name="adj" fmla="val 2532"/>
            </a:avLst>
          </a:prstGeom>
          <a:solidFill>
            <a:srgbClr val="14274E"/>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33" name="Text 31"/>
          <p:cNvSpPr/>
          <p:nvPr/>
        </p:nvSpPr>
        <p:spPr>
          <a:xfrm>
            <a:off x="8001000" y="1371600"/>
            <a:ext cx="3611880" cy="365760"/>
          </a:xfrm>
          <a:prstGeom prst="rect">
            <a:avLst/>
          </a:prstGeom>
          <a:noFill/>
          <a:ln/>
        </p:spPr>
        <p:txBody>
          <a:bodyPr wrap="square" rtlCol="0" anchor="ctr"/>
          <a:lstStyle/>
          <a:p>
            <a:pPr marL="0" indent="0" algn="ctr">
              <a:buNone/>
            </a:pPr>
            <a:r>
              <a:rPr lang="en-US" sz="1300" b="1" dirty="0">
                <a:solidFill>
                  <a:schemeClr val="accent3">
                    <a:lumMod val="60000"/>
                    <a:lumOff val="40000"/>
                  </a:schemeClr>
                </a:solidFill>
                <a:latin typeface="Arial" panose="020B0604020202020204" pitchFamily="34" charset="0"/>
                <a:ea typeface="Arial" pitchFamily="34" charset="-122"/>
                <a:cs typeface="Arial" panose="020B0604020202020204" pitchFamily="34" charset="0"/>
              </a:rPr>
              <a:t>Next Best Action</a:t>
            </a:r>
            <a:endParaRPr lang="en-US" sz="1300" dirty="0">
              <a:solidFill>
                <a:schemeClr val="accent3">
                  <a:lumMod val="60000"/>
                  <a:lumOff val="40000"/>
                </a:schemeClr>
              </a:solidFill>
              <a:latin typeface="Arial" panose="020B0604020202020204" pitchFamily="34" charset="0"/>
              <a:cs typeface="Arial" panose="020B0604020202020204" pitchFamily="34" charset="0"/>
            </a:endParaRPr>
          </a:p>
        </p:txBody>
      </p:sp>
      <p:sp>
        <p:nvSpPr>
          <p:cNvPr id="34" name="Shape 32"/>
          <p:cNvSpPr/>
          <p:nvPr/>
        </p:nvSpPr>
        <p:spPr>
          <a:xfrm>
            <a:off x="8229600" y="1874520"/>
            <a:ext cx="3200400" cy="1188720"/>
          </a:xfrm>
          <a:prstGeom prst="roundRect">
            <a:avLst>
              <a:gd name="adj" fmla="val 5385"/>
            </a:avLst>
          </a:prstGeom>
          <a:solidFill>
            <a:srgbClr val="1A2F4A"/>
          </a:solidFill>
          <a:ln w="12700">
            <a:solidFill>
              <a:srgbClr val="243B6E"/>
            </a:solidFill>
            <a:prstDash val="solid"/>
          </a:ln>
        </p:spPr>
        <p:txBody>
          <a:bodyPr/>
          <a:lstStyle/>
          <a:p>
            <a:endParaRPr lang="en-US">
              <a:latin typeface="Arial" panose="020B0604020202020204" pitchFamily="34" charset="0"/>
              <a:cs typeface="Arial" panose="020B0604020202020204" pitchFamily="34" charset="0"/>
            </a:endParaRPr>
          </a:p>
        </p:txBody>
      </p:sp>
      <p:sp>
        <p:nvSpPr>
          <p:cNvPr id="35" name="Text 33"/>
          <p:cNvSpPr/>
          <p:nvPr/>
        </p:nvSpPr>
        <p:spPr>
          <a:xfrm>
            <a:off x="8321040" y="1938528"/>
            <a:ext cx="3017520" cy="1005840"/>
          </a:xfrm>
          <a:prstGeom prst="rect">
            <a:avLst/>
          </a:prstGeom>
          <a:noFill/>
          <a:ln/>
        </p:spPr>
        <p:txBody>
          <a:bodyPr wrap="square" rtlCol="0" anchor="ctr"/>
          <a:lstStyle/>
          <a:p>
            <a:pPr marL="0" indent="0" algn="just">
              <a:lnSpc>
                <a:spcPct val="125000"/>
              </a:lnSpc>
              <a:buNone/>
            </a:pPr>
            <a:r>
              <a:rPr lang="en-US" sz="1200" dirty="0">
                <a:solidFill>
                  <a:srgbClr val="FFFFFF"/>
                </a:solidFill>
                <a:latin typeface="Arial" panose="020B0604020202020204" pitchFamily="34" charset="0"/>
                <a:ea typeface="Arial" pitchFamily="34" charset="-122"/>
                <a:cs typeface="Arial" panose="020B0604020202020204" pitchFamily="34" charset="0"/>
              </a:rPr>
              <a:t>1.  Assign to CRM specialist for personal call within 24 hrs (Platinum tier)</a:t>
            </a:r>
            <a:endParaRPr lang="en-US" sz="1200" dirty="0">
              <a:latin typeface="Arial" panose="020B0604020202020204" pitchFamily="34" charset="0"/>
              <a:cs typeface="Arial" panose="020B0604020202020204" pitchFamily="34" charset="0"/>
            </a:endParaRPr>
          </a:p>
        </p:txBody>
      </p:sp>
      <p:sp>
        <p:nvSpPr>
          <p:cNvPr id="36" name="Shape 34"/>
          <p:cNvSpPr/>
          <p:nvPr/>
        </p:nvSpPr>
        <p:spPr>
          <a:xfrm>
            <a:off x="8229600" y="3200400"/>
            <a:ext cx="3200400" cy="1188720"/>
          </a:xfrm>
          <a:prstGeom prst="roundRect">
            <a:avLst>
              <a:gd name="adj" fmla="val 5385"/>
            </a:avLst>
          </a:prstGeom>
          <a:solidFill>
            <a:srgbClr val="1A2F4A"/>
          </a:solidFill>
          <a:ln w="12700">
            <a:solidFill>
              <a:srgbClr val="243B6E"/>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37" name="Text 35"/>
          <p:cNvSpPr/>
          <p:nvPr/>
        </p:nvSpPr>
        <p:spPr>
          <a:xfrm>
            <a:off x="8321040" y="3264408"/>
            <a:ext cx="3017520" cy="1005840"/>
          </a:xfrm>
          <a:prstGeom prst="rect">
            <a:avLst/>
          </a:prstGeom>
          <a:noFill/>
          <a:ln/>
        </p:spPr>
        <p:txBody>
          <a:bodyPr wrap="square" rtlCol="0" anchor="ctr"/>
          <a:lstStyle/>
          <a:p>
            <a:pPr marL="0" indent="0" algn="just">
              <a:lnSpc>
                <a:spcPct val="125000"/>
              </a:lnSpc>
              <a:buNone/>
            </a:pPr>
            <a:r>
              <a:rPr lang="en-US" sz="1200" dirty="0">
                <a:solidFill>
                  <a:srgbClr val="FFFFFF"/>
                </a:solidFill>
                <a:latin typeface="Arial" panose="020B0604020202020204" pitchFamily="34" charset="0"/>
                <a:ea typeface="Arial" pitchFamily="34" charset="-122"/>
                <a:cs typeface="Arial" panose="020B0604020202020204" pitchFamily="34" charset="0"/>
              </a:rPr>
              <a:t>2.  Credit 500 goodwill points immediately as service recovery gesture</a:t>
            </a:r>
            <a:endParaRPr lang="en-US" sz="1200" dirty="0">
              <a:latin typeface="Arial" panose="020B0604020202020204" pitchFamily="34" charset="0"/>
              <a:cs typeface="Arial" panose="020B0604020202020204" pitchFamily="34" charset="0"/>
            </a:endParaRPr>
          </a:p>
        </p:txBody>
      </p:sp>
      <p:sp>
        <p:nvSpPr>
          <p:cNvPr id="38" name="Shape 36"/>
          <p:cNvSpPr/>
          <p:nvPr/>
        </p:nvSpPr>
        <p:spPr>
          <a:xfrm>
            <a:off x="8229600" y="4526280"/>
            <a:ext cx="3200400" cy="1188720"/>
          </a:xfrm>
          <a:prstGeom prst="roundRect">
            <a:avLst>
              <a:gd name="adj" fmla="val 5385"/>
            </a:avLst>
          </a:prstGeom>
          <a:solidFill>
            <a:srgbClr val="1A2F4A"/>
          </a:solidFill>
          <a:ln w="12700">
            <a:solidFill>
              <a:srgbClr val="243B6E"/>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39" name="Text 37"/>
          <p:cNvSpPr/>
          <p:nvPr/>
        </p:nvSpPr>
        <p:spPr>
          <a:xfrm>
            <a:off x="8321040" y="4590288"/>
            <a:ext cx="3017520" cy="1005840"/>
          </a:xfrm>
          <a:prstGeom prst="rect">
            <a:avLst/>
          </a:prstGeom>
          <a:noFill/>
          <a:ln/>
        </p:spPr>
        <p:txBody>
          <a:bodyPr wrap="square" rtlCol="0" anchor="ctr"/>
          <a:lstStyle/>
          <a:p>
            <a:pPr marL="0" indent="0" algn="just">
              <a:lnSpc>
                <a:spcPct val="125000"/>
              </a:lnSpc>
              <a:buNone/>
            </a:pPr>
            <a:r>
              <a:rPr lang="en-US" sz="1200" dirty="0">
                <a:solidFill>
                  <a:srgbClr val="FFFFFF"/>
                </a:solidFill>
                <a:latin typeface="Arial" panose="020B0604020202020204" pitchFamily="34" charset="0"/>
                <a:ea typeface="Arial" pitchFamily="34" charset="-122"/>
                <a:cs typeface="Arial" panose="020B0604020202020204" pitchFamily="34" charset="0"/>
              </a:rPr>
              <a:t>3.  Monitor NPS at day 7 &amp; 14. Re-escalate if new ticket raised</a:t>
            </a:r>
            <a:endParaRPr lang="en-US" sz="1200" dirty="0">
              <a:latin typeface="Arial" panose="020B0604020202020204" pitchFamily="34" charset="0"/>
              <a:cs typeface="Arial" panose="020B0604020202020204" pitchFamily="34" charset="0"/>
            </a:endParaRPr>
          </a:p>
        </p:txBody>
      </p:sp>
      <p:sp>
        <p:nvSpPr>
          <p:cNvPr id="40" name="Shape 38"/>
          <p:cNvSpPr/>
          <p:nvPr/>
        </p:nvSpPr>
        <p:spPr>
          <a:xfrm>
            <a:off x="8229600" y="5760720"/>
            <a:ext cx="3200400" cy="502920"/>
          </a:xfrm>
          <a:prstGeom prst="roundRect">
            <a:avLst>
              <a:gd name="adj" fmla="val 10909"/>
            </a:avLst>
          </a:prstGeom>
          <a:solidFill>
            <a:srgbClr val="1A2F4A"/>
          </a:solidFill>
          <a:ln w="12700">
            <a:solidFill>
              <a:srgbClr val="C8860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41" name="Text 39"/>
          <p:cNvSpPr/>
          <p:nvPr/>
        </p:nvSpPr>
        <p:spPr>
          <a:xfrm>
            <a:off x="8275320" y="5760720"/>
            <a:ext cx="3108960" cy="502920"/>
          </a:xfrm>
          <a:prstGeom prst="rect">
            <a:avLst/>
          </a:prstGeom>
          <a:noFill/>
          <a:ln/>
        </p:spPr>
        <p:txBody>
          <a:bodyPr wrap="square" rtlCol="0" anchor="ctr"/>
          <a:lstStyle/>
          <a:p>
            <a:pPr marL="0" indent="0" algn="just">
              <a:lnSpc>
                <a:spcPct val="115000"/>
              </a:lnSpc>
              <a:buNone/>
            </a:pPr>
            <a:r>
              <a:rPr lang="en-US" sz="1200" dirty="0">
                <a:solidFill>
                  <a:srgbClr val="C8860A"/>
                </a:solidFill>
                <a:latin typeface="Arial" panose="020B0604020202020204" pitchFamily="34" charset="0"/>
                <a:ea typeface="Arial" pitchFamily="34" charset="-122"/>
                <a:cs typeface="Arial" panose="020B0604020202020204" pitchFamily="34" charset="0"/>
              </a:rPr>
              <a:t>Policy: No promotional content until service issue is confirmed resolved</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11109960" cy="548640"/>
          </a:xfrm>
          <a:prstGeom prst="rect">
            <a:avLst/>
          </a:prstGeom>
          <a:noFill/>
          <a:ln>
            <a:solidFill>
              <a:schemeClr val="bg1"/>
            </a:solidFill>
          </a:ln>
        </p:spPr>
        <p:txBody>
          <a:bodyPr wrap="square" rtlCol="0" anchor="ctr"/>
          <a:lstStyle/>
          <a:p>
            <a:pPr marL="0" indent="0">
              <a:buNone/>
            </a:pPr>
            <a:r>
              <a:rPr lang="en-US" sz="3600" b="1" dirty="0">
                <a:solidFill>
                  <a:srgbClr val="FFC000"/>
                </a:solidFill>
                <a:latin typeface="Arial" panose="020B0604020202020204" pitchFamily="34" charset="0"/>
                <a:ea typeface="Arial" pitchFamily="34" charset="-122"/>
                <a:cs typeface="Arial" panose="020B0604020202020204" pitchFamily="34" charset="0"/>
              </a:rPr>
              <a:t>Test Customer Results — All 10 Decisions</a:t>
            </a:r>
            <a:endParaRPr lang="en-US" sz="3600" dirty="0">
              <a:solidFill>
                <a:srgbClr val="FFC000"/>
              </a:solidFill>
              <a:latin typeface="Arial" panose="020B0604020202020204" pitchFamily="34" charset="0"/>
              <a:cs typeface="Arial" panose="020B0604020202020204" pitchFamily="34" charset="0"/>
            </a:endParaRPr>
          </a:p>
        </p:txBody>
      </p:sp>
      <p:sp>
        <p:nvSpPr>
          <p:cNvPr id="4" name="Shape 2"/>
          <p:cNvSpPr/>
          <p:nvPr/>
        </p:nvSpPr>
        <p:spPr>
          <a:xfrm>
            <a:off x="548640" y="1097280"/>
            <a:ext cx="640080" cy="365760"/>
          </a:xfrm>
          <a:prstGeom prst="rect">
            <a:avLst/>
          </a:prstGeom>
          <a:solidFill>
            <a:schemeClr val="bg2"/>
          </a:solidFill>
          <a:ln w="12700">
            <a:solidFill>
              <a:srgbClr val="0D1B2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5" name="Text 3"/>
          <p:cNvSpPr/>
          <p:nvPr/>
        </p:nvSpPr>
        <p:spPr>
          <a:xfrm>
            <a:off x="548640" y="1097280"/>
            <a:ext cx="640080" cy="365760"/>
          </a:xfrm>
          <a:prstGeom prst="rect">
            <a:avLst/>
          </a:prstGeom>
          <a:noFill/>
          <a:ln/>
        </p:spPr>
        <p:txBody>
          <a:bodyPr wrap="square" rtlCol="0" anchor="ctr"/>
          <a:lstStyle/>
          <a:p>
            <a:pPr marL="0" indent="0" algn="ctr">
              <a:buNone/>
            </a:pPr>
            <a:r>
              <a:rPr lang="en-US" sz="1200" b="1" dirty="0">
                <a:solidFill>
                  <a:schemeClr val="tx2"/>
                </a:solidFill>
                <a:latin typeface="Arial" panose="020B0604020202020204" pitchFamily="34" charset="0"/>
                <a:ea typeface="Arial" pitchFamily="34" charset="-122"/>
                <a:cs typeface="Arial" panose="020B0604020202020204" pitchFamily="34" charset="0"/>
              </a:rPr>
              <a:t>ID</a:t>
            </a:r>
            <a:endParaRPr lang="en-US" sz="1200" dirty="0">
              <a:solidFill>
                <a:schemeClr val="tx2"/>
              </a:solidFill>
              <a:latin typeface="Arial" panose="020B0604020202020204" pitchFamily="34" charset="0"/>
              <a:cs typeface="Arial" panose="020B0604020202020204" pitchFamily="34" charset="0"/>
            </a:endParaRPr>
          </a:p>
        </p:txBody>
      </p:sp>
      <p:sp>
        <p:nvSpPr>
          <p:cNvPr id="6" name="Shape 4"/>
          <p:cNvSpPr/>
          <p:nvPr/>
        </p:nvSpPr>
        <p:spPr>
          <a:xfrm>
            <a:off x="1234440" y="1097280"/>
            <a:ext cx="2286000" cy="365760"/>
          </a:xfrm>
          <a:prstGeom prst="rect">
            <a:avLst/>
          </a:prstGeom>
          <a:solidFill>
            <a:schemeClr val="bg2"/>
          </a:solidFill>
          <a:ln w="12700">
            <a:solidFill>
              <a:srgbClr val="0D1B2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7" name="Text 5"/>
          <p:cNvSpPr/>
          <p:nvPr/>
        </p:nvSpPr>
        <p:spPr>
          <a:xfrm>
            <a:off x="1234440" y="1097280"/>
            <a:ext cx="2286000" cy="365760"/>
          </a:xfrm>
          <a:prstGeom prst="rect">
            <a:avLst/>
          </a:prstGeom>
          <a:noFill/>
          <a:ln/>
        </p:spPr>
        <p:txBody>
          <a:bodyPr wrap="square" rtlCol="0" anchor="ctr"/>
          <a:lstStyle/>
          <a:p>
            <a:pPr marL="0" indent="0" algn="ctr">
              <a:buNone/>
            </a:pPr>
            <a:r>
              <a:rPr lang="en-US" sz="1200" b="1" dirty="0">
                <a:solidFill>
                  <a:schemeClr val="tx2"/>
                </a:solidFill>
                <a:latin typeface="Arial" panose="020B0604020202020204" pitchFamily="34" charset="0"/>
                <a:ea typeface="Arial" pitchFamily="34" charset="-122"/>
                <a:cs typeface="Arial" panose="020B0604020202020204" pitchFamily="34" charset="0"/>
              </a:rPr>
              <a:t>Name</a:t>
            </a:r>
            <a:endParaRPr lang="en-US" sz="1200" dirty="0">
              <a:solidFill>
                <a:schemeClr val="tx2"/>
              </a:solidFill>
              <a:latin typeface="Arial" panose="020B0604020202020204" pitchFamily="34" charset="0"/>
              <a:cs typeface="Arial" panose="020B0604020202020204" pitchFamily="34" charset="0"/>
            </a:endParaRPr>
          </a:p>
        </p:txBody>
      </p:sp>
      <p:sp>
        <p:nvSpPr>
          <p:cNvPr id="8" name="Shape 6"/>
          <p:cNvSpPr/>
          <p:nvPr/>
        </p:nvSpPr>
        <p:spPr>
          <a:xfrm>
            <a:off x="3566160" y="1097280"/>
            <a:ext cx="914400" cy="365760"/>
          </a:xfrm>
          <a:prstGeom prst="rect">
            <a:avLst/>
          </a:prstGeom>
          <a:solidFill>
            <a:schemeClr val="bg2"/>
          </a:solidFill>
          <a:ln w="12700">
            <a:solidFill>
              <a:srgbClr val="0D1B2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9" name="Text 7"/>
          <p:cNvSpPr/>
          <p:nvPr/>
        </p:nvSpPr>
        <p:spPr>
          <a:xfrm>
            <a:off x="3566160" y="1097280"/>
            <a:ext cx="914400" cy="365760"/>
          </a:xfrm>
          <a:prstGeom prst="rect">
            <a:avLst/>
          </a:prstGeom>
          <a:noFill/>
          <a:ln/>
        </p:spPr>
        <p:txBody>
          <a:bodyPr wrap="square" rtlCol="0" anchor="ctr"/>
          <a:lstStyle/>
          <a:p>
            <a:pPr marL="0" indent="0" algn="ctr">
              <a:buNone/>
            </a:pPr>
            <a:r>
              <a:rPr lang="en-US" sz="1200" b="1" dirty="0">
                <a:solidFill>
                  <a:schemeClr val="tx2"/>
                </a:solidFill>
                <a:latin typeface="Arial" panose="020B0604020202020204" pitchFamily="34" charset="0"/>
                <a:ea typeface="Arial" pitchFamily="34" charset="-122"/>
                <a:cs typeface="Arial" panose="020B0604020202020204" pitchFamily="34" charset="0"/>
              </a:rPr>
              <a:t>Tier</a:t>
            </a:r>
            <a:endParaRPr lang="en-US" sz="1200" dirty="0">
              <a:solidFill>
                <a:schemeClr val="tx2"/>
              </a:solidFill>
              <a:latin typeface="Arial" panose="020B0604020202020204" pitchFamily="34" charset="0"/>
              <a:cs typeface="Arial" panose="020B0604020202020204" pitchFamily="34" charset="0"/>
            </a:endParaRPr>
          </a:p>
        </p:txBody>
      </p:sp>
      <p:sp>
        <p:nvSpPr>
          <p:cNvPr id="10" name="Shape 8"/>
          <p:cNvSpPr/>
          <p:nvPr/>
        </p:nvSpPr>
        <p:spPr>
          <a:xfrm>
            <a:off x="4526280" y="1097280"/>
            <a:ext cx="2560320" cy="365760"/>
          </a:xfrm>
          <a:prstGeom prst="rect">
            <a:avLst/>
          </a:prstGeom>
          <a:solidFill>
            <a:schemeClr val="bg2"/>
          </a:solidFill>
          <a:ln w="12700">
            <a:solidFill>
              <a:srgbClr val="0D1B2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11" name="Text 9"/>
          <p:cNvSpPr/>
          <p:nvPr/>
        </p:nvSpPr>
        <p:spPr>
          <a:xfrm>
            <a:off x="4526280" y="1097280"/>
            <a:ext cx="2560320" cy="365760"/>
          </a:xfrm>
          <a:prstGeom prst="rect">
            <a:avLst/>
          </a:prstGeom>
          <a:noFill/>
          <a:ln/>
        </p:spPr>
        <p:txBody>
          <a:bodyPr wrap="square" rtlCol="0" anchor="ctr"/>
          <a:lstStyle/>
          <a:p>
            <a:pPr marL="0" indent="0" algn="ctr">
              <a:buNone/>
            </a:pPr>
            <a:r>
              <a:rPr lang="en-US" sz="1200" b="1" dirty="0">
                <a:solidFill>
                  <a:schemeClr val="tx2"/>
                </a:solidFill>
                <a:latin typeface="Arial" panose="020B0604020202020204" pitchFamily="34" charset="0"/>
                <a:ea typeface="Arial" pitchFamily="34" charset="-122"/>
                <a:cs typeface="Arial" panose="020B0604020202020204" pitchFamily="34" charset="0"/>
              </a:rPr>
              <a:t>Risk Segment</a:t>
            </a:r>
            <a:endParaRPr lang="en-US" sz="1200" dirty="0">
              <a:solidFill>
                <a:schemeClr val="tx2"/>
              </a:solidFill>
              <a:latin typeface="Arial" panose="020B0604020202020204" pitchFamily="34" charset="0"/>
              <a:cs typeface="Arial" panose="020B0604020202020204" pitchFamily="34" charset="0"/>
            </a:endParaRPr>
          </a:p>
        </p:txBody>
      </p:sp>
      <p:sp>
        <p:nvSpPr>
          <p:cNvPr id="12" name="Shape 10"/>
          <p:cNvSpPr/>
          <p:nvPr/>
        </p:nvSpPr>
        <p:spPr>
          <a:xfrm>
            <a:off x="7132320" y="1097280"/>
            <a:ext cx="1554480" cy="365760"/>
          </a:xfrm>
          <a:prstGeom prst="rect">
            <a:avLst/>
          </a:prstGeom>
          <a:solidFill>
            <a:schemeClr val="bg2"/>
          </a:solidFill>
          <a:ln w="12700">
            <a:solidFill>
              <a:srgbClr val="0D1B2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13" name="Text 11"/>
          <p:cNvSpPr/>
          <p:nvPr/>
        </p:nvSpPr>
        <p:spPr>
          <a:xfrm>
            <a:off x="7132320" y="1097280"/>
            <a:ext cx="1554480" cy="365760"/>
          </a:xfrm>
          <a:prstGeom prst="rect">
            <a:avLst/>
          </a:prstGeom>
          <a:noFill/>
          <a:ln/>
        </p:spPr>
        <p:txBody>
          <a:bodyPr wrap="square" rtlCol="0" anchor="ctr"/>
          <a:lstStyle/>
          <a:p>
            <a:pPr marL="0" indent="0" algn="ctr">
              <a:buNone/>
            </a:pPr>
            <a:r>
              <a:rPr lang="en-US" sz="1200" b="1" dirty="0">
                <a:solidFill>
                  <a:schemeClr val="tx2"/>
                </a:solidFill>
                <a:latin typeface="Arial" panose="020B0604020202020204" pitchFamily="34" charset="0"/>
                <a:ea typeface="Arial" pitchFamily="34" charset="-122"/>
                <a:cs typeface="Arial" panose="020B0604020202020204" pitchFamily="34" charset="0"/>
              </a:rPr>
              <a:t>NBA Decision</a:t>
            </a:r>
            <a:endParaRPr lang="en-US" sz="1200" dirty="0">
              <a:solidFill>
                <a:schemeClr val="tx2"/>
              </a:solidFill>
              <a:latin typeface="Arial" panose="020B0604020202020204" pitchFamily="34" charset="0"/>
              <a:cs typeface="Arial" panose="020B0604020202020204" pitchFamily="34" charset="0"/>
            </a:endParaRPr>
          </a:p>
        </p:txBody>
      </p:sp>
      <p:sp>
        <p:nvSpPr>
          <p:cNvPr id="14" name="Shape 12"/>
          <p:cNvSpPr/>
          <p:nvPr/>
        </p:nvSpPr>
        <p:spPr>
          <a:xfrm>
            <a:off x="548640" y="1508760"/>
            <a:ext cx="8138160" cy="457200"/>
          </a:xfrm>
          <a:prstGeom prst="rect">
            <a:avLst/>
          </a:prstGeom>
          <a:solidFill>
            <a:schemeClr val="bg2"/>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15" name="Text 13"/>
          <p:cNvSpPr/>
          <p:nvPr/>
        </p:nvSpPr>
        <p:spPr>
          <a:xfrm>
            <a:off x="594360" y="1581912"/>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T001</a:t>
            </a:r>
            <a:endParaRPr lang="en-US" sz="1200" b="1" dirty="0">
              <a:latin typeface="Arial" panose="020B0604020202020204" pitchFamily="34" charset="0"/>
              <a:cs typeface="Arial" panose="020B0604020202020204" pitchFamily="34" charset="0"/>
            </a:endParaRPr>
          </a:p>
        </p:txBody>
      </p:sp>
      <p:sp>
        <p:nvSpPr>
          <p:cNvPr id="16" name="Text 14"/>
          <p:cNvSpPr/>
          <p:nvPr/>
        </p:nvSpPr>
        <p:spPr>
          <a:xfrm>
            <a:off x="1280160" y="1581912"/>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Alok Saxena</a:t>
            </a:r>
            <a:endParaRPr lang="en-US" sz="1200" b="1" dirty="0">
              <a:latin typeface="Arial" panose="020B0604020202020204" pitchFamily="34" charset="0"/>
              <a:cs typeface="Arial" panose="020B0604020202020204" pitchFamily="34" charset="0"/>
            </a:endParaRPr>
          </a:p>
        </p:txBody>
      </p:sp>
      <p:sp>
        <p:nvSpPr>
          <p:cNvPr id="17" name="Text 15"/>
          <p:cNvSpPr/>
          <p:nvPr/>
        </p:nvSpPr>
        <p:spPr>
          <a:xfrm>
            <a:off x="3611880" y="1581912"/>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Platinum</a:t>
            </a:r>
            <a:endParaRPr lang="en-US" sz="1200" b="1" dirty="0">
              <a:latin typeface="Arial" panose="020B0604020202020204" pitchFamily="34" charset="0"/>
              <a:cs typeface="Arial" panose="020B0604020202020204" pitchFamily="34" charset="0"/>
            </a:endParaRPr>
          </a:p>
        </p:txBody>
      </p:sp>
      <p:sp>
        <p:nvSpPr>
          <p:cNvPr id="18" name="Text 16"/>
          <p:cNvSpPr/>
          <p:nvPr/>
        </p:nvSpPr>
        <p:spPr>
          <a:xfrm>
            <a:off x="4572000" y="1581912"/>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Support-Fatigued</a:t>
            </a:r>
            <a:endParaRPr lang="en-US" sz="1200" b="1" dirty="0">
              <a:latin typeface="Arial" panose="020B0604020202020204" pitchFamily="34" charset="0"/>
              <a:cs typeface="Arial" panose="020B0604020202020204" pitchFamily="34" charset="0"/>
            </a:endParaRPr>
          </a:p>
        </p:txBody>
      </p:sp>
      <p:sp>
        <p:nvSpPr>
          <p:cNvPr id="19" name="Text 17"/>
          <p:cNvSpPr/>
          <p:nvPr/>
        </p:nvSpPr>
        <p:spPr>
          <a:xfrm>
            <a:off x="7178040" y="1581912"/>
            <a:ext cx="1481328" cy="320040"/>
          </a:xfrm>
          <a:prstGeom prst="rect">
            <a:avLst/>
          </a:prstGeom>
          <a:noFill/>
          <a:ln/>
        </p:spPr>
        <p:txBody>
          <a:bodyPr wrap="square" rtlCol="0" anchor="ctr"/>
          <a:lstStyle/>
          <a:p>
            <a:pPr marL="0" indent="0" algn="ctr">
              <a:buNone/>
            </a:pPr>
            <a:r>
              <a:rPr lang="en-US" sz="1200" b="1" dirty="0">
                <a:solidFill>
                  <a:srgbClr val="C0392B"/>
                </a:solidFill>
                <a:latin typeface="Arial" panose="020B0604020202020204" pitchFamily="34" charset="0"/>
                <a:ea typeface="Arial" pitchFamily="34" charset="-122"/>
                <a:cs typeface="Arial" panose="020B0604020202020204" pitchFamily="34" charset="0"/>
              </a:rPr>
              <a:t>ESCALATE</a:t>
            </a:r>
            <a:endParaRPr lang="en-US" sz="1200" b="1" dirty="0">
              <a:latin typeface="Arial" panose="020B0604020202020204" pitchFamily="34" charset="0"/>
              <a:cs typeface="Arial" panose="020B0604020202020204" pitchFamily="34" charset="0"/>
            </a:endParaRPr>
          </a:p>
        </p:txBody>
      </p:sp>
      <p:sp>
        <p:nvSpPr>
          <p:cNvPr id="20" name="Shape 18"/>
          <p:cNvSpPr/>
          <p:nvPr/>
        </p:nvSpPr>
        <p:spPr>
          <a:xfrm>
            <a:off x="548640" y="1984248"/>
            <a:ext cx="8138160" cy="457200"/>
          </a:xfrm>
          <a:prstGeom prst="rect">
            <a:avLst/>
          </a:prstGeom>
          <a:solidFill>
            <a:srgbClr val="F6F7F9"/>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21" name="Text 19"/>
          <p:cNvSpPr/>
          <p:nvPr/>
        </p:nvSpPr>
        <p:spPr>
          <a:xfrm>
            <a:off x="594360" y="2057400"/>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T002</a:t>
            </a:r>
            <a:endParaRPr lang="en-US" sz="1200" b="1" dirty="0">
              <a:latin typeface="Arial" panose="020B0604020202020204" pitchFamily="34" charset="0"/>
              <a:cs typeface="Arial" panose="020B0604020202020204" pitchFamily="34" charset="0"/>
            </a:endParaRPr>
          </a:p>
        </p:txBody>
      </p:sp>
      <p:sp>
        <p:nvSpPr>
          <p:cNvPr id="22" name="Text 20"/>
          <p:cNvSpPr/>
          <p:nvPr/>
        </p:nvSpPr>
        <p:spPr>
          <a:xfrm>
            <a:off x="1280160" y="2057400"/>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Bhavana Reddy</a:t>
            </a:r>
            <a:endParaRPr lang="en-US" sz="1200" b="1" dirty="0">
              <a:latin typeface="Arial" panose="020B0604020202020204" pitchFamily="34" charset="0"/>
              <a:cs typeface="Arial" panose="020B0604020202020204" pitchFamily="34" charset="0"/>
            </a:endParaRPr>
          </a:p>
        </p:txBody>
      </p:sp>
      <p:sp>
        <p:nvSpPr>
          <p:cNvPr id="23" name="Text 21"/>
          <p:cNvSpPr/>
          <p:nvPr/>
        </p:nvSpPr>
        <p:spPr>
          <a:xfrm>
            <a:off x="3611880" y="2057400"/>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Silver</a:t>
            </a:r>
            <a:endParaRPr lang="en-US" sz="1200" b="1" dirty="0">
              <a:latin typeface="Arial" panose="020B0604020202020204" pitchFamily="34" charset="0"/>
              <a:cs typeface="Arial" panose="020B0604020202020204" pitchFamily="34" charset="0"/>
            </a:endParaRPr>
          </a:p>
        </p:txBody>
      </p:sp>
      <p:sp>
        <p:nvSpPr>
          <p:cNvPr id="24" name="Text 22"/>
          <p:cNvSpPr/>
          <p:nvPr/>
        </p:nvSpPr>
        <p:spPr>
          <a:xfrm>
            <a:off x="4572000" y="2057400"/>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Competitor-Switched</a:t>
            </a:r>
            <a:endParaRPr lang="en-US" sz="1200" b="1" dirty="0">
              <a:latin typeface="Arial" panose="020B0604020202020204" pitchFamily="34" charset="0"/>
              <a:cs typeface="Arial" panose="020B0604020202020204" pitchFamily="34" charset="0"/>
            </a:endParaRPr>
          </a:p>
        </p:txBody>
      </p:sp>
      <p:sp>
        <p:nvSpPr>
          <p:cNvPr id="25" name="Text 23"/>
          <p:cNvSpPr/>
          <p:nvPr/>
        </p:nvSpPr>
        <p:spPr>
          <a:xfrm>
            <a:off x="7178040" y="2057400"/>
            <a:ext cx="1481328" cy="320040"/>
          </a:xfrm>
          <a:prstGeom prst="rect">
            <a:avLst/>
          </a:prstGeom>
          <a:noFill/>
          <a:ln/>
        </p:spPr>
        <p:txBody>
          <a:bodyPr wrap="square" rtlCol="0" anchor="ctr"/>
          <a:lstStyle/>
          <a:p>
            <a:pPr marL="0" indent="0" algn="ctr">
              <a:buNone/>
            </a:pPr>
            <a:r>
              <a:rPr lang="en-US" sz="1200" b="1" dirty="0">
                <a:solidFill>
                  <a:srgbClr val="1A6B3A"/>
                </a:solidFill>
                <a:latin typeface="Arial" panose="020B0604020202020204" pitchFamily="34" charset="0"/>
                <a:ea typeface="Arial" pitchFamily="34" charset="-122"/>
                <a:cs typeface="Arial" panose="020B0604020202020204" pitchFamily="34" charset="0"/>
              </a:rPr>
              <a:t>NURTURE</a:t>
            </a:r>
            <a:endParaRPr lang="en-US" sz="1200" b="1" dirty="0">
              <a:latin typeface="Arial" panose="020B0604020202020204" pitchFamily="34" charset="0"/>
              <a:cs typeface="Arial" panose="020B0604020202020204" pitchFamily="34" charset="0"/>
            </a:endParaRPr>
          </a:p>
        </p:txBody>
      </p:sp>
      <p:sp>
        <p:nvSpPr>
          <p:cNvPr id="26" name="Shape 24"/>
          <p:cNvSpPr/>
          <p:nvPr/>
        </p:nvSpPr>
        <p:spPr>
          <a:xfrm>
            <a:off x="548640" y="2459736"/>
            <a:ext cx="8138160" cy="457200"/>
          </a:xfrm>
          <a:prstGeom prst="rect">
            <a:avLst/>
          </a:prstGeom>
          <a:solidFill>
            <a:schemeClr val="bg2"/>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27" name="Text 25"/>
          <p:cNvSpPr/>
          <p:nvPr/>
        </p:nvSpPr>
        <p:spPr>
          <a:xfrm>
            <a:off x="594360" y="2532888"/>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T003</a:t>
            </a:r>
            <a:endParaRPr lang="en-US" sz="1200" b="1" dirty="0">
              <a:latin typeface="Arial" panose="020B0604020202020204" pitchFamily="34" charset="0"/>
              <a:cs typeface="Arial" panose="020B0604020202020204" pitchFamily="34" charset="0"/>
            </a:endParaRPr>
          </a:p>
        </p:txBody>
      </p:sp>
      <p:sp>
        <p:nvSpPr>
          <p:cNvPr id="28" name="Text 26"/>
          <p:cNvSpPr/>
          <p:nvPr/>
        </p:nvSpPr>
        <p:spPr>
          <a:xfrm>
            <a:off x="1280160" y="2532888"/>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Chirag Patel</a:t>
            </a:r>
            <a:endParaRPr lang="en-US" sz="1200" b="1" dirty="0">
              <a:latin typeface="Arial" panose="020B0604020202020204" pitchFamily="34" charset="0"/>
              <a:cs typeface="Arial" panose="020B0604020202020204" pitchFamily="34" charset="0"/>
            </a:endParaRPr>
          </a:p>
        </p:txBody>
      </p:sp>
      <p:sp>
        <p:nvSpPr>
          <p:cNvPr id="29" name="Text 27"/>
          <p:cNvSpPr/>
          <p:nvPr/>
        </p:nvSpPr>
        <p:spPr>
          <a:xfrm>
            <a:off x="3611880" y="2532888"/>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Gold</a:t>
            </a:r>
            <a:endParaRPr lang="en-US" sz="1200" b="1" dirty="0">
              <a:latin typeface="Arial" panose="020B0604020202020204" pitchFamily="34" charset="0"/>
              <a:cs typeface="Arial" panose="020B0604020202020204" pitchFamily="34" charset="0"/>
            </a:endParaRPr>
          </a:p>
        </p:txBody>
      </p:sp>
      <p:sp>
        <p:nvSpPr>
          <p:cNvPr id="30" name="Text 28"/>
          <p:cNvSpPr/>
          <p:nvPr/>
        </p:nvSpPr>
        <p:spPr>
          <a:xfrm>
            <a:off x="4572000" y="2532888"/>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Healthy</a:t>
            </a:r>
            <a:endParaRPr lang="en-US" sz="1200" b="1" dirty="0">
              <a:latin typeface="Arial" panose="020B0604020202020204" pitchFamily="34" charset="0"/>
              <a:cs typeface="Arial" panose="020B0604020202020204" pitchFamily="34" charset="0"/>
            </a:endParaRPr>
          </a:p>
        </p:txBody>
      </p:sp>
      <p:sp>
        <p:nvSpPr>
          <p:cNvPr id="31" name="Text 29"/>
          <p:cNvSpPr/>
          <p:nvPr/>
        </p:nvSpPr>
        <p:spPr>
          <a:xfrm>
            <a:off x="7178040" y="2532888"/>
            <a:ext cx="1481328" cy="320040"/>
          </a:xfrm>
          <a:prstGeom prst="rect">
            <a:avLst/>
          </a:prstGeom>
          <a:noFill/>
          <a:ln/>
        </p:spPr>
        <p:txBody>
          <a:bodyPr wrap="square" rtlCol="0" anchor="ctr"/>
          <a:lstStyle/>
          <a:p>
            <a:pPr marL="0" indent="0" algn="ctr">
              <a:buNone/>
            </a:pPr>
            <a:r>
              <a:rPr lang="en-US" sz="1200" b="1" dirty="0">
                <a:solidFill>
                  <a:srgbClr val="155E75"/>
                </a:solidFill>
                <a:latin typeface="Arial" panose="020B0604020202020204" pitchFamily="34" charset="0"/>
                <a:ea typeface="Arial" pitchFamily="34" charset="-122"/>
                <a:cs typeface="Arial" panose="020B0604020202020204" pitchFamily="34" charset="0"/>
              </a:rPr>
              <a:t>HOLD</a:t>
            </a:r>
            <a:endParaRPr lang="en-US" sz="1200" b="1" dirty="0">
              <a:latin typeface="Arial" panose="020B0604020202020204" pitchFamily="34" charset="0"/>
              <a:cs typeface="Arial" panose="020B0604020202020204" pitchFamily="34" charset="0"/>
            </a:endParaRPr>
          </a:p>
        </p:txBody>
      </p:sp>
      <p:sp>
        <p:nvSpPr>
          <p:cNvPr id="32" name="Shape 30"/>
          <p:cNvSpPr/>
          <p:nvPr/>
        </p:nvSpPr>
        <p:spPr>
          <a:xfrm>
            <a:off x="548640" y="2935224"/>
            <a:ext cx="8138160" cy="457200"/>
          </a:xfrm>
          <a:prstGeom prst="rect">
            <a:avLst/>
          </a:prstGeom>
          <a:solidFill>
            <a:srgbClr val="F6F7F9"/>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33" name="Text 31"/>
          <p:cNvSpPr/>
          <p:nvPr/>
        </p:nvSpPr>
        <p:spPr>
          <a:xfrm>
            <a:off x="594360" y="3008376"/>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T004</a:t>
            </a:r>
            <a:endParaRPr lang="en-US" sz="1200" b="1" dirty="0">
              <a:latin typeface="Arial" panose="020B0604020202020204" pitchFamily="34" charset="0"/>
              <a:cs typeface="Arial" panose="020B0604020202020204" pitchFamily="34" charset="0"/>
            </a:endParaRPr>
          </a:p>
        </p:txBody>
      </p:sp>
      <p:sp>
        <p:nvSpPr>
          <p:cNvPr id="34" name="Text 32"/>
          <p:cNvSpPr/>
          <p:nvPr/>
        </p:nvSpPr>
        <p:spPr>
          <a:xfrm>
            <a:off x="1280160" y="3008376"/>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Deepa Nambiar</a:t>
            </a:r>
            <a:endParaRPr lang="en-US" sz="1200" b="1" dirty="0">
              <a:latin typeface="Arial" panose="020B0604020202020204" pitchFamily="34" charset="0"/>
              <a:cs typeface="Arial" panose="020B0604020202020204" pitchFamily="34" charset="0"/>
            </a:endParaRPr>
          </a:p>
        </p:txBody>
      </p:sp>
      <p:sp>
        <p:nvSpPr>
          <p:cNvPr id="35" name="Text 33"/>
          <p:cNvSpPr/>
          <p:nvPr/>
        </p:nvSpPr>
        <p:spPr>
          <a:xfrm>
            <a:off x="3611880" y="3008376"/>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Silver</a:t>
            </a:r>
            <a:endParaRPr lang="en-US" sz="1200" b="1" dirty="0">
              <a:latin typeface="Arial" panose="020B0604020202020204" pitchFamily="34" charset="0"/>
              <a:cs typeface="Arial" panose="020B0604020202020204" pitchFamily="34" charset="0"/>
            </a:endParaRPr>
          </a:p>
        </p:txBody>
      </p:sp>
      <p:sp>
        <p:nvSpPr>
          <p:cNvPr id="36" name="Text 34"/>
          <p:cNvSpPr/>
          <p:nvPr/>
        </p:nvSpPr>
        <p:spPr>
          <a:xfrm>
            <a:off x="4572000" y="3008376"/>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Disengaged</a:t>
            </a:r>
            <a:endParaRPr lang="en-US" sz="1200" b="1" dirty="0">
              <a:latin typeface="Arial" panose="020B0604020202020204" pitchFamily="34" charset="0"/>
              <a:cs typeface="Arial" panose="020B0604020202020204" pitchFamily="34" charset="0"/>
            </a:endParaRPr>
          </a:p>
        </p:txBody>
      </p:sp>
      <p:sp>
        <p:nvSpPr>
          <p:cNvPr id="37" name="Text 35"/>
          <p:cNvSpPr/>
          <p:nvPr/>
        </p:nvSpPr>
        <p:spPr>
          <a:xfrm>
            <a:off x="7178040" y="3008376"/>
            <a:ext cx="1481328" cy="320040"/>
          </a:xfrm>
          <a:prstGeom prst="rect">
            <a:avLst/>
          </a:prstGeom>
          <a:noFill/>
          <a:ln/>
        </p:spPr>
        <p:txBody>
          <a:bodyPr wrap="square" rtlCol="0" anchor="ctr"/>
          <a:lstStyle/>
          <a:p>
            <a:pPr marL="0" indent="0" algn="ctr">
              <a:buNone/>
            </a:pPr>
            <a:r>
              <a:rPr lang="en-US" sz="1200" b="1" dirty="0">
                <a:solidFill>
                  <a:srgbClr val="1A6B3A"/>
                </a:solidFill>
                <a:latin typeface="Arial" panose="020B0604020202020204" pitchFamily="34" charset="0"/>
                <a:ea typeface="Arial" pitchFamily="34" charset="-122"/>
                <a:cs typeface="Arial" panose="020B0604020202020204" pitchFamily="34" charset="0"/>
              </a:rPr>
              <a:t>NURTURE</a:t>
            </a:r>
            <a:endParaRPr lang="en-US" sz="1200" b="1" dirty="0">
              <a:latin typeface="Arial" panose="020B0604020202020204" pitchFamily="34" charset="0"/>
              <a:cs typeface="Arial" panose="020B0604020202020204" pitchFamily="34" charset="0"/>
            </a:endParaRPr>
          </a:p>
        </p:txBody>
      </p:sp>
      <p:sp>
        <p:nvSpPr>
          <p:cNvPr id="38" name="Shape 36"/>
          <p:cNvSpPr/>
          <p:nvPr/>
        </p:nvSpPr>
        <p:spPr>
          <a:xfrm>
            <a:off x="548640" y="3410712"/>
            <a:ext cx="8138160" cy="457200"/>
          </a:xfrm>
          <a:prstGeom prst="rect">
            <a:avLst/>
          </a:prstGeom>
          <a:solidFill>
            <a:schemeClr val="bg2"/>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39" name="Text 37"/>
          <p:cNvSpPr/>
          <p:nvPr/>
        </p:nvSpPr>
        <p:spPr>
          <a:xfrm>
            <a:off x="594360" y="3483864"/>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T005</a:t>
            </a:r>
            <a:endParaRPr lang="en-US" sz="1200" b="1" dirty="0">
              <a:latin typeface="Arial" panose="020B0604020202020204" pitchFamily="34" charset="0"/>
              <a:cs typeface="Arial" panose="020B0604020202020204" pitchFamily="34" charset="0"/>
            </a:endParaRPr>
          </a:p>
        </p:txBody>
      </p:sp>
      <p:sp>
        <p:nvSpPr>
          <p:cNvPr id="40" name="Text 38"/>
          <p:cNvSpPr/>
          <p:nvPr/>
        </p:nvSpPr>
        <p:spPr>
          <a:xfrm>
            <a:off x="1280160" y="3483864"/>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Farhan Qureshi</a:t>
            </a:r>
            <a:endParaRPr lang="en-US" sz="1200" b="1" dirty="0">
              <a:latin typeface="Arial" panose="020B0604020202020204" pitchFamily="34" charset="0"/>
              <a:cs typeface="Arial" panose="020B0604020202020204" pitchFamily="34" charset="0"/>
            </a:endParaRPr>
          </a:p>
        </p:txBody>
      </p:sp>
      <p:sp>
        <p:nvSpPr>
          <p:cNvPr id="41" name="Text 39"/>
          <p:cNvSpPr/>
          <p:nvPr/>
        </p:nvSpPr>
        <p:spPr>
          <a:xfrm>
            <a:off x="3611880" y="3483864"/>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Gold</a:t>
            </a:r>
            <a:endParaRPr lang="en-US" sz="1200" b="1" dirty="0">
              <a:latin typeface="Arial" panose="020B0604020202020204" pitchFamily="34" charset="0"/>
              <a:cs typeface="Arial" panose="020B0604020202020204" pitchFamily="34" charset="0"/>
            </a:endParaRPr>
          </a:p>
        </p:txBody>
      </p:sp>
      <p:sp>
        <p:nvSpPr>
          <p:cNvPr id="42" name="Text 40"/>
          <p:cNvSpPr/>
          <p:nvPr/>
        </p:nvSpPr>
        <p:spPr>
          <a:xfrm>
            <a:off x="4572000" y="3483864"/>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Support-Fatigued</a:t>
            </a:r>
            <a:endParaRPr lang="en-US" sz="1200" b="1" dirty="0">
              <a:latin typeface="Arial" panose="020B0604020202020204" pitchFamily="34" charset="0"/>
              <a:cs typeface="Arial" panose="020B0604020202020204" pitchFamily="34" charset="0"/>
            </a:endParaRPr>
          </a:p>
        </p:txBody>
      </p:sp>
      <p:sp>
        <p:nvSpPr>
          <p:cNvPr id="43" name="Text 41"/>
          <p:cNvSpPr/>
          <p:nvPr/>
        </p:nvSpPr>
        <p:spPr>
          <a:xfrm>
            <a:off x="7178040" y="3483864"/>
            <a:ext cx="1481328" cy="320040"/>
          </a:xfrm>
          <a:prstGeom prst="rect">
            <a:avLst/>
          </a:prstGeom>
          <a:noFill/>
          <a:ln/>
        </p:spPr>
        <p:txBody>
          <a:bodyPr wrap="square" rtlCol="0" anchor="ctr"/>
          <a:lstStyle/>
          <a:p>
            <a:pPr marL="0" indent="0" algn="ctr">
              <a:buNone/>
            </a:pPr>
            <a:r>
              <a:rPr lang="en-US" sz="1200" b="1" dirty="0">
                <a:solidFill>
                  <a:srgbClr val="C0392B"/>
                </a:solidFill>
                <a:latin typeface="Arial" panose="020B0604020202020204" pitchFamily="34" charset="0"/>
                <a:ea typeface="Arial" pitchFamily="34" charset="-122"/>
                <a:cs typeface="Arial" panose="020B0604020202020204" pitchFamily="34" charset="0"/>
              </a:rPr>
              <a:t>ESCALATE</a:t>
            </a:r>
            <a:endParaRPr lang="en-US" sz="1200" b="1" dirty="0">
              <a:latin typeface="Arial" panose="020B0604020202020204" pitchFamily="34" charset="0"/>
              <a:cs typeface="Arial" panose="020B0604020202020204" pitchFamily="34" charset="0"/>
            </a:endParaRPr>
          </a:p>
        </p:txBody>
      </p:sp>
      <p:sp>
        <p:nvSpPr>
          <p:cNvPr id="44" name="Shape 42"/>
          <p:cNvSpPr/>
          <p:nvPr/>
        </p:nvSpPr>
        <p:spPr>
          <a:xfrm>
            <a:off x="548640" y="3886200"/>
            <a:ext cx="8138160" cy="457200"/>
          </a:xfrm>
          <a:prstGeom prst="rect">
            <a:avLst/>
          </a:prstGeom>
          <a:solidFill>
            <a:srgbClr val="F6F7F9"/>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45" name="Text 43"/>
          <p:cNvSpPr/>
          <p:nvPr/>
        </p:nvSpPr>
        <p:spPr>
          <a:xfrm>
            <a:off x="594360" y="3959352"/>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T006</a:t>
            </a:r>
            <a:endParaRPr lang="en-US" sz="1200" b="1" dirty="0">
              <a:latin typeface="Arial" panose="020B0604020202020204" pitchFamily="34" charset="0"/>
              <a:cs typeface="Arial" panose="020B0604020202020204" pitchFamily="34" charset="0"/>
            </a:endParaRPr>
          </a:p>
        </p:txBody>
      </p:sp>
      <p:sp>
        <p:nvSpPr>
          <p:cNvPr id="46" name="Text 44"/>
          <p:cNvSpPr/>
          <p:nvPr/>
        </p:nvSpPr>
        <p:spPr>
          <a:xfrm>
            <a:off x="1280160" y="3959352"/>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Geetha Subramaniam</a:t>
            </a:r>
            <a:endParaRPr lang="en-US" sz="1200" b="1" dirty="0">
              <a:latin typeface="Arial" panose="020B0604020202020204" pitchFamily="34" charset="0"/>
              <a:cs typeface="Arial" panose="020B0604020202020204" pitchFamily="34" charset="0"/>
            </a:endParaRPr>
          </a:p>
        </p:txBody>
      </p:sp>
      <p:sp>
        <p:nvSpPr>
          <p:cNvPr id="47" name="Text 45"/>
          <p:cNvSpPr/>
          <p:nvPr/>
        </p:nvSpPr>
        <p:spPr>
          <a:xfrm>
            <a:off x="3611880" y="3959352"/>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Silver</a:t>
            </a:r>
            <a:endParaRPr lang="en-US" sz="1200" b="1" dirty="0">
              <a:latin typeface="Arial" panose="020B0604020202020204" pitchFamily="34" charset="0"/>
              <a:cs typeface="Arial" panose="020B0604020202020204" pitchFamily="34" charset="0"/>
            </a:endParaRPr>
          </a:p>
        </p:txBody>
      </p:sp>
      <p:sp>
        <p:nvSpPr>
          <p:cNvPr id="48" name="Text 46"/>
          <p:cNvSpPr/>
          <p:nvPr/>
        </p:nvSpPr>
        <p:spPr>
          <a:xfrm>
            <a:off x="4572000" y="3959352"/>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Support-Fatigued</a:t>
            </a:r>
            <a:endParaRPr lang="en-US" sz="1200" b="1" dirty="0">
              <a:latin typeface="Arial" panose="020B0604020202020204" pitchFamily="34" charset="0"/>
              <a:cs typeface="Arial" panose="020B0604020202020204" pitchFamily="34" charset="0"/>
            </a:endParaRPr>
          </a:p>
        </p:txBody>
      </p:sp>
      <p:sp>
        <p:nvSpPr>
          <p:cNvPr id="49" name="Text 47"/>
          <p:cNvSpPr/>
          <p:nvPr/>
        </p:nvSpPr>
        <p:spPr>
          <a:xfrm>
            <a:off x="7178040" y="3959352"/>
            <a:ext cx="1481328" cy="320040"/>
          </a:xfrm>
          <a:prstGeom prst="rect">
            <a:avLst/>
          </a:prstGeom>
          <a:noFill/>
          <a:ln/>
        </p:spPr>
        <p:txBody>
          <a:bodyPr wrap="square" rtlCol="0" anchor="ctr"/>
          <a:lstStyle/>
          <a:p>
            <a:pPr marL="0" indent="0" algn="ctr">
              <a:buNone/>
            </a:pPr>
            <a:r>
              <a:rPr lang="en-US" sz="1200" b="1" dirty="0">
                <a:solidFill>
                  <a:srgbClr val="C0392B"/>
                </a:solidFill>
                <a:latin typeface="Arial" panose="020B0604020202020204" pitchFamily="34" charset="0"/>
                <a:ea typeface="Arial" pitchFamily="34" charset="-122"/>
                <a:cs typeface="Arial" panose="020B0604020202020204" pitchFamily="34" charset="0"/>
              </a:rPr>
              <a:t>ESCALATE</a:t>
            </a:r>
            <a:endParaRPr lang="en-US" sz="1200" b="1" dirty="0">
              <a:latin typeface="Arial" panose="020B0604020202020204" pitchFamily="34" charset="0"/>
              <a:cs typeface="Arial" panose="020B0604020202020204" pitchFamily="34" charset="0"/>
            </a:endParaRPr>
          </a:p>
        </p:txBody>
      </p:sp>
      <p:sp>
        <p:nvSpPr>
          <p:cNvPr id="50" name="Shape 48"/>
          <p:cNvSpPr/>
          <p:nvPr/>
        </p:nvSpPr>
        <p:spPr>
          <a:xfrm>
            <a:off x="548640" y="4361688"/>
            <a:ext cx="8138160" cy="457200"/>
          </a:xfrm>
          <a:prstGeom prst="rect">
            <a:avLst/>
          </a:prstGeom>
          <a:solidFill>
            <a:schemeClr val="bg2"/>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51" name="Text 49"/>
          <p:cNvSpPr/>
          <p:nvPr/>
        </p:nvSpPr>
        <p:spPr>
          <a:xfrm>
            <a:off x="594360" y="4434840"/>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T007</a:t>
            </a:r>
            <a:endParaRPr lang="en-US" sz="1200" b="1" dirty="0">
              <a:latin typeface="Arial" panose="020B0604020202020204" pitchFamily="34" charset="0"/>
              <a:cs typeface="Arial" panose="020B0604020202020204" pitchFamily="34" charset="0"/>
            </a:endParaRPr>
          </a:p>
        </p:txBody>
      </p:sp>
      <p:sp>
        <p:nvSpPr>
          <p:cNvPr id="52" name="Text 50"/>
          <p:cNvSpPr/>
          <p:nvPr/>
        </p:nvSpPr>
        <p:spPr>
          <a:xfrm>
            <a:off x="1280160" y="4434840"/>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Harish Malhotra</a:t>
            </a:r>
            <a:endParaRPr lang="en-US" sz="1200" b="1" dirty="0">
              <a:latin typeface="Arial" panose="020B0604020202020204" pitchFamily="34" charset="0"/>
              <a:cs typeface="Arial" panose="020B0604020202020204" pitchFamily="34" charset="0"/>
            </a:endParaRPr>
          </a:p>
        </p:txBody>
      </p:sp>
      <p:sp>
        <p:nvSpPr>
          <p:cNvPr id="53" name="Text 51"/>
          <p:cNvSpPr/>
          <p:nvPr/>
        </p:nvSpPr>
        <p:spPr>
          <a:xfrm>
            <a:off x="3611880" y="4434840"/>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Platinum</a:t>
            </a:r>
            <a:endParaRPr lang="en-US" sz="1200" b="1" dirty="0">
              <a:latin typeface="Arial" panose="020B0604020202020204" pitchFamily="34" charset="0"/>
              <a:cs typeface="Arial" panose="020B0604020202020204" pitchFamily="34" charset="0"/>
            </a:endParaRPr>
          </a:p>
        </p:txBody>
      </p:sp>
      <p:sp>
        <p:nvSpPr>
          <p:cNvPr id="54" name="Text 52"/>
          <p:cNvSpPr/>
          <p:nvPr/>
        </p:nvSpPr>
        <p:spPr>
          <a:xfrm>
            <a:off x="4572000" y="4434840"/>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Healthy</a:t>
            </a:r>
            <a:endParaRPr lang="en-US" sz="1200" b="1" dirty="0">
              <a:latin typeface="Arial" panose="020B0604020202020204" pitchFamily="34" charset="0"/>
              <a:cs typeface="Arial" panose="020B0604020202020204" pitchFamily="34" charset="0"/>
            </a:endParaRPr>
          </a:p>
        </p:txBody>
      </p:sp>
      <p:sp>
        <p:nvSpPr>
          <p:cNvPr id="55" name="Text 53"/>
          <p:cNvSpPr/>
          <p:nvPr/>
        </p:nvSpPr>
        <p:spPr>
          <a:xfrm>
            <a:off x="7178040" y="4434840"/>
            <a:ext cx="1481328" cy="320040"/>
          </a:xfrm>
          <a:prstGeom prst="rect">
            <a:avLst/>
          </a:prstGeom>
          <a:noFill/>
          <a:ln/>
        </p:spPr>
        <p:txBody>
          <a:bodyPr wrap="square" rtlCol="0" anchor="ctr"/>
          <a:lstStyle/>
          <a:p>
            <a:pPr marL="0" indent="0" algn="ctr">
              <a:buNone/>
            </a:pPr>
            <a:r>
              <a:rPr lang="en-US" sz="1200" b="1" dirty="0">
                <a:solidFill>
                  <a:srgbClr val="155E75"/>
                </a:solidFill>
                <a:latin typeface="Arial" panose="020B0604020202020204" pitchFamily="34" charset="0"/>
                <a:ea typeface="Arial" pitchFamily="34" charset="-122"/>
                <a:cs typeface="Arial" panose="020B0604020202020204" pitchFamily="34" charset="0"/>
              </a:rPr>
              <a:t>HOLD</a:t>
            </a:r>
            <a:endParaRPr lang="en-US" sz="1200" b="1" dirty="0">
              <a:latin typeface="Arial" panose="020B0604020202020204" pitchFamily="34" charset="0"/>
              <a:cs typeface="Arial" panose="020B0604020202020204" pitchFamily="34" charset="0"/>
            </a:endParaRPr>
          </a:p>
        </p:txBody>
      </p:sp>
      <p:sp>
        <p:nvSpPr>
          <p:cNvPr id="56" name="Shape 54"/>
          <p:cNvSpPr/>
          <p:nvPr/>
        </p:nvSpPr>
        <p:spPr>
          <a:xfrm>
            <a:off x="548640" y="4837176"/>
            <a:ext cx="8138160" cy="457200"/>
          </a:xfrm>
          <a:prstGeom prst="rect">
            <a:avLst/>
          </a:prstGeom>
          <a:solidFill>
            <a:srgbClr val="F6F7F9"/>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57" name="Text 55"/>
          <p:cNvSpPr/>
          <p:nvPr/>
        </p:nvSpPr>
        <p:spPr>
          <a:xfrm>
            <a:off x="594360" y="4910328"/>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T008</a:t>
            </a:r>
            <a:endParaRPr lang="en-US" sz="1200" b="1" dirty="0">
              <a:latin typeface="Arial" panose="020B0604020202020204" pitchFamily="34" charset="0"/>
              <a:cs typeface="Arial" panose="020B0604020202020204" pitchFamily="34" charset="0"/>
            </a:endParaRPr>
          </a:p>
        </p:txBody>
      </p:sp>
      <p:sp>
        <p:nvSpPr>
          <p:cNvPr id="58" name="Text 56"/>
          <p:cNvSpPr/>
          <p:nvPr/>
        </p:nvSpPr>
        <p:spPr>
          <a:xfrm>
            <a:off x="1280160" y="4910328"/>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Ishita Banerjee</a:t>
            </a:r>
            <a:endParaRPr lang="en-US" sz="1200" b="1" dirty="0">
              <a:latin typeface="Arial" panose="020B0604020202020204" pitchFamily="34" charset="0"/>
              <a:cs typeface="Arial" panose="020B0604020202020204" pitchFamily="34" charset="0"/>
            </a:endParaRPr>
          </a:p>
        </p:txBody>
      </p:sp>
      <p:sp>
        <p:nvSpPr>
          <p:cNvPr id="59" name="Text 57"/>
          <p:cNvSpPr/>
          <p:nvPr/>
        </p:nvSpPr>
        <p:spPr>
          <a:xfrm>
            <a:off x="3611880" y="4910328"/>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Bronze</a:t>
            </a:r>
            <a:endParaRPr lang="en-US" sz="1200" b="1" dirty="0">
              <a:latin typeface="Arial" panose="020B0604020202020204" pitchFamily="34" charset="0"/>
              <a:cs typeface="Arial" panose="020B0604020202020204" pitchFamily="34" charset="0"/>
            </a:endParaRPr>
          </a:p>
        </p:txBody>
      </p:sp>
      <p:sp>
        <p:nvSpPr>
          <p:cNvPr id="60" name="Text 58"/>
          <p:cNvSpPr/>
          <p:nvPr/>
        </p:nvSpPr>
        <p:spPr>
          <a:xfrm>
            <a:off x="4572000" y="4910328"/>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Competitor-Switched</a:t>
            </a:r>
            <a:endParaRPr lang="en-US" sz="1200" b="1" dirty="0">
              <a:latin typeface="Arial" panose="020B0604020202020204" pitchFamily="34" charset="0"/>
              <a:cs typeface="Arial" panose="020B0604020202020204" pitchFamily="34" charset="0"/>
            </a:endParaRPr>
          </a:p>
        </p:txBody>
      </p:sp>
      <p:sp>
        <p:nvSpPr>
          <p:cNvPr id="61" name="Text 59"/>
          <p:cNvSpPr/>
          <p:nvPr/>
        </p:nvSpPr>
        <p:spPr>
          <a:xfrm>
            <a:off x="7178040" y="4910328"/>
            <a:ext cx="1481328" cy="320040"/>
          </a:xfrm>
          <a:prstGeom prst="rect">
            <a:avLst/>
          </a:prstGeom>
          <a:noFill/>
          <a:ln/>
        </p:spPr>
        <p:txBody>
          <a:bodyPr wrap="square" rtlCol="0" anchor="ctr"/>
          <a:lstStyle/>
          <a:p>
            <a:pPr marL="0" indent="0" algn="ctr">
              <a:buNone/>
            </a:pPr>
            <a:r>
              <a:rPr lang="en-US" sz="1200" b="1" dirty="0">
                <a:solidFill>
                  <a:srgbClr val="1A6B3A"/>
                </a:solidFill>
                <a:latin typeface="Arial" panose="020B0604020202020204" pitchFamily="34" charset="0"/>
                <a:ea typeface="Arial" pitchFamily="34" charset="-122"/>
                <a:cs typeface="Arial" panose="020B0604020202020204" pitchFamily="34" charset="0"/>
              </a:rPr>
              <a:t>NURTURE</a:t>
            </a:r>
            <a:endParaRPr lang="en-US" sz="1200" b="1" dirty="0">
              <a:latin typeface="Arial" panose="020B0604020202020204" pitchFamily="34" charset="0"/>
              <a:cs typeface="Arial" panose="020B0604020202020204" pitchFamily="34" charset="0"/>
            </a:endParaRPr>
          </a:p>
        </p:txBody>
      </p:sp>
      <p:sp>
        <p:nvSpPr>
          <p:cNvPr id="62" name="Shape 60"/>
          <p:cNvSpPr/>
          <p:nvPr/>
        </p:nvSpPr>
        <p:spPr>
          <a:xfrm>
            <a:off x="548640" y="5312664"/>
            <a:ext cx="8138160" cy="457200"/>
          </a:xfrm>
          <a:prstGeom prst="rect">
            <a:avLst/>
          </a:prstGeom>
          <a:solidFill>
            <a:schemeClr val="bg2"/>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63" name="Text 61"/>
          <p:cNvSpPr/>
          <p:nvPr/>
        </p:nvSpPr>
        <p:spPr>
          <a:xfrm>
            <a:off x="594360" y="5385816"/>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T009</a:t>
            </a:r>
            <a:endParaRPr lang="en-US" sz="1200" b="1" dirty="0">
              <a:latin typeface="Arial" panose="020B0604020202020204" pitchFamily="34" charset="0"/>
              <a:cs typeface="Arial" panose="020B0604020202020204" pitchFamily="34" charset="0"/>
            </a:endParaRPr>
          </a:p>
        </p:txBody>
      </p:sp>
      <p:sp>
        <p:nvSpPr>
          <p:cNvPr id="64" name="Text 62"/>
          <p:cNvSpPr/>
          <p:nvPr/>
        </p:nvSpPr>
        <p:spPr>
          <a:xfrm>
            <a:off x="1280160" y="5385816"/>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Jayesh Parekh</a:t>
            </a:r>
            <a:endParaRPr lang="en-US" sz="1200" b="1" dirty="0">
              <a:latin typeface="Arial" panose="020B0604020202020204" pitchFamily="34" charset="0"/>
              <a:cs typeface="Arial" panose="020B0604020202020204" pitchFamily="34" charset="0"/>
            </a:endParaRPr>
          </a:p>
        </p:txBody>
      </p:sp>
      <p:sp>
        <p:nvSpPr>
          <p:cNvPr id="65" name="Text 63"/>
          <p:cNvSpPr/>
          <p:nvPr/>
        </p:nvSpPr>
        <p:spPr>
          <a:xfrm>
            <a:off x="3611880" y="5385816"/>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Gold</a:t>
            </a:r>
            <a:endParaRPr lang="en-US" sz="1200" b="1" dirty="0">
              <a:latin typeface="Arial" panose="020B0604020202020204" pitchFamily="34" charset="0"/>
              <a:cs typeface="Arial" panose="020B0604020202020204" pitchFamily="34" charset="0"/>
            </a:endParaRPr>
          </a:p>
        </p:txBody>
      </p:sp>
      <p:sp>
        <p:nvSpPr>
          <p:cNvPr id="66" name="Text 64"/>
          <p:cNvSpPr/>
          <p:nvPr/>
        </p:nvSpPr>
        <p:spPr>
          <a:xfrm>
            <a:off x="4572000" y="5385816"/>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Disengaged</a:t>
            </a:r>
            <a:endParaRPr lang="en-US" sz="1200" b="1" dirty="0">
              <a:latin typeface="Arial" panose="020B0604020202020204" pitchFamily="34" charset="0"/>
              <a:cs typeface="Arial" panose="020B0604020202020204" pitchFamily="34" charset="0"/>
            </a:endParaRPr>
          </a:p>
        </p:txBody>
      </p:sp>
      <p:sp>
        <p:nvSpPr>
          <p:cNvPr id="67" name="Text 65"/>
          <p:cNvSpPr/>
          <p:nvPr/>
        </p:nvSpPr>
        <p:spPr>
          <a:xfrm>
            <a:off x="7178040" y="5385816"/>
            <a:ext cx="1481328" cy="320040"/>
          </a:xfrm>
          <a:prstGeom prst="rect">
            <a:avLst/>
          </a:prstGeom>
          <a:noFill/>
          <a:ln/>
        </p:spPr>
        <p:txBody>
          <a:bodyPr wrap="square" rtlCol="0" anchor="ctr"/>
          <a:lstStyle/>
          <a:p>
            <a:pPr marL="0" indent="0" algn="ctr">
              <a:buNone/>
            </a:pPr>
            <a:r>
              <a:rPr lang="en-US" sz="1200" b="1" dirty="0">
                <a:solidFill>
                  <a:srgbClr val="1A6B3A"/>
                </a:solidFill>
                <a:latin typeface="Arial" panose="020B0604020202020204" pitchFamily="34" charset="0"/>
                <a:ea typeface="Arial" pitchFamily="34" charset="-122"/>
                <a:cs typeface="Arial" panose="020B0604020202020204" pitchFamily="34" charset="0"/>
              </a:rPr>
              <a:t>NURTURE</a:t>
            </a:r>
            <a:endParaRPr lang="en-US" sz="1200" b="1" dirty="0">
              <a:latin typeface="Arial" panose="020B0604020202020204" pitchFamily="34" charset="0"/>
              <a:cs typeface="Arial" panose="020B0604020202020204" pitchFamily="34" charset="0"/>
            </a:endParaRPr>
          </a:p>
        </p:txBody>
      </p:sp>
      <p:sp>
        <p:nvSpPr>
          <p:cNvPr id="68" name="Shape 66"/>
          <p:cNvSpPr/>
          <p:nvPr/>
        </p:nvSpPr>
        <p:spPr>
          <a:xfrm>
            <a:off x="548640" y="5788152"/>
            <a:ext cx="8138160" cy="457200"/>
          </a:xfrm>
          <a:prstGeom prst="rect">
            <a:avLst/>
          </a:prstGeom>
          <a:solidFill>
            <a:srgbClr val="F6F7F9"/>
          </a:solidFill>
          <a:ln w="12700">
            <a:solidFill>
              <a:schemeClr val="tx2"/>
            </a:solidFill>
            <a:prstDash val="solid"/>
          </a:ln>
        </p:spPr>
        <p:txBody>
          <a:bodyPr/>
          <a:lstStyle/>
          <a:p>
            <a:endParaRPr lang="en-US" sz="1200" b="1">
              <a:latin typeface="Arial" panose="020B0604020202020204" pitchFamily="34" charset="0"/>
              <a:cs typeface="Arial" panose="020B0604020202020204" pitchFamily="34" charset="0"/>
            </a:endParaRPr>
          </a:p>
        </p:txBody>
      </p:sp>
      <p:sp>
        <p:nvSpPr>
          <p:cNvPr id="69" name="Text 67"/>
          <p:cNvSpPr/>
          <p:nvPr/>
        </p:nvSpPr>
        <p:spPr>
          <a:xfrm>
            <a:off x="594360" y="5861304"/>
            <a:ext cx="566928" cy="320040"/>
          </a:xfrm>
          <a:prstGeom prst="rect">
            <a:avLst/>
          </a:prstGeom>
          <a:noFill/>
          <a:ln/>
        </p:spPr>
        <p:txBody>
          <a:bodyPr wrap="square" rtlCol="0" anchor="ctr"/>
          <a:lstStyle/>
          <a:p>
            <a:pPr marL="0" indent="0" algn="ctr">
              <a:buNone/>
            </a:pPr>
            <a:r>
              <a:rPr lang="en-US" sz="1200" b="1" dirty="0">
                <a:solidFill>
                  <a:srgbClr val="1B3A6B"/>
                </a:solidFill>
                <a:latin typeface="Arial" panose="020B0604020202020204" pitchFamily="34" charset="0"/>
                <a:ea typeface="Arial" pitchFamily="34" charset="-122"/>
                <a:cs typeface="Arial" panose="020B0604020202020204" pitchFamily="34" charset="0"/>
              </a:rPr>
              <a:t>T010</a:t>
            </a:r>
            <a:endParaRPr lang="en-US" sz="1200" b="1" dirty="0">
              <a:latin typeface="Arial" panose="020B0604020202020204" pitchFamily="34" charset="0"/>
              <a:cs typeface="Arial" panose="020B0604020202020204" pitchFamily="34" charset="0"/>
            </a:endParaRPr>
          </a:p>
        </p:txBody>
      </p:sp>
      <p:sp>
        <p:nvSpPr>
          <p:cNvPr id="70" name="Text 68"/>
          <p:cNvSpPr/>
          <p:nvPr/>
        </p:nvSpPr>
        <p:spPr>
          <a:xfrm>
            <a:off x="1280160" y="5861304"/>
            <a:ext cx="22128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Kavya Srinivas</a:t>
            </a:r>
            <a:endParaRPr lang="en-US" sz="1200" b="1" dirty="0">
              <a:latin typeface="Arial" panose="020B0604020202020204" pitchFamily="34" charset="0"/>
              <a:cs typeface="Arial" panose="020B0604020202020204" pitchFamily="34" charset="0"/>
            </a:endParaRPr>
          </a:p>
        </p:txBody>
      </p:sp>
      <p:sp>
        <p:nvSpPr>
          <p:cNvPr id="71" name="Text 69"/>
          <p:cNvSpPr/>
          <p:nvPr/>
        </p:nvSpPr>
        <p:spPr>
          <a:xfrm>
            <a:off x="3611880" y="5861304"/>
            <a:ext cx="84124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Bronze</a:t>
            </a:r>
            <a:endParaRPr lang="en-US" sz="1200" b="1" dirty="0">
              <a:latin typeface="Arial" panose="020B0604020202020204" pitchFamily="34" charset="0"/>
              <a:cs typeface="Arial" panose="020B0604020202020204" pitchFamily="34" charset="0"/>
            </a:endParaRPr>
          </a:p>
        </p:txBody>
      </p:sp>
      <p:sp>
        <p:nvSpPr>
          <p:cNvPr id="72" name="Text 70"/>
          <p:cNvSpPr/>
          <p:nvPr/>
        </p:nvSpPr>
        <p:spPr>
          <a:xfrm>
            <a:off x="4572000" y="5861304"/>
            <a:ext cx="2487168" cy="320040"/>
          </a:xfrm>
          <a:prstGeom prst="rect">
            <a:avLst/>
          </a:prstGeom>
          <a:noFill/>
          <a:ln/>
        </p:spPr>
        <p:txBody>
          <a:bodyPr wrap="square" rtlCol="0" anchor="ctr"/>
          <a:lstStyle/>
          <a:p>
            <a:pPr marL="0" indent="0" algn="ctr">
              <a:buNone/>
            </a:pPr>
            <a:r>
              <a:rPr lang="en-US" sz="1200" b="1" dirty="0">
                <a:solidFill>
                  <a:srgbClr val="334155"/>
                </a:solidFill>
                <a:latin typeface="Arial" panose="020B0604020202020204" pitchFamily="34" charset="0"/>
                <a:ea typeface="Arial" pitchFamily="34" charset="-122"/>
                <a:cs typeface="Arial" panose="020B0604020202020204" pitchFamily="34" charset="0"/>
              </a:rPr>
              <a:t>Competitor-Switched</a:t>
            </a:r>
            <a:endParaRPr lang="en-US" sz="1200" b="1" dirty="0">
              <a:latin typeface="Arial" panose="020B0604020202020204" pitchFamily="34" charset="0"/>
              <a:cs typeface="Arial" panose="020B0604020202020204" pitchFamily="34" charset="0"/>
            </a:endParaRPr>
          </a:p>
        </p:txBody>
      </p:sp>
      <p:sp>
        <p:nvSpPr>
          <p:cNvPr id="73" name="Text 71"/>
          <p:cNvSpPr/>
          <p:nvPr/>
        </p:nvSpPr>
        <p:spPr>
          <a:xfrm>
            <a:off x="7178040" y="5861304"/>
            <a:ext cx="1481328" cy="320040"/>
          </a:xfrm>
          <a:prstGeom prst="rect">
            <a:avLst/>
          </a:prstGeom>
          <a:noFill/>
          <a:ln/>
        </p:spPr>
        <p:txBody>
          <a:bodyPr wrap="square" rtlCol="0" anchor="ctr"/>
          <a:lstStyle/>
          <a:p>
            <a:pPr marL="0" indent="0" algn="ctr">
              <a:buNone/>
            </a:pPr>
            <a:r>
              <a:rPr lang="en-US" sz="1200" b="1" dirty="0">
                <a:solidFill>
                  <a:srgbClr val="1A6B3A"/>
                </a:solidFill>
                <a:latin typeface="Arial" panose="020B0604020202020204" pitchFamily="34" charset="0"/>
                <a:ea typeface="Arial" pitchFamily="34" charset="-122"/>
                <a:cs typeface="Arial" panose="020B0604020202020204" pitchFamily="34" charset="0"/>
              </a:rPr>
              <a:t>NURTURE</a:t>
            </a:r>
            <a:endParaRPr lang="en-US" sz="1200" b="1" dirty="0">
              <a:latin typeface="Arial" panose="020B0604020202020204" pitchFamily="34" charset="0"/>
              <a:cs typeface="Arial" panose="020B0604020202020204" pitchFamily="34" charset="0"/>
            </a:endParaRPr>
          </a:p>
        </p:txBody>
      </p:sp>
      <p:sp>
        <p:nvSpPr>
          <p:cNvPr id="74" name="Text 72"/>
          <p:cNvSpPr/>
          <p:nvPr/>
        </p:nvSpPr>
        <p:spPr>
          <a:xfrm>
            <a:off x="9006840" y="1097280"/>
            <a:ext cx="2743200" cy="365760"/>
          </a:xfrm>
          <a:prstGeom prst="rect">
            <a:avLst/>
          </a:prstGeom>
          <a:solidFill>
            <a:schemeClr val="bg2"/>
          </a:solidFill>
          <a:ln/>
        </p:spPr>
        <p:txBody>
          <a:bodyPr wrap="square" rtlCol="0" anchor="ctr"/>
          <a:lstStyle/>
          <a:p>
            <a:pPr marL="0" indent="0" algn="ctr">
              <a:buNone/>
            </a:pPr>
            <a:r>
              <a:rPr lang="en-US" sz="1200" b="1" dirty="0">
                <a:solidFill>
                  <a:schemeClr val="tx2"/>
                </a:solidFill>
                <a:latin typeface="Arial" panose="020B0604020202020204" pitchFamily="34" charset="0"/>
                <a:ea typeface="Arial" pitchFamily="34" charset="-122"/>
                <a:cs typeface="Arial" panose="020B0604020202020204" pitchFamily="34" charset="0"/>
              </a:rPr>
              <a:t>Segment Distribution</a:t>
            </a:r>
            <a:endParaRPr lang="en-US" sz="1200" dirty="0">
              <a:solidFill>
                <a:schemeClr val="tx2"/>
              </a:solidFill>
              <a:latin typeface="Arial" panose="020B0604020202020204" pitchFamily="34" charset="0"/>
              <a:cs typeface="Arial" panose="020B0604020202020204" pitchFamily="34" charset="0"/>
            </a:endParaRPr>
          </a:p>
        </p:txBody>
      </p:sp>
      <p:sp>
        <p:nvSpPr>
          <p:cNvPr id="75" name="Shape 73"/>
          <p:cNvSpPr/>
          <p:nvPr/>
        </p:nvSpPr>
        <p:spPr>
          <a:xfrm>
            <a:off x="9006840" y="1600200"/>
            <a:ext cx="2697480" cy="1005840"/>
          </a:xfrm>
          <a:prstGeom prst="roundRect">
            <a:avLst>
              <a:gd name="adj" fmla="val 5455"/>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76" name="Text 74"/>
          <p:cNvSpPr/>
          <p:nvPr/>
        </p:nvSpPr>
        <p:spPr>
          <a:xfrm>
            <a:off x="9098280" y="1673352"/>
            <a:ext cx="2514600" cy="274320"/>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Support-Fatigued</a:t>
            </a:r>
            <a:endParaRPr lang="en-US" sz="1200" dirty="0">
              <a:latin typeface="Arial" panose="020B0604020202020204" pitchFamily="34" charset="0"/>
              <a:cs typeface="Arial" panose="020B0604020202020204" pitchFamily="34" charset="0"/>
            </a:endParaRPr>
          </a:p>
        </p:txBody>
      </p:sp>
      <p:sp>
        <p:nvSpPr>
          <p:cNvPr id="77" name="Shape 75"/>
          <p:cNvSpPr/>
          <p:nvPr/>
        </p:nvSpPr>
        <p:spPr>
          <a:xfrm>
            <a:off x="9098280" y="2011680"/>
            <a:ext cx="1536192" cy="320040"/>
          </a:xfrm>
          <a:prstGeom prst="roundRect">
            <a:avLst>
              <a:gd name="adj" fmla="val 11429"/>
            </a:avLst>
          </a:prstGeom>
          <a:solidFill>
            <a:srgbClr val="C0392B"/>
          </a:solidFill>
          <a:ln w="12700">
            <a:solidFill>
              <a:srgbClr val="C0392B"/>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78" name="Text 76"/>
          <p:cNvSpPr/>
          <p:nvPr/>
        </p:nvSpPr>
        <p:spPr>
          <a:xfrm>
            <a:off x="10725912" y="2011680"/>
            <a:ext cx="822960" cy="320040"/>
          </a:xfrm>
          <a:prstGeom prst="rect">
            <a:avLst/>
          </a:prstGeom>
          <a:noFill/>
          <a:ln/>
        </p:spPr>
        <p:txBody>
          <a:bodyPr wrap="square" rtlCol="0" anchor="ctr"/>
          <a:lstStyle/>
          <a:p>
            <a:pPr marL="0" indent="0" algn="ctr">
              <a:buNone/>
            </a:pPr>
            <a:r>
              <a:rPr lang="en-US" sz="900" dirty="0">
                <a:solidFill>
                  <a:srgbClr val="334155"/>
                </a:solidFill>
                <a:latin typeface="Arial" panose="020B0604020202020204" pitchFamily="34" charset="0"/>
                <a:ea typeface="Arial" pitchFamily="34" charset="-122"/>
                <a:cs typeface="Arial" panose="020B0604020202020204" pitchFamily="34" charset="0"/>
              </a:rPr>
              <a:t>3 customers</a:t>
            </a:r>
            <a:endParaRPr lang="en-US" sz="900" dirty="0">
              <a:latin typeface="Arial" panose="020B0604020202020204" pitchFamily="34" charset="0"/>
              <a:cs typeface="Arial" panose="020B0604020202020204" pitchFamily="34" charset="0"/>
            </a:endParaRPr>
          </a:p>
        </p:txBody>
      </p:sp>
      <p:sp>
        <p:nvSpPr>
          <p:cNvPr id="79" name="Shape 77"/>
          <p:cNvSpPr/>
          <p:nvPr/>
        </p:nvSpPr>
        <p:spPr>
          <a:xfrm>
            <a:off x="9006840" y="2807208"/>
            <a:ext cx="2697480" cy="1005840"/>
          </a:xfrm>
          <a:prstGeom prst="roundRect">
            <a:avLst>
              <a:gd name="adj" fmla="val 5455"/>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80" name="Text 78"/>
          <p:cNvSpPr/>
          <p:nvPr/>
        </p:nvSpPr>
        <p:spPr>
          <a:xfrm>
            <a:off x="9098280" y="2880360"/>
            <a:ext cx="2514600" cy="274320"/>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Competitor-Switched</a:t>
            </a:r>
            <a:endParaRPr lang="en-US" sz="1200" dirty="0">
              <a:latin typeface="Arial" panose="020B0604020202020204" pitchFamily="34" charset="0"/>
              <a:cs typeface="Arial" panose="020B0604020202020204" pitchFamily="34" charset="0"/>
            </a:endParaRPr>
          </a:p>
        </p:txBody>
      </p:sp>
      <p:sp>
        <p:nvSpPr>
          <p:cNvPr id="81" name="Shape 79"/>
          <p:cNvSpPr/>
          <p:nvPr/>
        </p:nvSpPr>
        <p:spPr>
          <a:xfrm>
            <a:off x="9098280" y="3218688"/>
            <a:ext cx="1536192" cy="320040"/>
          </a:xfrm>
          <a:prstGeom prst="roundRect">
            <a:avLst>
              <a:gd name="adj" fmla="val 11429"/>
            </a:avLst>
          </a:prstGeom>
          <a:solidFill>
            <a:srgbClr val="C8860A"/>
          </a:solidFill>
          <a:ln w="12700">
            <a:solidFill>
              <a:srgbClr val="C8860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82" name="Text 80"/>
          <p:cNvSpPr/>
          <p:nvPr/>
        </p:nvSpPr>
        <p:spPr>
          <a:xfrm>
            <a:off x="10725912" y="3218688"/>
            <a:ext cx="822960" cy="320040"/>
          </a:xfrm>
          <a:prstGeom prst="rect">
            <a:avLst/>
          </a:prstGeom>
          <a:noFill/>
          <a:ln/>
        </p:spPr>
        <p:txBody>
          <a:bodyPr wrap="square" rtlCol="0" anchor="ctr"/>
          <a:lstStyle/>
          <a:p>
            <a:pPr marL="0" indent="0" algn="ctr">
              <a:buNone/>
            </a:pPr>
            <a:r>
              <a:rPr lang="en-US" sz="900" dirty="0">
                <a:solidFill>
                  <a:srgbClr val="334155"/>
                </a:solidFill>
                <a:latin typeface="Arial" panose="020B0604020202020204" pitchFamily="34" charset="0"/>
                <a:ea typeface="Arial" pitchFamily="34" charset="-122"/>
                <a:cs typeface="Arial" panose="020B0604020202020204" pitchFamily="34" charset="0"/>
              </a:rPr>
              <a:t>3 customers</a:t>
            </a:r>
            <a:endParaRPr lang="en-US" sz="900" dirty="0">
              <a:latin typeface="Arial" panose="020B0604020202020204" pitchFamily="34" charset="0"/>
              <a:cs typeface="Arial" panose="020B0604020202020204" pitchFamily="34" charset="0"/>
            </a:endParaRPr>
          </a:p>
        </p:txBody>
      </p:sp>
      <p:sp>
        <p:nvSpPr>
          <p:cNvPr id="83" name="Shape 81"/>
          <p:cNvSpPr/>
          <p:nvPr/>
        </p:nvSpPr>
        <p:spPr>
          <a:xfrm>
            <a:off x="9006840" y="4014216"/>
            <a:ext cx="2697480" cy="1005840"/>
          </a:xfrm>
          <a:prstGeom prst="roundRect">
            <a:avLst>
              <a:gd name="adj" fmla="val 5455"/>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84" name="Text 82"/>
          <p:cNvSpPr/>
          <p:nvPr/>
        </p:nvSpPr>
        <p:spPr>
          <a:xfrm>
            <a:off x="9098280" y="4087368"/>
            <a:ext cx="2514600" cy="274320"/>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Disengaged</a:t>
            </a:r>
            <a:endParaRPr lang="en-US" sz="1200" dirty="0">
              <a:latin typeface="Arial" panose="020B0604020202020204" pitchFamily="34" charset="0"/>
              <a:cs typeface="Arial" panose="020B0604020202020204" pitchFamily="34" charset="0"/>
            </a:endParaRPr>
          </a:p>
        </p:txBody>
      </p:sp>
      <p:sp>
        <p:nvSpPr>
          <p:cNvPr id="85" name="Shape 83"/>
          <p:cNvSpPr/>
          <p:nvPr/>
        </p:nvSpPr>
        <p:spPr>
          <a:xfrm>
            <a:off x="9098280" y="4425696"/>
            <a:ext cx="1024128" cy="320040"/>
          </a:xfrm>
          <a:prstGeom prst="roundRect">
            <a:avLst>
              <a:gd name="adj" fmla="val 11429"/>
            </a:avLst>
          </a:prstGeom>
          <a:solidFill>
            <a:srgbClr val="1B3A6B"/>
          </a:solidFill>
          <a:ln w="12700">
            <a:solidFill>
              <a:srgbClr val="1B3A6B"/>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86" name="Text 84"/>
          <p:cNvSpPr/>
          <p:nvPr/>
        </p:nvSpPr>
        <p:spPr>
          <a:xfrm>
            <a:off x="10213848" y="4425696"/>
            <a:ext cx="822960" cy="320040"/>
          </a:xfrm>
          <a:prstGeom prst="rect">
            <a:avLst/>
          </a:prstGeom>
          <a:noFill/>
          <a:ln/>
        </p:spPr>
        <p:txBody>
          <a:bodyPr wrap="square" rtlCol="0" anchor="ctr"/>
          <a:lstStyle/>
          <a:p>
            <a:pPr marL="0" indent="0" algn="ctr">
              <a:buNone/>
            </a:pPr>
            <a:r>
              <a:rPr lang="en-US" sz="900" dirty="0">
                <a:solidFill>
                  <a:srgbClr val="334155"/>
                </a:solidFill>
                <a:latin typeface="Arial" panose="020B0604020202020204" pitchFamily="34" charset="0"/>
                <a:ea typeface="Arial" pitchFamily="34" charset="-122"/>
                <a:cs typeface="Arial" panose="020B0604020202020204" pitchFamily="34" charset="0"/>
              </a:rPr>
              <a:t>2 customers</a:t>
            </a:r>
            <a:endParaRPr lang="en-US" sz="900" dirty="0">
              <a:latin typeface="Arial" panose="020B0604020202020204" pitchFamily="34" charset="0"/>
              <a:cs typeface="Arial" panose="020B0604020202020204" pitchFamily="34" charset="0"/>
            </a:endParaRPr>
          </a:p>
        </p:txBody>
      </p:sp>
      <p:sp>
        <p:nvSpPr>
          <p:cNvPr id="87" name="Shape 85"/>
          <p:cNvSpPr/>
          <p:nvPr/>
        </p:nvSpPr>
        <p:spPr>
          <a:xfrm>
            <a:off x="9006840" y="5221224"/>
            <a:ext cx="2697480" cy="1005840"/>
          </a:xfrm>
          <a:prstGeom prst="roundRect">
            <a:avLst>
              <a:gd name="adj" fmla="val 5455"/>
            </a:avLst>
          </a:prstGeom>
          <a:solidFill>
            <a:srgbClr val="F6F7F9"/>
          </a:solidFill>
          <a:ln w="12700">
            <a:solidFill>
              <a:srgbClr val="CBD5E1"/>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88" name="Text 86"/>
          <p:cNvSpPr/>
          <p:nvPr/>
        </p:nvSpPr>
        <p:spPr>
          <a:xfrm>
            <a:off x="9098280" y="5294376"/>
            <a:ext cx="2514600" cy="274320"/>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Healthy</a:t>
            </a:r>
            <a:endParaRPr lang="en-US" sz="1200" dirty="0">
              <a:latin typeface="Arial" panose="020B0604020202020204" pitchFamily="34" charset="0"/>
              <a:cs typeface="Arial" panose="020B0604020202020204" pitchFamily="34" charset="0"/>
            </a:endParaRPr>
          </a:p>
        </p:txBody>
      </p:sp>
      <p:sp>
        <p:nvSpPr>
          <p:cNvPr id="89" name="Shape 87"/>
          <p:cNvSpPr/>
          <p:nvPr/>
        </p:nvSpPr>
        <p:spPr>
          <a:xfrm>
            <a:off x="9098280" y="5632704"/>
            <a:ext cx="1024128" cy="320040"/>
          </a:xfrm>
          <a:prstGeom prst="roundRect">
            <a:avLst>
              <a:gd name="adj" fmla="val 11429"/>
            </a:avLst>
          </a:prstGeom>
          <a:solidFill>
            <a:srgbClr val="1A6B3A"/>
          </a:solidFill>
          <a:ln w="12700">
            <a:solidFill>
              <a:srgbClr val="1A6B3A"/>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90" name="Text 88"/>
          <p:cNvSpPr/>
          <p:nvPr/>
        </p:nvSpPr>
        <p:spPr>
          <a:xfrm>
            <a:off x="10213848" y="5632704"/>
            <a:ext cx="822960" cy="320040"/>
          </a:xfrm>
          <a:prstGeom prst="rect">
            <a:avLst/>
          </a:prstGeom>
          <a:noFill/>
          <a:ln/>
        </p:spPr>
        <p:txBody>
          <a:bodyPr wrap="square" rtlCol="0" anchor="ctr"/>
          <a:lstStyle/>
          <a:p>
            <a:pPr marL="0" indent="0" algn="ctr">
              <a:buNone/>
            </a:pPr>
            <a:r>
              <a:rPr lang="en-US" sz="900" dirty="0">
                <a:solidFill>
                  <a:srgbClr val="334155"/>
                </a:solidFill>
                <a:latin typeface="Arial" panose="020B0604020202020204" pitchFamily="34" charset="0"/>
                <a:ea typeface="Arial" pitchFamily="34" charset="-122"/>
                <a:cs typeface="Arial" panose="020B0604020202020204" pitchFamily="34" charset="0"/>
              </a:rPr>
              <a:t>2 customers</a:t>
            </a:r>
            <a:endParaRPr lang="en-US" sz="900" dirty="0">
              <a:latin typeface="Arial" panose="020B0604020202020204" pitchFamily="34" charset="0"/>
              <a:cs typeface="Arial" panose="020B0604020202020204" pitchFamily="34" charset="0"/>
            </a:endParaRPr>
          </a:p>
        </p:txBody>
      </p:sp>
      <p:sp>
        <p:nvSpPr>
          <p:cNvPr id="91" name="Text 89"/>
          <p:cNvSpPr/>
          <p:nvPr/>
        </p:nvSpPr>
        <p:spPr>
          <a:xfrm>
            <a:off x="8412480" y="4846320"/>
            <a:ext cx="457200" cy="228600"/>
          </a:xfrm>
          <a:prstGeom prst="rect">
            <a:avLst/>
          </a:prstGeom>
          <a:noFill/>
          <a:ln/>
        </p:spPr>
        <p:txBody>
          <a:bodyPr wrap="square" rtlCol="0" anchor="ctr"/>
          <a:lstStyle/>
          <a:p>
            <a:pPr marL="0" indent="0" algn="r">
              <a:buNone/>
            </a:pPr>
            <a:r>
              <a:rPr lang="en-US" sz="1200" dirty="0">
                <a:solidFill>
                  <a:srgbClr val="6688AA"/>
                </a:solidFill>
                <a:latin typeface="Arial" panose="020B0604020202020204" pitchFamily="34" charset="0"/>
                <a:ea typeface="Arial" pitchFamily="34" charset="-122"/>
                <a:cs typeface="Arial" panose="020B0604020202020204" pitchFamily="34" charset="0"/>
              </a:rPr>
              <a:t>7</a:t>
            </a:r>
            <a:endParaRPr lang="en-US" sz="12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11109960" cy="640080"/>
          </a:xfrm>
          <a:prstGeom prst="rect">
            <a:avLst/>
          </a:prstGeom>
          <a:noFill/>
          <a:ln>
            <a:solidFill>
              <a:schemeClr val="bg1"/>
            </a:solidFill>
          </a:ln>
        </p:spPr>
        <p:txBody>
          <a:bodyPr wrap="square" rtlCol="0" anchor="ctr"/>
          <a:lstStyle/>
          <a:p>
            <a:pPr marL="0" indent="0">
              <a:buNone/>
            </a:pPr>
            <a:r>
              <a:rPr lang="en-US" sz="3600" b="1" dirty="0">
                <a:solidFill>
                  <a:srgbClr val="FFC000"/>
                </a:solidFill>
                <a:latin typeface="Arial" panose="020B0604020202020204" pitchFamily="34" charset="0"/>
                <a:ea typeface="Arial" pitchFamily="34" charset="-122"/>
                <a:cs typeface="Arial" panose="020B0604020202020204" pitchFamily="34" charset="0"/>
              </a:rPr>
              <a:t>Evaluation Results</a:t>
            </a:r>
            <a:endParaRPr lang="en-US" sz="3600" dirty="0">
              <a:solidFill>
                <a:srgbClr val="FFC000"/>
              </a:solidFill>
              <a:latin typeface="Arial" panose="020B0604020202020204" pitchFamily="34" charset="0"/>
              <a:cs typeface="Arial" panose="020B0604020202020204" pitchFamily="34" charset="0"/>
            </a:endParaRPr>
          </a:p>
        </p:txBody>
      </p:sp>
      <p:sp>
        <p:nvSpPr>
          <p:cNvPr id="4" name="Shape 2"/>
          <p:cNvSpPr/>
          <p:nvPr/>
        </p:nvSpPr>
        <p:spPr>
          <a:xfrm>
            <a:off x="548640" y="1142999"/>
            <a:ext cx="5303520" cy="2788919"/>
          </a:xfrm>
          <a:prstGeom prst="roundRect">
            <a:avLst>
              <a:gd name="adj" fmla="val 3774"/>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5" name="Text 3"/>
          <p:cNvSpPr/>
          <p:nvPr/>
        </p:nvSpPr>
        <p:spPr>
          <a:xfrm>
            <a:off x="731520" y="1280160"/>
            <a:ext cx="4937760" cy="36576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Method 1 — Deterministic Accuracy</a:t>
            </a:r>
            <a:endParaRPr lang="en-US" sz="1400" dirty="0">
              <a:latin typeface="Arial" panose="020B0604020202020204" pitchFamily="34" charset="0"/>
              <a:cs typeface="Arial" panose="020B0604020202020204" pitchFamily="34" charset="0"/>
            </a:endParaRPr>
          </a:p>
        </p:txBody>
      </p:sp>
      <p:sp>
        <p:nvSpPr>
          <p:cNvPr id="6" name="Text 4"/>
          <p:cNvSpPr/>
          <p:nvPr/>
        </p:nvSpPr>
        <p:spPr>
          <a:xfrm>
            <a:off x="731520" y="1664208"/>
            <a:ext cx="4937760" cy="320040"/>
          </a:xfrm>
          <a:prstGeom prst="rect">
            <a:avLst/>
          </a:prstGeom>
          <a:noFill/>
          <a:ln/>
        </p:spPr>
        <p:txBody>
          <a:bodyPr wrap="square" rtlCol="0" anchor="ctr"/>
          <a:lstStyle/>
          <a:p>
            <a:pPr marL="0" indent="0">
              <a:buNone/>
            </a:pPr>
            <a:r>
              <a:rPr lang="en-US" sz="1000" b="1" dirty="0">
                <a:solidFill>
                  <a:srgbClr val="64748B"/>
                </a:solidFill>
                <a:latin typeface="Arial" panose="020B0604020202020204" pitchFamily="34" charset="0"/>
                <a:ea typeface="Arial" pitchFamily="34" charset="-122"/>
                <a:cs typeface="Arial" panose="020B0604020202020204" pitchFamily="34" charset="0"/>
              </a:rPr>
              <a:t>Agent outputs compared directly against 10 expert reference answers</a:t>
            </a:r>
            <a:endParaRPr lang="en-US" sz="1000" b="1" dirty="0">
              <a:latin typeface="Arial" panose="020B0604020202020204" pitchFamily="34" charset="0"/>
              <a:cs typeface="Arial" panose="020B0604020202020204" pitchFamily="34" charset="0"/>
            </a:endParaRPr>
          </a:p>
        </p:txBody>
      </p:sp>
      <p:sp>
        <p:nvSpPr>
          <p:cNvPr id="7" name="Text 5"/>
          <p:cNvSpPr/>
          <p:nvPr/>
        </p:nvSpPr>
        <p:spPr>
          <a:xfrm>
            <a:off x="731520" y="2103120"/>
            <a:ext cx="2926080" cy="365760"/>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Segment Accuracy</a:t>
            </a:r>
            <a:endParaRPr lang="en-US" sz="1200" b="1" dirty="0">
              <a:latin typeface="Arial" panose="020B0604020202020204" pitchFamily="34" charset="0"/>
              <a:cs typeface="Arial" panose="020B0604020202020204" pitchFamily="34" charset="0"/>
            </a:endParaRPr>
          </a:p>
        </p:txBody>
      </p:sp>
      <p:sp>
        <p:nvSpPr>
          <p:cNvPr id="8" name="Shape 6"/>
          <p:cNvSpPr/>
          <p:nvPr/>
        </p:nvSpPr>
        <p:spPr>
          <a:xfrm>
            <a:off x="3749040" y="2139696"/>
            <a:ext cx="1691640" cy="329184"/>
          </a:xfrm>
          <a:prstGeom prst="roundRect">
            <a:avLst>
              <a:gd name="adj" fmla="val 13889"/>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9" name="Text 7"/>
          <p:cNvSpPr/>
          <p:nvPr/>
        </p:nvSpPr>
        <p:spPr>
          <a:xfrm>
            <a:off x="3749040" y="2139696"/>
            <a:ext cx="1691640" cy="329184"/>
          </a:xfrm>
          <a:prstGeom prst="rect">
            <a:avLst/>
          </a:prstGeom>
          <a:noFill/>
          <a:ln/>
        </p:spPr>
        <p:txBody>
          <a:bodyPr wrap="square" rtlCol="0" anchor="ctr"/>
          <a:lstStyle/>
          <a:p>
            <a:pPr marL="0" indent="0" algn="ctr">
              <a:buNone/>
            </a:pPr>
            <a:r>
              <a:rPr lang="en-US" sz="1100" b="1" dirty="0">
                <a:solidFill>
                  <a:srgbClr val="FFFFFF"/>
                </a:solidFill>
                <a:latin typeface="Arial" panose="020B0604020202020204" pitchFamily="34" charset="0"/>
                <a:ea typeface="Arial" pitchFamily="34" charset="-122"/>
                <a:cs typeface="Arial" panose="020B0604020202020204" pitchFamily="34" charset="0"/>
              </a:rPr>
              <a:t>10 / 10  ✓</a:t>
            </a:r>
            <a:endParaRPr lang="en-US" sz="1100" dirty="0">
              <a:latin typeface="Arial" panose="020B0604020202020204" pitchFamily="34" charset="0"/>
              <a:cs typeface="Arial" panose="020B0604020202020204" pitchFamily="34" charset="0"/>
            </a:endParaRPr>
          </a:p>
        </p:txBody>
      </p:sp>
      <p:sp>
        <p:nvSpPr>
          <p:cNvPr id="10" name="Text 8"/>
          <p:cNvSpPr/>
          <p:nvPr/>
        </p:nvSpPr>
        <p:spPr>
          <a:xfrm>
            <a:off x="731520" y="2788920"/>
            <a:ext cx="2926080" cy="365760"/>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Decision Accuracy</a:t>
            </a:r>
            <a:endParaRPr lang="en-US" sz="1200" b="1" dirty="0">
              <a:latin typeface="Arial" panose="020B0604020202020204" pitchFamily="34" charset="0"/>
              <a:cs typeface="Arial" panose="020B0604020202020204" pitchFamily="34" charset="0"/>
            </a:endParaRPr>
          </a:p>
        </p:txBody>
      </p:sp>
      <p:sp>
        <p:nvSpPr>
          <p:cNvPr id="11" name="Shape 9"/>
          <p:cNvSpPr/>
          <p:nvPr/>
        </p:nvSpPr>
        <p:spPr>
          <a:xfrm>
            <a:off x="3749040" y="2825496"/>
            <a:ext cx="1691640" cy="329184"/>
          </a:xfrm>
          <a:prstGeom prst="roundRect">
            <a:avLst>
              <a:gd name="adj" fmla="val 13889"/>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2" name="Text 10"/>
          <p:cNvSpPr/>
          <p:nvPr/>
        </p:nvSpPr>
        <p:spPr>
          <a:xfrm>
            <a:off x="3749040" y="2825496"/>
            <a:ext cx="1691640" cy="329184"/>
          </a:xfrm>
          <a:prstGeom prst="rect">
            <a:avLst/>
          </a:prstGeom>
          <a:noFill/>
          <a:ln/>
        </p:spPr>
        <p:txBody>
          <a:bodyPr wrap="square" rtlCol="0" anchor="ctr"/>
          <a:lstStyle/>
          <a:p>
            <a:pPr marL="0" indent="0" algn="ctr">
              <a:buNone/>
            </a:pPr>
            <a:r>
              <a:rPr lang="en-US" sz="1100" b="1" dirty="0">
                <a:solidFill>
                  <a:srgbClr val="FFFFFF"/>
                </a:solidFill>
                <a:latin typeface="Arial" panose="020B0604020202020204" pitchFamily="34" charset="0"/>
                <a:ea typeface="Arial" pitchFamily="34" charset="-122"/>
                <a:cs typeface="Arial" panose="020B0604020202020204" pitchFamily="34" charset="0"/>
              </a:rPr>
              <a:t>10 / 10  ✓</a:t>
            </a:r>
            <a:endParaRPr lang="en-US" sz="1100" dirty="0">
              <a:latin typeface="Arial" panose="020B0604020202020204" pitchFamily="34" charset="0"/>
              <a:cs typeface="Arial" panose="020B0604020202020204" pitchFamily="34" charset="0"/>
            </a:endParaRPr>
          </a:p>
        </p:txBody>
      </p:sp>
      <p:sp>
        <p:nvSpPr>
          <p:cNvPr id="13" name="Shape 11"/>
          <p:cNvSpPr/>
          <p:nvPr/>
        </p:nvSpPr>
        <p:spPr>
          <a:xfrm>
            <a:off x="548640" y="4079967"/>
            <a:ext cx="5303520" cy="502920"/>
          </a:xfrm>
          <a:prstGeom prst="roundRect">
            <a:avLst>
              <a:gd name="adj" fmla="val 10909"/>
            </a:avLst>
          </a:prstGeom>
          <a:solidFill>
            <a:srgbClr val="FFF3DC"/>
          </a:solidFill>
          <a:ln w="12700">
            <a:solidFill>
              <a:srgbClr val="C8860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4" name="Text 12"/>
          <p:cNvSpPr/>
          <p:nvPr/>
        </p:nvSpPr>
        <p:spPr>
          <a:xfrm>
            <a:off x="731520" y="4079967"/>
            <a:ext cx="4937760" cy="502920"/>
          </a:xfrm>
          <a:prstGeom prst="rect">
            <a:avLst/>
          </a:prstGeom>
          <a:noFill/>
          <a:ln/>
        </p:spPr>
        <p:txBody>
          <a:bodyPr wrap="square" rtlCol="0" anchor="ctr"/>
          <a:lstStyle/>
          <a:p>
            <a:pPr marL="0" indent="0" algn="just">
              <a:lnSpc>
                <a:spcPct val="115000"/>
              </a:lnSpc>
              <a:buNone/>
            </a:pPr>
            <a:r>
              <a:rPr lang="en-US" sz="1200" dirty="0">
                <a:solidFill>
                  <a:srgbClr val="0D1B2A"/>
                </a:solidFill>
                <a:latin typeface="Arial" panose="020B0604020202020204" pitchFamily="34" charset="0"/>
                <a:ea typeface="Arial" pitchFamily="34" charset="-122"/>
                <a:cs typeface="Arial" panose="020B0604020202020204" pitchFamily="34" charset="0"/>
              </a:rPr>
              <a:t>Fixed during validation: response extraction function was reading from empty dict. After fix → 100%.</a:t>
            </a:r>
            <a:endParaRPr lang="en-US" sz="1200" dirty="0">
              <a:latin typeface="Arial" panose="020B0604020202020204" pitchFamily="34" charset="0"/>
              <a:cs typeface="Arial" panose="020B0604020202020204" pitchFamily="34" charset="0"/>
            </a:endParaRPr>
          </a:p>
        </p:txBody>
      </p:sp>
      <p:sp>
        <p:nvSpPr>
          <p:cNvPr id="15" name="Shape 13"/>
          <p:cNvSpPr/>
          <p:nvPr/>
        </p:nvSpPr>
        <p:spPr>
          <a:xfrm>
            <a:off x="6355080" y="1143000"/>
            <a:ext cx="5303520" cy="2799804"/>
          </a:xfrm>
          <a:prstGeom prst="roundRect">
            <a:avLst>
              <a:gd name="adj" fmla="val 3774"/>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16" name="Text 14"/>
          <p:cNvSpPr/>
          <p:nvPr/>
        </p:nvSpPr>
        <p:spPr>
          <a:xfrm>
            <a:off x="6537960" y="1280160"/>
            <a:ext cx="4937760" cy="36576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Method 2 — LLM-as-a-Judge</a:t>
            </a:r>
            <a:endParaRPr lang="en-US" sz="1400" dirty="0">
              <a:latin typeface="Arial" panose="020B0604020202020204" pitchFamily="34" charset="0"/>
              <a:cs typeface="Arial" panose="020B0604020202020204" pitchFamily="34" charset="0"/>
            </a:endParaRPr>
          </a:p>
        </p:txBody>
      </p:sp>
      <p:sp>
        <p:nvSpPr>
          <p:cNvPr id="17" name="Text 15"/>
          <p:cNvSpPr/>
          <p:nvPr/>
        </p:nvSpPr>
        <p:spPr>
          <a:xfrm>
            <a:off x="6537960" y="1664208"/>
            <a:ext cx="4937760" cy="320040"/>
          </a:xfrm>
          <a:prstGeom prst="rect">
            <a:avLst/>
          </a:prstGeom>
          <a:noFill/>
          <a:ln/>
        </p:spPr>
        <p:txBody>
          <a:bodyPr wrap="square" rtlCol="0" anchor="ctr"/>
          <a:lstStyle/>
          <a:p>
            <a:pPr marL="0" indent="0">
              <a:buNone/>
            </a:pPr>
            <a:r>
              <a:rPr lang="en-US" sz="1000" b="1" dirty="0">
                <a:solidFill>
                  <a:srgbClr val="64748B"/>
                </a:solidFill>
                <a:latin typeface="Arial" panose="020B0604020202020204" pitchFamily="34" charset="0"/>
                <a:ea typeface="Arial" pitchFamily="34" charset="-122"/>
                <a:cs typeface="Arial" panose="020B0604020202020204" pitchFamily="34" charset="0"/>
              </a:rPr>
              <a:t>GPT-4o evaluates 5 quality dimensions per customer (scored 1–5)</a:t>
            </a:r>
            <a:endParaRPr lang="en-US" sz="1000" b="1" dirty="0">
              <a:latin typeface="Arial" panose="020B0604020202020204" pitchFamily="34" charset="0"/>
              <a:cs typeface="Arial" panose="020B0604020202020204" pitchFamily="34" charset="0"/>
            </a:endParaRPr>
          </a:p>
        </p:txBody>
      </p:sp>
      <p:sp>
        <p:nvSpPr>
          <p:cNvPr id="18" name="Text 16"/>
          <p:cNvSpPr/>
          <p:nvPr/>
        </p:nvSpPr>
        <p:spPr>
          <a:xfrm>
            <a:off x="6537960" y="2103120"/>
            <a:ext cx="2743200" cy="310896"/>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Segment Accuracy</a:t>
            </a:r>
            <a:endParaRPr lang="en-US" sz="1200" b="1" dirty="0">
              <a:latin typeface="Arial" panose="020B0604020202020204" pitchFamily="34" charset="0"/>
              <a:cs typeface="Arial" panose="020B0604020202020204" pitchFamily="34" charset="0"/>
            </a:endParaRPr>
          </a:p>
        </p:txBody>
      </p:sp>
      <p:sp>
        <p:nvSpPr>
          <p:cNvPr id="19" name="Shape 17"/>
          <p:cNvSpPr/>
          <p:nvPr/>
        </p:nvSpPr>
        <p:spPr>
          <a:xfrm>
            <a:off x="8989423" y="2157984"/>
            <a:ext cx="2194560" cy="201168"/>
          </a:xfrm>
          <a:prstGeom prst="roundRect">
            <a:avLst>
              <a:gd name="adj" fmla="val 13636"/>
            </a:avLst>
          </a:prstGeom>
          <a:solidFill>
            <a:srgbClr val="CBD5E1"/>
          </a:solidFill>
          <a:ln w="1270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20" name="Shape 18"/>
          <p:cNvSpPr/>
          <p:nvPr/>
        </p:nvSpPr>
        <p:spPr>
          <a:xfrm>
            <a:off x="8989423" y="2157984"/>
            <a:ext cx="2194560" cy="201168"/>
          </a:xfrm>
          <a:prstGeom prst="roundRect">
            <a:avLst>
              <a:gd name="adj" fmla="val 13636"/>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1" name="Text 19"/>
          <p:cNvSpPr/>
          <p:nvPr/>
        </p:nvSpPr>
        <p:spPr>
          <a:xfrm>
            <a:off x="11229703" y="2103120"/>
            <a:ext cx="411480" cy="310896"/>
          </a:xfrm>
          <a:prstGeom prst="rect">
            <a:avLst/>
          </a:prstGeom>
          <a:noFill/>
          <a:ln/>
        </p:spPr>
        <p:txBody>
          <a:bodyPr wrap="square" rtlCol="0" anchor="ctr"/>
          <a:lstStyle/>
          <a:p>
            <a:pPr marL="0" indent="0" algn="r">
              <a:buNone/>
            </a:pPr>
            <a:r>
              <a:rPr lang="en-US" sz="1000" b="1" dirty="0">
                <a:solidFill>
                  <a:srgbClr val="1A6B3A"/>
                </a:solidFill>
                <a:latin typeface="Arial" panose="020B0604020202020204" pitchFamily="34" charset="0"/>
                <a:ea typeface="Arial" pitchFamily="34" charset="-122"/>
                <a:cs typeface="Arial" panose="020B0604020202020204" pitchFamily="34" charset="0"/>
              </a:rPr>
              <a:t>5</a:t>
            </a:r>
            <a:endParaRPr lang="en-US" sz="1000" dirty="0">
              <a:latin typeface="Arial" panose="020B0604020202020204" pitchFamily="34" charset="0"/>
              <a:cs typeface="Arial" panose="020B0604020202020204" pitchFamily="34" charset="0"/>
            </a:endParaRPr>
          </a:p>
        </p:txBody>
      </p:sp>
      <p:sp>
        <p:nvSpPr>
          <p:cNvPr id="22" name="Text 20"/>
          <p:cNvSpPr/>
          <p:nvPr/>
        </p:nvSpPr>
        <p:spPr>
          <a:xfrm>
            <a:off x="6537960" y="2450592"/>
            <a:ext cx="2743200" cy="310896"/>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Decision Accuracy</a:t>
            </a:r>
            <a:endParaRPr lang="en-US" sz="1200" b="1" dirty="0">
              <a:latin typeface="Arial" panose="020B0604020202020204" pitchFamily="34" charset="0"/>
              <a:cs typeface="Arial" panose="020B0604020202020204" pitchFamily="34" charset="0"/>
            </a:endParaRPr>
          </a:p>
        </p:txBody>
      </p:sp>
      <p:sp>
        <p:nvSpPr>
          <p:cNvPr id="23" name="Shape 21"/>
          <p:cNvSpPr/>
          <p:nvPr/>
        </p:nvSpPr>
        <p:spPr>
          <a:xfrm>
            <a:off x="8989423" y="2505456"/>
            <a:ext cx="2194560" cy="201168"/>
          </a:xfrm>
          <a:prstGeom prst="roundRect">
            <a:avLst>
              <a:gd name="adj" fmla="val 13636"/>
            </a:avLst>
          </a:prstGeom>
          <a:solidFill>
            <a:srgbClr val="CBD5E1"/>
          </a:solidFill>
          <a:ln w="1270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24" name="Shape 22"/>
          <p:cNvSpPr/>
          <p:nvPr/>
        </p:nvSpPr>
        <p:spPr>
          <a:xfrm>
            <a:off x="8989423" y="2505456"/>
            <a:ext cx="2194560" cy="201168"/>
          </a:xfrm>
          <a:prstGeom prst="roundRect">
            <a:avLst>
              <a:gd name="adj" fmla="val 13636"/>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5" name="Text 23"/>
          <p:cNvSpPr/>
          <p:nvPr/>
        </p:nvSpPr>
        <p:spPr>
          <a:xfrm>
            <a:off x="11229703" y="2450592"/>
            <a:ext cx="411480" cy="310896"/>
          </a:xfrm>
          <a:prstGeom prst="rect">
            <a:avLst/>
          </a:prstGeom>
          <a:noFill/>
          <a:ln/>
        </p:spPr>
        <p:txBody>
          <a:bodyPr wrap="square" rtlCol="0" anchor="ctr"/>
          <a:lstStyle/>
          <a:p>
            <a:pPr marL="0" indent="0" algn="r">
              <a:buNone/>
            </a:pPr>
            <a:r>
              <a:rPr lang="en-US" sz="1000" b="1" dirty="0">
                <a:solidFill>
                  <a:srgbClr val="1A6B3A"/>
                </a:solidFill>
                <a:latin typeface="Arial" panose="020B0604020202020204" pitchFamily="34" charset="0"/>
                <a:ea typeface="Arial" pitchFamily="34" charset="-122"/>
                <a:cs typeface="Arial" panose="020B0604020202020204" pitchFamily="34" charset="0"/>
              </a:rPr>
              <a:t>5</a:t>
            </a:r>
            <a:endParaRPr lang="en-US" sz="1000" dirty="0">
              <a:latin typeface="Arial" panose="020B0604020202020204" pitchFamily="34" charset="0"/>
              <a:cs typeface="Arial" panose="020B0604020202020204" pitchFamily="34" charset="0"/>
            </a:endParaRPr>
          </a:p>
        </p:txBody>
      </p:sp>
      <p:sp>
        <p:nvSpPr>
          <p:cNvPr id="26" name="Text 24"/>
          <p:cNvSpPr/>
          <p:nvPr/>
        </p:nvSpPr>
        <p:spPr>
          <a:xfrm>
            <a:off x="6537960" y="2798064"/>
            <a:ext cx="2743200" cy="310896"/>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Rationale Quality</a:t>
            </a:r>
            <a:endParaRPr lang="en-US" sz="1200" b="1" dirty="0">
              <a:latin typeface="Arial" panose="020B0604020202020204" pitchFamily="34" charset="0"/>
              <a:cs typeface="Arial" panose="020B0604020202020204" pitchFamily="34" charset="0"/>
            </a:endParaRPr>
          </a:p>
        </p:txBody>
      </p:sp>
      <p:sp>
        <p:nvSpPr>
          <p:cNvPr id="27" name="Shape 25"/>
          <p:cNvSpPr/>
          <p:nvPr/>
        </p:nvSpPr>
        <p:spPr>
          <a:xfrm>
            <a:off x="8989423" y="2852928"/>
            <a:ext cx="2194560" cy="201168"/>
          </a:xfrm>
          <a:prstGeom prst="roundRect">
            <a:avLst>
              <a:gd name="adj" fmla="val 13636"/>
            </a:avLst>
          </a:prstGeom>
          <a:solidFill>
            <a:srgbClr val="CBD5E1"/>
          </a:solidFill>
          <a:ln w="1270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28" name="Shape 26"/>
          <p:cNvSpPr/>
          <p:nvPr/>
        </p:nvSpPr>
        <p:spPr>
          <a:xfrm>
            <a:off x="8989423" y="2852928"/>
            <a:ext cx="2194560" cy="201168"/>
          </a:xfrm>
          <a:prstGeom prst="roundRect">
            <a:avLst>
              <a:gd name="adj" fmla="val 13636"/>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9" name="Text 27"/>
          <p:cNvSpPr/>
          <p:nvPr/>
        </p:nvSpPr>
        <p:spPr>
          <a:xfrm>
            <a:off x="11229703" y="2798064"/>
            <a:ext cx="411480" cy="310896"/>
          </a:xfrm>
          <a:prstGeom prst="rect">
            <a:avLst/>
          </a:prstGeom>
          <a:noFill/>
          <a:ln/>
        </p:spPr>
        <p:txBody>
          <a:bodyPr wrap="square" rtlCol="0" anchor="ctr"/>
          <a:lstStyle/>
          <a:p>
            <a:pPr marL="0" indent="0" algn="r">
              <a:buNone/>
            </a:pPr>
            <a:r>
              <a:rPr lang="en-US" sz="1000" b="1" dirty="0">
                <a:solidFill>
                  <a:srgbClr val="1A6B3A"/>
                </a:solidFill>
                <a:latin typeface="Arial" panose="020B0604020202020204" pitchFamily="34" charset="0"/>
                <a:ea typeface="Arial" pitchFamily="34" charset="-122"/>
                <a:cs typeface="Arial" panose="020B0604020202020204" pitchFamily="34" charset="0"/>
              </a:rPr>
              <a:t>5</a:t>
            </a:r>
            <a:endParaRPr lang="en-US" sz="1000" dirty="0">
              <a:latin typeface="Arial" panose="020B0604020202020204" pitchFamily="34" charset="0"/>
              <a:cs typeface="Arial" panose="020B0604020202020204" pitchFamily="34" charset="0"/>
            </a:endParaRPr>
          </a:p>
        </p:txBody>
      </p:sp>
      <p:sp>
        <p:nvSpPr>
          <p:cNvPr id="30" name="Text 28"/>
          <p:cNvSpPr/>
          <p:nvPr/>
        </p:nvSpPr>
        <p:spPr>
          <a:xfrm>
            <a:off x="6537960" y="3145536"/>
            <a:ext cx="2743200" cy="310896"/>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Treatment Completeness</a:t>
            </a:r>
            <a:endParaRPr lang="en-US" sz="1200" b="1" dirty="0">
              <a:latin typeface="Arial" panose="020B0604020202020204" pitchFamily="34" charset="0"/>
              <a:cs typeface="Arial" panose="020B0604020202020204" pitchFamily="34" charset="0"/>
            </a:endParaRPr>
          </a:p>
        </p:txBody>
      </p:sp>
      <p:sp>
        <p:nvSpPr>
          <p:cNvPr id="31" name="Shape 29"/>
          <p:cNvSpPr/>
          <p:nvPr/>
        </p:nvSpPr>
        <p:spPr>
          <a:xfrm>
            <a:off x="8989423" y="3200400"/>
            <a:ext cx="2194560" cy="201168"/>
          </a:xfrm>
          <a:prstGeom prst="roundRect">
            <a:avLst>
              <a:gd name="adj" fmla="val 13636"/>
            </a:avLst>
          </a:prstGeom>
          <a:solidFill>
            <a:srgbClr val="CBD5E1"/>
          </a:solidFill>
          <a:ln w="1270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32" name="Shape 30"/>
          <p:cNvSpPr/>
          <p:nvPr/>
        </p:nvSpPr>
        <p:spPr>
          <a:xfrm>
            <a:off x="8989423" y="3200400"/>
            <a:ext cx="1843430" cy="201168"/>
          </a:xfrm>
          <a:prstGeom prst="roundRect">
            <a:avLst>
              <a:gd name="adj" fmla="val 13636"/>
            </a:avLst>
          </a:prstGeom>
          <a:solidFill>
            <a:srgbClr val="C8860A"/>
          </a:solidFill>
          <a:ln w="12700">
            <a:solidFill>
              <a:srgbClr val="C8860A"/>
            </a:solidFill>
            <a:prstDash val="solid"/>
          </a:ln>
        </p:spPr>
        <p:txBody>
          <a:bodyPr/>
          <a:lstStyle/>
          <a:p>
            <a:endParaRPr lang="en-US">
              <a:latin typeface="Arial" panose="020B0604020202020204" pitchFamily="34" charset="0"/>
              <a:cs typeface="Arial" panose="020B0604020202020204" pitchFamily="34" charset="0"/>
            </a:endParaRPr>
          </a:p>
        </p:txBody>
      </p:sp>
      <p:sp>
        <p:nvSpPr>
          <p:cNvPr id="33" name="Text 31"/>
          <p:cNvSpPr/>
          <p:nvPr/>
        </p:nvSpPr>
        <p:spPr>
          <a:xfrm>
            <a:off x="11229703" y="3145536"/>
            <a:ext cx="411480" cy="310896"/>
          </a:xfrm>
          <a:prstGeom prst="rect">
            <a:avLst/>
          </a:prstGeom>
          <a:noFill/>
          <a:ln/>
        </p:spPr>
        <p:txBody>
          <a:bodyPr wrap="square" rtlCol="0" anchor="ctr"/>
          <a:lstStyle/>
          <a:p>
            <a:pPr marL="0" indent="0" algn="r">
              <a:buNone/>
            </a:pPr>
            <a:r>
              <a:rPr lang="en-US" sz="1000" b="1" dirty="0">
                <a:solidFill>
                  <a:srgbClr val="C8860A"/>
                </a:solidFill>
                <a:latin typeface="Arial" panose="020B0604020202020204" pitchFamily="34" charset="0"/>
                <a:ea typeface="Arial" pitchFamily="34" charset="-122"/>
                <a:cs typeface="Arial" panose="020B0604020202020204" pitchFamily="34" charset="0"/>
              </a:rPr>
              <a:t>4.2</a:t>
            </a:r>
            <a:endParaRPr lang="en-US" sz="1000" dirty="0">
              <a:latin typeface="Arial" panose="020B0604020202020204" pitchFamily="34" charset="0"/>
              <a:cs typeface="Arial" panose="020B0604020202020204" pitchFamily="34" charset="0"/>
            </a:endParaRPr>
          </a:p>
        </p:txBody>
      </p:sp>
      <p:sp>
        <p:nvSpPr>
          <p:cNvPr id="34" name="Text 32"/>
          <p:cNvSpPr/>
          <p:nvPr/>
        </p:nvSpPr>
        <p:spPr>
          <a:xfrm>
            <a:off x="6537960" y="3493008"/>
            <a:ext cx="2743200" cy="310896"/>
          </a:xfrm>
          <a:prstGeom prst="rect">
            <a:avLst/>
          </a:prstGeom>
          <a:noFill/>
          <a:ln/>
        </p:spPr>
        <p:txBody>
          <a:bodyPr wrap="square" rtlCol="0" anchor="ctr"/>
          <a:lstStyle/>
          <a:p>
            <a:pPr marL="0" indent="0">
              <a:buNone/>
            </a:pPr>
            <a:r>
              <a:rPr lang="en-US" sz="1200" b="1" dirty="0">
                <a:solidFill>
                  <a:srgbClr val="334155"/>
                </a:solidFill>
                <a:latin typeface="Arial" panose="020B0604020202020204" pitchFamily="34" charset="0"/>
                <a:ea typeface="Arial" pitchFamily="34" charset="-122"/>
                <a:cs typeface="Arial" panose="020B0604020202020204" pitchFamily="34" charset="0"/>
              </a:rPr>
              <a:t>Engagement Policy</a:t>
            </a:r>
            <a:endParaRPr lang="en-US" sz="1200" b="1" dirty="0">
              <a:latin typeface="Arial" panose="020B0604020202020204" pitchFamily="34" charset="0"/>
              <a:cs typeface="Arial" panose="020B0604020202020204" pitchFamily="34" charset="0"/>
            </a:endParaRPr>
          </a:p>
        </p:txBody>
      </p:sp>
      <p:sp>
        <p:nvSpPr>
          <p:cNvPr id="35" name="Shape 33"/>
          <p:cNvSpPr/>
          <p:nvPr/>
        </p:nvSpPr>
        <p:spPr>
          <a:xfrm>
            <a:off x="8989423" y="3547872"/>
            <a:ext cx="2194560" cy="201168"/>
          </a:xfrm>
          <a:prstGeom prst="roundRect">
            <a:avLst>
              <a:gd name="adj" fmla="val 13636"/>
            </a:avLst>
          </a:prstGeom>
          <a:solidFill>
            <a:srgbClr val="CBD5E1"/>
          </a:solidFill>
          <a:ln w="1270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36" name="Shape 34"/>
          <p:cNvSpPr/>
          <p:nvPr/>
        </p:nvSpPr>
        <p:spPr>
          <a:xfrm>
            <a:off x="8989423" y="3547872"/>
            <a:ext cx="2194560" cy="201168"/>
          </a:xfrm>
          <a:prstGeom prst="roundRect">
            <a:avLst>
              <a:gd name="adj" fmla="val 13636"/>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37" name="Text 35"/>
          <p:cNvSpPr/>
          <p:nvPr/>
        </p:nvSpPr>
        <p:spPr>
          <a:xfrm>
            <a:off x="11229703" y="3493008"/>
            <a:ext cx="411480" cy="310896"/>
          </a:xfrm>
          <a:prstGeom prst="rect">
            <a:avLst/>
          </a:prstGeom>
          <a:noFill/>
          <a:ln/>
        </p:spPr>
        <p:txBody>
          <a:bodyPr wrap="square" rtlCol="0" anchor="ctr"/>
          <a:lstStyle/>
          <a:p>
            <a:pPr marL="0" indent="0" algn="r">
              <a:buNone/>
            </a:pPr>
            <a:r>
              <a:rPr lang="en-US" sz="1000" b="1" dirty="0">
                <a:solidFill>
                  <a:srgbClr val="1A6B3A"/>
                </a:solidFill>
                <a:latin typeface="Arial" panose="020B0604020202020204" pitchFamily="34" charset="0"/>
                <a:ea typeface="Arial" pitchFamily="34" charset="-122"/>
                <a:cs typeface="Arial" panose="020B0604020202020204" pitchFamily="34" charset="0"/>
              </a:rPr>
              <a:t>5</a:t>
            </a:r>
            <a:endParaRPr lang="en-US" sz="1000" dirty="0">
              <a:latin typeface="Arial" panose="020B0604020202020204" pitchFamily="34" charset="0"/>
              <a:cs typeface="Arial" panose="020B0604020202020204" pitchFamily="34" charset="0"/>
            </a:endParaRPr>
          </a:p>
        </p:txBody>
      </p:sp>
      <p:sp>
        <p:nvSpPr>
          <p:cNvPr id="38" name="Shape 36"/>
          <p:cNvSpPr/>
          <p:nvPr/>
        </p:nvSpPr>
        <p:spPr>
          <a:xfrm>
            <a:off x="6355080" y="4079964"/>
            <a:ext cx="5303520" cy="502920"/>
          </a:xfrm>
          <a:prstGeom prst="roundRect">
            <a:avLst>
              <a:gd name="adj" fmla="val 10909"/>
            </a:avLst>
          </a:prstGeom>
          <a:solidFill>
            <a:srgbClr val="EBF1FA"/>
          </a:solidFill>
          <a:ln w="12700">
            <a:solidFill>
              <a:srgbClr val="1B3A6B"/>
            </a:solidFill>
            <a:prstDash val="solid"/>
          </a:ln>
        </p:spPr>
        <p:txBody>
          <a:bodyPr/>
          <a:lstStyle/>
          <a:p>
            <a:endParaRPr lang="en-US">
              <a:latin typeface="Arial" panose="020B0604020202020204" pitchFamily="34" charset="0"/>
              <a:cs typeface="Arial" panose="020B0604020202020204" pitchFamily="34" charset="0"/>
            </a:endParaRPr>
          </a:p>
        </p:txBody>
      </p:sp>
      <p:sp>
        <p:nvSpPr>
          <p:cNvPr id="39" name="Text 37"/>
          <p:cNvSpPr/>
          <p:nvPr/>
        </p:nvSpPr>
        <p:spPr>
          <a:xfrm>
            <a:off x="6355080" y="4079964"/>
            <a:ext cx="5303520" cy="502920"/>
          </a:xfrm>
          <a:prstGeom prst="rect">
            <a:avLst/>
          </a:prstGeom>
          <a:noFill/>
          <a:ln/>
        </p:spPr>
        <p:txBody>
          <a:bodyPr wrap="square" rtlCol="0" anchor="ctr"/>
          <a:lstStyle/>
          <a:p>
            <a:pPr marL="0" indent="0" algn="ctr">
              <a:buNone/>
            </a:pPr>
            <a:r>
              <a:rPr lang="en-US" sz="1200" b="1" dirty="0">
                <a:solidFill>
                  <a:srgbClr val="0D1B2A"/>
                </a:solidFill>
                <a:latin typeface="Arial" panose="020B0604020202020204" pitchFamily="34" charset="0"/>
                <a:ea typeface="Arial" pitchFamily="34" charset="-122"/>
                <a:cs typeface="Arial" panose="020B0604020202020204" pitchFamily="34" charset="0"/>
              </a:rPr>
              <a:t>Overall Average: 4.84 / 5.00  ·  Pass Rate: 10 / 10  ·  Threshold: ≥ 3.5</a:t>
            </a:r>
            <a:endParaRPr lang="en-US" sz="1200" dirty="0">
              <a:latin typeface="Arial" panose="020B0604020202020204" pitchFamily="34" charset="0"/>
              <a:cs typeface="Arial" panose="020B0604020202020204" pitchFamily="34" charset="0"/>
            </a:endParaRPr>
          </a:p>
        </p:txBody>
      </p:sp>
      <p:sp>
        <p:nvSpPr>
          <p:cNvPr id="40" name="Shape 38"/>
          <p:cNvSpPr/>
          <p:nvPr/>
        </p:nvSpPr>
        <p:spPr>
          <a:xfrm>
            <a:off x="548640" y="4617719"/>
            <a:ext cx="11064240" cy="1371600"/>
          </a:xfrm>
          <a:prstGeom prst="roundRect">
            <a:avLst>
              <a:gd name="adj" fmla="val 5333"/>
            </a:avLst>
          </a:prstGeom>
          <a:solidFill>
            <a:srgbClr val="FFFFFF"/>
          </a:solidFill>
          <a:ln w="12700">
            <a:solidFill>
              <a:srgbClr val="CBD5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41" name="Text 39"/>
          <p:cNvSpPr/>
          <p:nvPr/>
        </p:nvSpPr>
        <p:spPr>
          <a:xfrm>
            <a:off x="731520" y="4709159"/>
            <a:ext cx="2286000" cy="365760"/>
          </a:xfrm>
          <a:prstGeom prst="rect">
            <a:avLst/>
          </a:prstGeom>
          <a:noFill/>
          <a:ln/>
        </p:spPr>
        <p:txBody>
          <a:bodyPr wrap="square" rtlCol="0" anchor="ctr"/>
          <a:lstStyle/>
          <a:p>
            <a:pPr marL="0" indent="0">
              <a:buNone/>
            </a:pPr>
            <a:r>
              <a:rPr lang="en-US" sz="1400" b="1" dirty="0">
                <a:solidFill>
                  <a:srgbClr val="0D1B2A"/>
                </a:solidFill>
                <a:latin typeface="Arial" panose="020B0604020202020204" pitchFamily="34" charset="0"/>
                <a:ea typeface="Arial" pitchFamily="34" charset="-122"/>
                <a:cs typeface="Arial" panose="020B0604020202020204" pitchFamily="34" charset="0"/>
              </a:rPr>
              <a:t>Key Finding</a:t>
            </a:r>
            <a:endParaRPr lang="en-US" sz="1400" dirty="0">
              <a:latin typeface="Arial" panose="020B0604020202020204" pitchFamily="34" charset="0"/>
              <a:cs typeface="Arial" panose="020B0604020202020204" pitchFamily="34" charset="0"/>
            </a:endParaRPr>
          </a:p>
        </p:txBody>
      </p:sp>
      <p:sp>
        <p:nvSpPr>
          <p:cNvPr id="42" name="Text 40"/>
          <p:cNvSpPr/>
          <p:nvPr/>
        </p:nvSpPr>
        <p:spPr>
          <a:xfrm>
            <a:off x="731520" y="5074919"/>
            <a:ext cx="10698480" cy="777240"/>
          </a:xfrm>
          <a:prstGeom prst="rect">
            <a:avLst/>
          </a:prstGeom>
          <a:noFill/>
          <a:ln/>
        </p:spPr>
        <p:txBody>
          <a:bodyPr wrap="square" rtlCol="0" anchor="ctr"/>
          <a:lstStyle/>
          <a:p>
            <a:pPr marL="0" indent="0" algn="just">
              <a:lnSpc>
                <a:spcPct val="125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Treatment Completeness scored 4.2/5 — the only dimension below 5. CLV-tier differentiation was present in substance in all responses but was not always as explicitly labelled as the reference expected. No structural errors, no wrong segments, and no incorrect engagement policies were found across all 10 customers.</a:t>
            </a:r>
            <a:endParaRPr lang="en-US" sz="1200" dirty="0">
              <a:latin typeface="Arial" panose="020B0604020202020204" pitchFamily="34" charset="0"/>
              <a:cs typeface="Arial" panose="020B0604020202020204" pitchFamily="34" charset="0"/>
            </a:endParaRPr>
          </a:p>
        </p:txBody>
      </p:sp>
      <p:sp>
        <p:nvSpPr>
          <p:cNvPr id="43" name="Text 41"/>
          <p:cNvSpPr/>
          <p:nvPr/>
        </p:nvSpPr>
        <p:spPr>
          <a:xfrm>
            <a:off x="8412480" y="5303519"/>
            <a:ext cx="457200" cy="228600"/>
          </a:xfrm>
          <a:prstGeom prst="rect">
            <a:avLst/>
          </a:prstGeom>
          <a:noFill/>
          <a:ln/>
        </p:spPr>
        <p:txBody>
          <a:bodyPr wrap="square" rtlCol="0" anchor="ctr"/>
          <a:lstStyle/>
          <a:p>
            <a:pPr marL="0" indent="0" algn="r">
              <a:buNone/>
            </a:pPr>
            <a:r>
              <a:rPr lang="en-US" sz="900" dirty="0">
                <a:solidFill>
                  <a:srgbClr val="6688AA"/>
                </a:solidFill>
                <a:latin typeface="Arial" panose="020B0604020202020204" pitchFamily="34" charset="0"/>
                <a:ea typeface="Arial" pitchFamily="34" charset="-122"/>
                <a:cs typeface="Arial" panose="020B0604020202020204" pitchFamily="34" charset="0"/>
              </a:rPr>
              <a:t>8</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3" name="Text 1"/>
          <p:cNvSpPr/>
          <p:nvPr/>
        </p:nvSpPr>
        <p:spPr>
          <a:xfrm>
            <a:off x="548640" y="320040"/>
            <a:ext cx="11430000" cy="548640"/>
          </a:xfrm>
          <a:prstGeom prst="rect">
            <a:avLst/>
          </a:prstGeom>
          <a:noFill/>
          <a:ln>
            <a:solidFill>
              <a:schemeClr val="bg1"/>
            </a:solidFill>
          </a:ln>
        </p:spPr>
        <p:txBody>
          <a:bodyPr wrap="square" rtlCol="0" anchor="ctr"/>
          <a:lstStyle/>
          <a:p>
            <a:pPr marL="0" indent="0">
              <a:buNone/>
            </a:pPr>
            <a:r>
              <a:rPr lang="en-US" sz="3200" b="1" dirty="0">
                <a:solidFill>
                  <a:srgbClr val="FFC000"/>
                </a:solidFill>
                <a:latin typeface="Arial" panose="020B0604020202020204" pitchFamily="34" charset="0"/>
                <a:ea typeface="Arial" pitchFamily="34" charset="-122"/>
                <a:cs typeface="Arial" panose="020B0604020202020204" pitchFamily="34" charset="0"/>
              </a:rPr>
              <a:t>Business Recommendation — How to Operationalise</a:t>
            </a:r>
            <a:endParaRPr lang="en-US" sz="3200" dirty="0">
              <a:solidFill>
                <a:srgbClr val="FFC000"/>
              </a:solidFill>
              <a:latin typeface="Arial" panose="020B0604020202020204" pitchFamily="34" charset="0"/>
              <a:cs typeface="Arial" panose="020B0604020202020204" pitchFamily="34" charset="0"/>
            </a:endParaRPr>
          </a:p>
        </p:txBody>
      </p:sp>
      <p:sp>
        <p:nvSpPr>
          <p:cNvPr id="4" name="Text 2"/>
          <p:cNvSpPr/>
          <p:nvPr/>
        </p:nvSpPr>
        <p:spPr>
          <a:xfrm>
            <a:off x="548640" y="868680"/>
            <a:ext cx="10058400" cy="320040"/>
          </a:xfrm>
          <a:prstGeom prst="rect">
            <a:avLst/>
          </a:prstGeom>
          <a:noFill/>
          <a:ln>
            <a:solidFill>
              <a:schemeClr val="bg1"/>
            </a:solidFill>
          </a:ln>
        </p:spPr>
        <p:txBody>
          <a:bodyPr wrap="square" rtlCol="0" anchor="ctr"/>
          <a:lstStyle/>
          <a:p>
            <a:pPr marL="0" indent="0">
              <a:buNone/>
            </a:pPr>
            <a:r>
              <a:rPr lang="en-US" sz="1150" b="1" i="1" dirty="0">
                <a:solidFill>
                  <a:schemeClr val="accent1">
                    <a:lumMod val="40000"/>
                    <a:lumOff val="60000"/>
                  </a:schemeClr>
                </a:solidFill>
                <a:latin typeface="Arial" panose="020B0604020202020204" pitchFamily="34" charset="0"/>
                <a:ea typeface="Arial" pitchFamily="34" charset="-122"/>
                <a:cs typeface="Arial" panose="020B0604020202020204" pitchFamily="34" charset="0"/>
              </a:rPr>
              <a:t>Integrate as a nightly automated pre-triage layer into the existing CRM workflow</a:t>
            </a:r>
            <a:endParaRPr lang="en-US" sz="1150" b="1" dirty="0">
              <a:solidFill>
                <a:schemeClr val="accent1">
                  <a:lumMod val="40000"/>
                  <a:lumOff val="60000"/>
                </a:schemeClr>
              </a:solidFill>
              <a:latin typeface="Arial" panose="020B0604020202020204" pitchFamily="34" charset="0"/>
              <a:cs typeface="Arial" panose="020B0604020202020204" pitchFamily="34" charset="0"/>
            </a:endParaRPr>
          </a:p>
        </p:txBody>
      </p:sp>
      <p:sp>
        <p:nvSpPr>
          <p:cNvPr id="5" name="Shape 3"/>
          <p:cNvSpPr/>
          <p:nvPr/>
        </p:nvSpPr>
        <p:spPr>
          <a:xfrm>
            <a:off x="548640" y="1325880"/>
            <a:ext cx="3703320" cy="5303520"/>
          </a:xfrm>
          <a:prstGeom prst="roundRect">
            <a:avLst>
              <a:gd name="adj" fmla="val 2469"/>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6" name="Shape 4"/>
          <p:cNvSpPr/>
          <p:nvPr/>
        </p:nvSpPr>
        <p:spPr>
          <a:xfrm>
            <a:off x="548640" y="1325880"/>
            <a:ext cx="3703320" cy="914400"/>
          </a:xfrm>
          <a:prstGeom prst="roundRect">
            <a:avLst>
              <a:gd name="adj" fmla="val 10000"/>
            </a:avLst>
          </a:prstGeom>
          <a:solidFill>
            <a:srgbClr val="C0392B"/>
          </a:solidFill>
          <a:ln w="12700">
            <a:solidFill>
              <a:srgbClr val="C0392B"/>
            </a:solidFill>
            <a:prstDash val="solid"/>
          </a:ln>
        </p:spPr>
        <p:txBody>
          <a:bodyPr/>
          <a:lstStyle/>
          <a:p>
            <a:endParaRPr lang="en-US">
              <a:latin typeface="Arial" panose="020B0604020202020204" pitchFamily="34" charset="0"/>
              <a:cs typeface="Arial" panose="020B0604020202020204" pitchFamily="34" charset="0"/>
            </a:endParaRPr>
          </a:p>
        </p:txBody>
      </p:sp>
      <p:sp>
        <p:nvSpPr>
          <p:cNvPr id="7" name="Shape 5"/>
          <p:cNvSpPr/>
          <p:nvPr/>
        </p:nvSpPr>
        <p:spPr>
          <a:xfrm>
            <a:off x="548640" y="1783080"/>
            <a:ext cx="3703320" cy="457200"/>
          </a:xfrm>
          <a:prstGeom prst="rect">
            <a:avLst/>
          </a:prstGeom>
          <a:solidFill>
            <a:srgbClr val="C0392B"/>
          </a:solidFill>
          <a:ln w="12700">
            <a:solidFill>
              <a:srgbClr val="C0392B"/>
            </a:solidFill>
            <a:prstDash val="solid"/>
          </a:ln>
        </p:spPr>
        <p:txBody>
          <a:bodyPr/>
          <a:lstStyle/>
          <a:p>
            <a:endParaRPr lang="en-US">
              <a:latin typeface="Arial" panose="020B0604020202020204" pitchFamily="34" charset="0"/>
              <a:cs typeface="Arial" panose="020B0604020202020204" pitchFamily="34" charset="0"/>
            </a:endParaRPr>
          </a:p>
        </p:txBody>
      </p:sp>
      <p:sp>
        <p:nvSpPr>
          <p:cNvPr id="8" name="Text 6"/>
          <p:cNvSpPr/>
          <p:nvPr/>
        </p:nvSpPr>
        <p:spPr>
          <a:xfrm>
            <a:off x="548640" y="1371600"/>
            <a:ext cx="3703320" cy="45720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ESCALATE</a:t>
            </a:r>
            <a:endParaRPr lang="en-US" sz="1800" dirty="0">
              <a:latin typeface="Arial" panose="020B0604020202020204" pitchFamily="34" charset="0"/>
              <a:cs typeface="Arial" panose="020B0604020202020204" pitchFamily="34" charset="0"/>
            </a:endParaRPr>
          </a:p>
        </p:txBody>
      </p:sp>
      <p:sp>
        <p:nvSpPr>
          <p:cNvPr id="9" name="Text 7"/>
          <p:cNvSpPr/>
          <p:nvPr/>
        </p:nvSpPr>
        <p:spPr>
          <a:xfrm>
            <a:off x="548640" y="1801368"/>
            <a:ext cx="3703320" cy="347472"/>
          </a:xfrm>
          <a:prstGeom prst="rect">
            <a:avLst/>
          </a:prstGeom>
          <a:noFill/>
          <a:ln/>
        </p:spPr>
        <p:txBody>
          <a:bodyPr wrap="square" rtlCol="0" anchor="ctr"/>
          <a:lstStyle/>
          <a:p>
            <a:pPr marL="0" indent="0" algn="ctr">
              <a:buNone/>
            </a:pPr>
            <a:r>
              <a:rPr lang="en-US" sz="1050" dirty="0">
                <a:solidFill>
                  <a:srgbClr val="FFFFFF"/>
                </a:solidFill>
                <a:latin typeface="Arial" panose="020B0604020202020204" pitchFamily="34" charset="0"/>
                <a:ea typeface="Arial" pitchFamily="34" charset="-122"/>
                <a:cs typeface="Arial" panose="020B0604020202020204" pitchFamily="34" charset="0"/>
              </a:rPr>
              <a:t>CRM Specialist</a:t>
            </a:r>
            <a:endParaRPr lang="en-US" sz="1050" dirty="0">
              <a:latin typeface="Arial" panose="020B0604020202020204" pitchFamily="34" charset="0"/>
              <a:cs typeface="Arial" panose="020B0604020202020204" pitchFamily="34" charset="0"/>
            </a:endParaRPr>
          </a:p>
        </p:txBody>
      </p:sp>
      <p:sp>
        <p:nvSpPr>
          <p:cNvPr id="10" name="Text 8"/>
          <p:cNvSpPr/>
          <p:nvPr/>
        </p:nvSpPr>
        <p:spPr>
          <a:xfrm>
            <a:off x="685800" y="2395728"/>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1.  Gold / Platinum: personal CRM call within 24 hours</a:t>
            </a:r>
            <a:endParaRPr lang="en-US" sz="1200" dirty="0">
              <a:latin typeface="Arial" panose="020B0604020202020204" pitchFamily="34" charset="0"/>
              <a:cs typeface="Arial" panose="020B0604020202020204" pitchFamily="34" charset="0"/>
            </a:endParaRPr>
          </a:p>
        </p:txBody>
      </p:sp>
      <p:sp>
        <p:nvSpPr>
          <p:cNvPr id="11" name="Text 9"/>
          <p:cNvSpPr/>
          <p:nvPr/>
        </p:nvSpPr>
        <p:spPr>
          <a:xfrm>
            <a:off x="685800" y="3200400"/>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2.  Silver / Bronze: service recovery email within 48 hours</a:t>
            </a:r>
            <a:endParaRPr lang="en-US" sz="1200" dirty="0">
              <a:latin typeface="Arial" panose="020B0604020202020204" pitchFamily="34" charset="0"/>
              <a:cs typeface="Arial" panose="020B0604020202020204" pitchFamily="34" charset="0"/>
            </a:endParaRPr>
          </a:p>
        </p:txBody>
      </p:sp>
      <p:sp>
        <p:nvSpPr>
          <p:cNvPr id="12" name="Text 10"/>
          <p:cNvSpPr/>
          <p:nvPr/>
        </p:nvSpPr>
        <p:spPr>
          <a:xfrm>
            <a:off x="685800" y="4005072"/>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3. All tiers: 500 goodwill points credited immediately</a:t>
            </a:r>
            <a:endParaRPr lang="en-US" sz="1200" dirty="0">
              <a:latin typeface="Arial" panose="020B0604020202020204" pitchFamily="34" charset="0"/>
              <a:cs typeface="Arial" panose="020B0604020202020204" pitchFamily="34" charset="0"/>
            </a:endParaRPr>
          </a:p>
        </p:txBody>
      </p:sp>
      <p:sp>
        <p:nvSpPr>
          <p:cNvPr id="13" name="Shape 11"/>
          <p:cNvSpPr/>
          <p:nvPr/>
        </p:nvSpPr>
        <p:spPr>
          <a:xfrm>
            <a:off x="731520" y="4937760"/>
            <a:ext cx="1188720" cy="292608"/>
          </a:xfrm>
          <a:prstGeom prst="roundRect">
            <a:avLst>
              <a:gd name="adj" fmla="val 12500"/>
            </a:avLst>
          </a:prstGeom>
          <a:solidFill>
            <a:srgbClr val="C0392B"/>
          </a:solidFill>
          <a:ln w="12700">
            <a:solidFill>
              <a:srgbClr val="C0392B"/>
            </a:solidFill>
            <a:prstDash val="solid"/>
          </a:ln>
        </p:spPr>
        <p:txBody>
          <a:bodyPr/>
          <a:lstStyle/>
          <a:p>
            <a:endParaRPr lang="en-US" sz="1200">
              <a:latin typeface="Arial" panose="020B0604020202020204" pitchFamily="34" charset="0"/>
              <a:cs typeface="Arial" panose="020B0604020202020204" pitchFamily="34" charset="0"/>
            </a:endParaRPr>
          </a:p>
        </p:txBody>
      </p:sp>
      <p:sp>
        <p:nvSpPr>
          <p:cNvPr id="14" name="Text 12"/>
          <p:cNvSpPr/>
          <p:nvPr/>
        </p:nvSpPr>
        <p:spPr>
          <a:xfrm>
            <a:off x="731520" y="4937760"/>
            <a:ext cx="1188720" cy="292608"/>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&lt; 48 hrs</a:t>
            </a:r>
            <a:endParaRPr lang="en-US" sz="1200" dirty="0">
              <a:latin typeface="Arial" panose="020B0604020202020204" pitchFamily="34" charset="0"/>
              <a:cs typeface="Arial" panose="020B0604020202020204" pitchFamily="34" charset="0"/>
            </a:endParaRPr>
          </a:p>
        </p:txBody>
      </p:sp>
      <p:sp>
        <p:nvSpPr>
          <p:cNvPr id="15" name="Text 13"/>
          <p:cNvSpPr/>
          <p:nvPr/>
        </p:nvSpPr>
        <p:spPr>
          <a:xfrm>
            <a:off x="685800" y="5448517"/>
            <a:ext cx="3429000" cy="502920"/>
          </a:xfrm>
          <a:prstGeom prst="rect">
            <a:avLst/>
          </a:prstGeom>
          <a:noFill/>
          <a:ln/>
        </p:spPr>
        <p:txBody>
          <a:bodyPr wrap="square" rtlCol="0" anchor="ctr"/>
          <a:lstStyle/>
          <a:p>
            <a:pPr marL="0" indent="0" algn="just">
              <a:lnSpc>
                <a:spcPct val="115000"/>
              </a:lnSpc>
              <a:buNone/>
            </a:pPr>
            <a:r>
              <a:rPr lang="en-US" sz="1200" b="1" i="1" dirty="0">
                <a:solidFill>
                  <a:srgbClr val="64748B"/>
                </a:solidFill>
                <a:latin typeface="Arial" panose="020B0604020202020204" pitchFamily="34" charset="0"/>
                <a:ea typeface="Arial" pitchFamily="34" charset="-122"/>
                <a:cs typeface="Arial" panose="020B0604020202020204" pitchFamily="34" charset="0"/>
              </a:rPr>
              <a:t>Policy: No promotional content until service issue confirmed resolved</a:t>
            </a:r>
            <a:endParaRPr lang="en-US" sz="1200" b="1" dirty="0">
              <a:latin typeface="Arial" panose="020B0604020202020204" pitchFamily="34" charset="0"/>
              <a:cs typeface="Arial" panose="020B0604020202020204" pitchFamily="34" charset="0"/>
            </a:endParaRPr>
          </a:p>
        </p:txBody>
      </p:sp>
      <p:sp>
        <p:nvSpPr>
          <p:cNvPr id="16" name="Shape 14"/>
          <p:cNvSpPr/>
          <p:nvPr/>
        </p:nvSpPr>
        <p:spPr>
          <a:xfrm>
            <a:off x="4480560" y="1325880"/>
            <a:ext cx="3703320" cy="5303520"/>
          </a:xfrm>
          <a:prstGeom prst="roundRect">
            <a:avLst>
              <a:gd name="adj" fmla="val 2469"/>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17" name="Shape 15"/>
          <p:cNvSpPr/>
          <p:nvPr/>
        </p:nvSpPr>
        <p:spPr>
          <a:xfrm>
            <a:off x="4480560" y="1325880"/>
            <a:ext cx="3703320" cy="914400"/>
          </a:xfrm>
          <a:prstGeom prst="roundRect">
            <a:avLst>
              <a:gd name="adj" fmla="val 10000"/>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8" name="Shape 16"/>
          <p:cNvSpPr/>
          <p:nvPr/>
        </p:nvSpPr>
        <p:spPr>
          <a:xfrm>
            <a:off x="4480560" y="1783080"/>
            <a:ext cx="3703320" cy="457200"/>
          </a:xfrm>
          <a:prstGeom prst="rect">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9" name="Text 17"/>
          <p:cNvSpPr/>
          <p:nvPr/>
        </p:nvSpPr>
        <p:spPr>
          <a:xfrm>
            <a:off x="4480560" y="1371600"/>
            <a:ext cx="3703320" cy="45720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NURTURE</a:t>
            </a:r>
            <a:endParaRPr lang="en-US" sz="1800" dirty="0">
              <a:latin typeface="Arial" panose="020B0604020202020204" pitchFamily="34" charset="0"/>
              <a:cs typeface="Arial" panose="020B0604020202020204" pitchFamily="34" charset="0"/>
            </a:endParaRPr>
          </a:p>
        </p:txBody>
      </p:sp>
      <p:sp>
        <p:nvSpPr>
          <p:cNvPr id="20" name="Text 18"/>
          <p:cNvSpPr/>
          <p:nvPr/>
        </p:nvSpPr>
        <p:spPr>
          <a:xfrm>
            <a:off x="4480560" y="1801368"/>
            <a:ext cx="3703320" cy="347472"/>
          </a:xfrm>
          <a:prstGeom prst="rect">
            <a:avLst/>
          </a:prstGeom>
          <a:noFill/>
          <a:ln/>
        </p:spPr>
        <p:txBody>
          <a:bodyPr wrap="square" rtlCol="0" anchor="ctr"/>
          <a:lstStyle/>
          <a:p>
            <a:pPr marL="0" indent="0" algn="ctr">
              <a:buNone/>
            </a:pPr>
            <a:r>
              <a:rPr lang="en-US" sz="1050" dirty="0">
                <a:solidFill>
                  <a:srgbClr val="FFFFFF"/>
                </a:solidFill>
                <a:latin typeface="Arial" panose="020B0604020202020204" pitchFamily="34" charset="0"/>
                <a:ea typeface="Arial" pitchFamily="34" charset="-122"/>
                <a:cs typeface="Arial" panose="020B0604020202020204" pitchFamily="34" charset="0"/>
              </a:rPr>
              <a:t>CRM / Email Platform</a:t>
            </a:r>
            <a:endParaRPr lang="en-US" sz="1050" dirty="0">
              <a:latin typeface="Arial" panose="020B0604020202020204" pitchFamily="34" charset="0"/>
              <a:cs typeface="Arial" panose="020B0604020202020204" pitchFamily="34" charset="0"/>
            </a:endParaRPr>
          </a:p>
        </p:txBody>
      </p:sp>
      <p:sp>
        <p:nvSpPr>
          <p:cNvPr id="21" name="Text 19"/>
          <p:cNvSpPr/>
          <p:nvPr/>
        </p:nvSpPr>
        <p:spPr>
          <a:xfrm>
            <a:off x="4617720" y="2395728"/>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1. Day 1: win-back email + incentive (750 pts Gold/Plat; 15% off Silver/Bronze)</a:t>
            </a:r>
            <a:endParaRPr lang="en-US" sz="1200" dirty="0">
              <a:latin typeface="Arial" panose="020B0604020202020204" pitchFamily="34" charset="0"/>
              <a:cs typeface="Arial" panose="020B0604020202020204" pitchFamily="34" charset="0"/>
            </a:endParaRPr>
          </a:p>
        </p:txBody>
      </p:sp>
      <p:sp>
        <p:nvSpPr>
          <p:cNvPr id="22" name="Text 20"/>
          <p:cNvSpPr/>
          <p:nvPr/>
        </p:nvSpPr>
        <p:spPr>
          <a:xfrm>
            <a:off x="4617720" y="3200400"/>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2</a:t>
            </a:r>
            <a:r>
              <a:rPr lang="en-US" sz="1200">
                <a:solidFill>
                  <a:srgbClr val="334155"/>
                </a:solidFill>
                <a:latin typeface="Arial" panose="020B0604020202020204" pitchFamily="34" charset="0"/>
                <a:ea typeface="Arial" pitchFamily="34" charset="-122"/>
                <a:cs typeface="Arial" panose="020B0604020202020204" pitchFamily="34" charset="0"/>
              </a:rPr>
              <a:t>. </a:t>
            </a:r>
            <a:r>
              <a:rPr lang="en-US" sz="1200" dirty="0">
                <a:solidFill>
                  <a:srgbClr val="334155"/>
                </a:solidFill>
                <a:latin typeface="Arial" panose="020B0604020202020204" pitchFamily="34" charset="0"/>
                <a:ea typeface="Arial" pitchFamily="34" charset="-122"/>
                <a:cs typeface="Arial" panose="020B0604020202020204" pitchFamily="34" charset="0"/>
              </a:rPr>
              <a:t>Day 10: product highlights in customer's top category</a:t>
            </a:r>
            <a:endParaRPr lang="en-US" sz="1200" dirty="0">
              <a:latin typeface="Arial" panose="020B0604020202020204" pitchFamily="34" charset="0"/>
              <a:cs typeface="Arial" panose="020B0604020202020204" pitchFamily="34" charset="0"/>
            </a:endParaRPr>
          </a:p>
        </p:txBody>
      </p:sp>
      <p:sp>
        <p:nvSpPr>
          <p:cNvPr id="23" name="Text 21"/>
          <p:cNvSpPr/>
          <p:nvPr/>
        </p:nvSpPr>
        <p:spPr>
          <a:xfrm>
            <a:off x="4617720" y="4005072"/>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3. Day 25: final offer; passive monitoring if no engagement</a:t>
            </a:r>
            <a:endParaRPr lang="en-US" sz="1200" dirty="0">
              <a:latin typeface="Arial" panose="020B0604020202020204" pitchFamily="34" charset="0"/>
              <a:cs typeface="Arial" panose="020B0604020202020204" pitchFamily="34" charset="0"/>
            </a:endParaRPr>
          </a:p>
        </p:txBody>
      </p:sp>
      <p:sp>
        <p:nvSpPr>
          <p:cNvPr id="24" name="Shape 22"/>
          <p:cNvSpPr/>
          <p:nvPr/>
        </p:nvSpPr>
        <p:spPr>
          <a:xfrm>
            <a:off x="4663440" y="4937760"/>
            <a:ext cx="1188720" cy="292608"/>
          </a:xfrm>
          <a:prstGeom prst="roundRect">
            <a:avLst>
              <a:gd name="adj" fmla="val 12500"/>
            </a:avLst>
          </a:prstGeom>
          <a:solidFill>
            <a:srgbClr val="1A6B3A"/>
          </a:solidFill>
          <a:ln w="12700">
            <a:solidFill>
              <a:srgbClr val="1A6B3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5" name="Text 23"/>
          <p:cNvSpPr/>
          <p:nvPr/>
        </p:nvSpPr>
        <p:spPr>
          <a:xfrm>
            <a:off x="4663440" y="4937760"/>
            <a:ext cx="1188720" cy="292608"/>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Day 1–25</a:t>
            </a:r>
            <a:endParaRPr lang="en-US" sz="1200" dirty="0">
              <a:latin typeface="Arial" panose="020B0604020202020204" pitchFamily="34" charset="0"/>
              <a:cs typeface="Arial" panose="020B0604020202020204" pitchFamily="34" charset="0"/>
            </a:endParaRPr>
          </a:p>
        </p:txBody>
      </p:sp>
      <p:sp>
        <p:nvSpPr>
          <p:cNvPr id="26" name="Text 24"/>
          <p:cNvSpPr/>
          <p:nvPr/>
        </p:nvSpPr>
        <p:spPr>
          <a:xfrm>
            <a:off x="4617720" y="5448517"/>
            <a:ext cx="3429000" cy="502920"/>
          </a:xfrm>
          <a:prstGeom prst="rect">
            <a:avLst/>
          </a:prstGeom>
          <a:noFill/>
          <a:ln/>
        </p:spPr>
        <p:txBody>
          <a:bodyPr wrap="square" rtlCol="0" anchor="ctr"/>
          <a:lstStyle/>
          <a:p>
            <a:pPr marL="0" indent="0" algn="just">
              <a:lnSpc>
                <a:spcPct val="115000"/>
              </a:lnSpc>
              <a:buNone/>
            </a:pPr>
            <a:r>
              <a:rPr lang="en-US" sz="1200" b="1" i="1" dirty="0">
                <a:solidFill>
                  <a:srgbClr val="64748B"/>
                </a:solidFill>
                <a:latin typeface="Arial" panose="020B0604020202020204" pitchFamily="34" charset="0"/>
                <a:ea typeface="Arial" pitchFamily="34" charset="-122"/>
                <a:cs typeface="Arial" panose="020B0604020202020204" pitchFamily="34" charset="0"/>
              </a:rPr>
              <a:t>Policy: Win-back window closes at 180 days of inactivity</a:t>
            </a:r>
            <a:endParaRPr lang="en-US" sz="1200" b="1" dirty="0">
              <a:latin typeface="Arial" panose="020B0604020202020204" pitchFamily="34" charset="0"/>
              <a:cs typeface="Arial" panose="020B0604020202020204" pitchFamily="34" charset="0"/>
            </a:endParaRPr>
          </a:p>
        </p:txBody>
      </p:sp>
      <p:sp>
        <p:nvSpPr>
          <p:cNvPr id="27" name="Shape 25"/>
          <p:cNvSpPr/>
          <p:nvPr/>
        </p:nvSpPr>
        <p:spPr>
          <a:xfrm>
            <a:off x="8412480" y="1325880"/>
            <a:ext cx="3703320" cy="5303520"/>
          </a:xfrm>
          <a:prstGeom prst="roundRect">
            <a:avLst>
              <a:gd name="adj" fmla="val 2469"/>
            </a:avLst>
          </a:prstGeom>
          <a:solidFill>
            <a:srgbClr val="FFFFFF"/>
          </a:solidFill>
          <a:ln w="12700">
            <a:solidFill>
              <a:srgbClr val="CBD5E1"/>
            </a:solidFill>
            <a:prstDash val="solid"/>
          </a:ln>
          <a:effectLst>
            <a:outerShdw blurRad="76200" dist="25400" dir="16200000" algn="bl" rotWithShape="0">
              <a:srgbClr val="888888">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28" name="Shape 26"/>
          <p:cNvSpPr/>
          <p:nvPr/>
        </p:nvSpPr>
        <p:spPr>
          <a:xfrm>
            <a:off x="8412480" y="1325880"/>
            <a:ext cx="3703320" cy="914400"/>
          </a:xfrm>
          <a:prstGeom prst="roundRect">
            <a:avLst>
              <a:gd name="adj" fmla="val 10000"/>
            </a:avLst>
          </a:prstGeom>
          <a:solidFill>
            <a:srgbClr val="155E75"/>
          </a:solidFill>
          <a:ln w="12700">
            <a:solidFill>
              <a:srgbClr val="155E75"/>
            </a:solidFill>
            <a:prstDash val="solid"/>
          </a:ln>
        </p:spPr>
        <p:txBody>
          <a:bodyPr/>
          <a:lstStyle/>
          <a:p>
            <a:endParaRPr lang="en-US">
              <a:latin typeface="Arial" panose="020B0604020202020204" pitchFamily="34" charset="0"/>
              <a:cs typeface="Arial" panose="020B0604020202020204" pitchFamily="34" charset="0"/>
            </a:endParaRPr>
          </a:p>
        </p:txBody>
      </p:sp>
      <p:sp>
        <p:nvSpPr>
          <p:cNvPr id="29" name="Shape 27"/>
          <p:cNvSpPr/>
          <p:nvPr/>
        </p:nvSpPr>
        <p:spPr>
          <a:xfrm>
            <a:off x="8412480" y="1783080"/>
            <a:ext cx="3703320" cy="457200"/>
          </a:xfrm>
          <a:prstGeom prst="rect">
            <a:avLst/>
          </a:prstGeom>
          <a:solidFill>
            <a:srgbClr val="155E75"/>
          </a:solidFill>
          <a:ln w="12700">
            <a:solidFill>
              <a:srgbClr val="155E75"/>
            </a:solidFill>
            <a:prstDash val="solid"/>
          </a:ln>
        </p:spPr>
        <p:txBody>
          <a:bodyPr/>
          <a:lstStyle/>
          <a:p>
            <a:endParaRPr lang="en-US">
              <a:latin typeface="Arial" panose="020B0604020202020204" pitchFamily="34" charset="0"/>
              <a:cs typeface="Arial" panose="020B0604020202020204" pitchFamily="34" charset="0"/>
            </a:endParaRPr>
          </a:p>
        </p:txBody>
      </p:sp>
      <p:sp>
        <p:nvSpPr>
          <p:cNvPr id="30" name="Text 28"/>
          <p:cNvSpPr/>
          <p:nvPr/>
        </p:nvSpPr>
        <p:spPr>
          <a:xfrm>
            <a:off x="8412480" y="1371600"/>
            <a:ext cx="3703320" cy="457200"/>
          </a:xfrm>
          <a:prstGeom prst="rect">
            <a:avLst/>
          </a:prstGeom>
          <a:noFill/>
          <a:ln/>
        </p:spPr>
        <p:txBody>
          <a:bodyPr wrap="square" rtlCol="0" anchor="ctr"/>
          <a:lstStyle/>
          <a:p>
            <a:pPr marL="0" indent="0" algn="ctr">
              <a:buNone/>
            </a:pPr>
            <a:r>
              <a:rPr lang="en-US" sz="1800" b="1" dirty="0">
                <a:solidFill>
                  <a:srgbClr val="FFFFFF"/>
                </a:solidFill>
                <a:latin typeface="Arial" panose="020B0604020202020204" pitchFamily="34" charset="0"/>
                <a:ea typeface="Arial" pitchFamily="34" charset="-122"/>
                <a:cs typeface="Arial" panose="020B0604020202020204" pitchFamily="34" charset="0"/>
              </a:rPr>
              <a:t>HOLD</a:t>
            </a:r>
            <a:endParaRPr lang="en-US" sz="1800" dirty="0">
              <a:latin typeface="Arial" panose="020B0604020202020204" pitchFamily="34" charset="0"/>
              <a:cs typeface="Arial" panose="020B0604020202020204" pitchFamily="34" charset="0"/>
            </a:endParaRPr>
          </a:p>
        </p:txBody>
      </p:sp>
      <p:sp>
        <p:nvSpPr>
          <p:cNvPr id="31" name="Text 29"/>
          <p:cNvSpPr/>
          <p:nvPr/>
        </p:nvSpPr>
        <p:spPr>
          <a:xfrm>
            <a:off x="8412480" y="1801368"/>
            <a:ext cx="3703320" cy="347472"/>
          </a:xfrm>
          <a:prstGeom prst="rect">
            <a:avLst/>
          </a:prstGeom>
          <a:noFill/>
          <a:ln/>
        </p:spPr>
        <p:txBody>
          <a:bodyPr wrap="square" rtlCol="0" anchor="ctr"/>
          <a:lstStyle/>
          <a:p>
            <a:pPr marL="0" indent="0" algn="ctr">
              <a:buNone/>
            </a:pPr>
            <a:r>
              <a:rPr lang="en-US" sz="1050" dirty="0">
                <a:solidFill>
                  <a:srgbClr val="FFFFFF"/>
                </a:solidFill>
                <a:latin typeface="Arial" panose="020B0604020202020204" pitchFamily="34" charset="0"/>
                <a:ea typeface="Arial" pitchFamily="34" charset="-122"/>
                <a:cs typeface="Arial" panose="020B0604020202020204" pitchFamily="34" charset="0"/>
              </a:rPr>
              <a:t>Referral Programme</a:t>
            </a:r>
            <a:endParaRPr lang="en-US" sz="1050" dirty="0">
              <a:latin typeface="Arial" panose="020B0604020202020204" pitchFamily="34" charset="0"/>
              <a:cs typeface="Arial" panose="020B0604020202020204" pitchFamily="34" charset="0"/>
            </a:endParaRPr>
          </a:p>
        </p:txBody>
      </p:sp>
      <p:sp>
        <p:nvSpPr>
          <p:cNvPr id="32" name="Text 30"/>
          <p:cNvSpPr/>
          <p:nvPr/>
        </p:nvSpPr>
        <p:spPr>
          <a:xfrm>
            <a:off x="8549640" y="2395728"/>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1. No retention spend required</a:t>
            </a:r>
            <a:endParaRPr lang="en-US" sz="1200" dirty="0">
              <a:latin typeface="Arial" panose="020B0604020202020204" pitchFamily="34" charset="0"/>
              <a:cs typeface="Arial" panose="020B0604020202020204" pitchFamily="34" charset="0"/>
            </a:endParaRPr>
          </a:p>
        </p:txBody>
      </p:sp>
      <p:sp>
        <p:nvSpPr>
          <p:cNvPr id="33" name="Text 31"/>
          <p:cNvSpPr/>
          <p:nvPr/>
        </p:nvSpPr>
        <p:spPr>
          <a:xfrm>
            <a:off x="8549640" y="3200400"/>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2. If NPS ≥ 9: enrol in referral / advocacy programme</a:t>
            </a:r>
            <a:endParaRPr lang="en-US" sz="1200" dirty="0">
              <a:latin typeface="Arial" panose="020B0604020202020204" pitchFamily="34" charset="0"/>
              <a:cs typeface="Arial" panose="020B0604020202020204" pitchFamily="34" charset="0"/>
            </a:endParaRPr>
          </a:p>
        </p:txBody>
      </p:sp>
      <p:sp>
        <p:nvSpPr>
          <p:cNvPr id="34" name="Text 32"/>
          <p:cNvSpPr/>
          <p:nvPr/>
        </p:nvSpPr>
        <p:spPr>
          <a:xfrm>
            <a:off x="8549640" y="4005072"/>
            <a:ext cx="3429000" cy="731520"/>
          </a:xfrm>
          <a:prstGeom prst="rect">
            <a:avLst/>
          </a:prstGeom>
          <a:noFill/>
          <a:ln/>
        </p:spPr>
        <p:txBody>
          <a:bodyPr wrap="square" rtlCol="0" anchor="ctr"/>
          <a:lstStyle/>
          <a:p>
            <a:pPr marL="0" indent="0" algn="just">
              <a:lnSpc>
                <a:spcPct val="120000"/>
              </a:lnSpc>
              <a:buNone/>
            </a:pPr>
            <a:r>
              <a:rPr lang="en-US" sz="1200" dirty="0">
                <a:solidFill>
                  <a:srgbClr val="334155"/>
                </a:solidFill>
                <a:latin typeface="Arial" panose="020B0604020202020204" pitchFamily="34" charset="0"/>
                <a:ea typeface="Arial" pitchFamily="34" charset="-122"/>
                <a:cs typeface="Arial" panose="020B0604020202020204" pitchFamily="34" charset="0"/>
              </a:rPr>
              <a:t>3. Monitor passively — re-classify if recency &gt; 30d or NPS drops below 7</a:t>
            </a:r>
            <a:endParaRPr lang="en-US" sz="1200" dirty="0">
              <a:latin typeface="Arial" panose="020B0604020202020204" pitchFamily="34" charset="0"/>
              <a:cs typeface="Arial" panose="020B0604020202020204" pitchFamily="34" charset="0"/>
            </a:endParaRPr>
          </a:p>
        </p:txBody>
      </p:sp>
      <p:sp>
        <p:nvSpPr>
          <p:cNvPr id="35" name="Shape 33"/>
          <p:cNvSpPr/>
          <p:nvPr/>
        </p:nvSpPr>
        <p:spPr>
          <a:xfrm>
            <a:off x="8595360" y="4937760"/>
            <a:ext cx="1188720" cy="292608"/>
          </a:xfrm>
          <a:prstGeom prst="roundRect">
            <a:avLst>
              <a:gd name="adj" fmla="val 12500"/>
            </a:avLst>
          </a:prstGeom>
          <a:solidFill>
            <a:srgbClr val="155E75"/>
          </a:solidFill>
          <a:ln w="12700">
            <a:solidFill>
              <a:srgbClr val="155E75"/>
            </a:solidFill>
            <a:prstDash val="solid"/>
          </a:ln>
        </p:spPr>
        <p:txBody>
          <a:bodyPr/>
          <a:lstStyle/>
          <a:p>
            <a:endParaRPr lang="en-US">
              <a:latin typeface="Arial" panose="020B0604020202020204" pitchFamily="34" charset="0"/>
              <a:cs typeface="Arial" panose="020B0604020202020204" pitchFamily="34" charset="0"/>
            </a:endParaRPr>
          </a:p>
        </p:txBody>
      </p:sp>
      <p:sp>
        <p:nvSpPr>
          <p:cNvPr id="36" name="Text 34"/>
          <p:cNvSpPr/>
          <p:nvPr/>
        </p:nvSpPr>
        <p:spPr>
          <a:xfrm>
            <a:off x="8595360" y="4937760"/>
            <a:ext cx="1188720" cy="292608"/>
          </a:xfrm>
          <a:prstGeom prst="rect">
            <a:avLst/>
          </a:prstGeom>
          <a:noFill/>
          <a:ln/>
        </p:spPr>
        <p:txBody>
          <a:bodyPr wrap="square" rtlCol="0" anchor="ctr"/>
          <a:lstStyle/>
          <a:p>
            <a:pPr marL="0" indent="0" algn="ctr">
              <a:buNone/>
            </a:pPr>
            <a:r>
              <a:rPr lang="en-US" sz="1200" b="1" dirty="0">
                <a:solidFill>
                  <a:srgbClr val="FFFFFF"/>
                </a:solidFill>
                <a:latin typeface="Arial" panose="020B0604020202020204" pitchFamily="34" charset="0"/>
                <a:ea typeface="Arial" pitchFamily="34" charset="-122"/>
                <a:cs typeface="Arial" panose="020B0604020202020204" pitchFamily="34" charset="0"/>
              </a:rPr>
              <a:t>Ongoing</a:t>
            </a:r>
            <a:endParaRPr lang="en-US" sz="1200" dirty="0">
              <a:latin typeface="Arial" panose="020B0604020202020204" pitchFamily="34" charset="0"/>
              <a:cs typeface="Arial" panose="020B0604020202020204" pitchFamily="34" charset="0"/>
            </a:endParaRPr>
          </a:p>
        </p:txBody>
      </p:sp>
      <p:sp>
        <p:nvSpPr>
          <p:cNvPr id="37" name="Text 35"/>
          <p:cNvSpPr/>
          <p:nvPr/>
        </p:nvSpPr>
        <p:spPr>
          <a:xfrm>
            <a:off x="8549640" y="5448517"/>
            <a:ext cx="3429000" cy="502920"/>
          </a:xfrm>
          <a:prstGeom prst="rect">
            <a:avLst/>
          </a:prstGeom>
          <a:noFill/>
          <a:ln/>
        </p:spPr>
        <p:txBody>
          <a:bodyPr wrap="square" rtlCol="0" anchor="ctr"/>
          <a:lstStyle/>
          <a:p>
            <a:pPr marL="0" indent="0" algn="just">
              <a:lnSpc>
                <a:spcPct val="115000"/>
              </a:lnSpc>
              <a:buNone/>
            </a:pPr>
            <a:r>
              <a:rPr lang="en-US" sz="1200" b="1" i="1" dirty="0">
                <a:solidFill>
                  <a:srgbClr val="64748B"/>
                </a:solidFill>
                <a:latin typeface="Arial" panose="020B0604020202020204" pitchFamily="34" charset="0"/>
                <a:ea typeface="Arial" pitchFamily="34" charset="-122"/>
                <a:cs typeface="Arial" panose="020B0604020202020204" pitchFamily="34" charset="0"/>
              </a:rPr>
              <a:t>Policy: Zero retention spend — convert satisfaction into growth</a:t>
            </a:r>
            <a:endParaRPr lang="en-US" sz="1200" b="1"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D1B2A"/>
          </a:solidFill>
          <a:ln/>
        </p:spPr>
        <p:txBody>
          <a:bodyPr/>
          <a:lstStyle/>
          <a:p>
            <a:endParaRPr lang="en-US"/>
          </a:p>
        </p:txBody>
      </p:sp>
      <p:sp>
        <p:nvSpPr>
          <p:cNvPr id="3" name="Shape 1"/>
          <p:cNvSpPr/>
          <p:nvPr/>
        </p:nvSpPr>
        <p:spPr>
          <a:xfrm>
            <a:off x="0" y="0"/>
            <a:ext cx="12192000" cy="6858000"/>
          </a:xfrm>
          <a:prstGeom prst="rect">
            <a:avLst/>
          </a:prstGeom>
          <a:solidFill>
            <a:srgbClr val="0B1F3A"/>
          </a:solidFill>
          <a:ln>
            <a:solidFill>
              <a:schemeClr val="tx1"/>
            </a:solidFill>
          </a:ln>
        </p:spPr>
        <p:txBody>
          <a:bodyPr vert="horz" lIns="91440" tIns="45720" rIns="91440" bIns="45720" rtlCol="0" anchor="ctr">
            <a:normAutofit/>
          </a:bodyPr>
          <a:lstStyle/>
          <a:p>
            <a:pPr algn="ctr">
              <a:lnSpc>
                <a:spcPct val="90000"/>
              </a:lnSpc>
              <a:spcBef>
                <a:spcPct val="0"/>
              </a:spcBef>
            </a:pPr>
            <a:endParaRPr lang="en-US" sz="4400" b="1" i="1">
              <a:solidFill>
                <a:schemeClr val="bg1"/>
              </a:solidFill>
              <a:latin typeface="Arial" panose="020B0604020202020204" pitchFamily="34" charset="0"/>
              <a:ea typeface="+mj-ea"/>
              <a:cs typeface="Arial" panose="020B0604020202020204" pitchFamily="34" charset="0"/>
            </a:endParaRPr>
          </a:p>
        </p:txBody>
      </p:sp>
      <p:sp>
        <p:nvSpPr>
          <p:cNvPr id="4" name="Shape 2"/>
          <p:cNvSpPr/>
          <p:nvPr/>
        </p:nvSpPr>
        <p:spPr>
          <a:xfrm>
            <a:off x="548640" y="1005840"/>
            <a:ext cx="54864" cy="4206240"/>
          </a:xfrm>
          <a:prstGeom prst="rect">
            <a:avLst/>
          </a:prstGeom>
          <a:solidFill>
            <a:srgbClr val="C8860A"/>
          </a:solidFill>
          <a:ln w="12700">
            <a:solidFill>
              <a:srgbClr val="C8860A"/>
            </a:solidFill>
            <a:prstDash val="solid"/>
          </a:ln>
        </p:spPr>
        <p:txBody>
          <a:bodyPr/>
          <a:lstStyle/>
          <a:p>
            <a:endParaRPr lang="en-US">
              <a:solidFill>
                <a:srgbClr val="FFC000"/>
              </a:solidFill>
              <a:latin typeface="Arial" panose="020B0604020202020204" pitchFamily="34" charset="0"/>
              <a:cs typeface="Arial" panose="020B0604020202020204" pitchFamily="34" charset="0"/>
            </a:endParaRPr>
          </a:p>
        </p:txBody>
      </p:sp>
      <p:sp>
        <p:nvSpPr>
          <p:cNvPr id="5" name="Text 3"/>
          <p:cNvSpPr/>
          <p:nvPr/>
        </p:nvSpPr>
        <p:spPr>
          <a:xfrm>
            <a:off x="777240" y="914400"/>
            <a:ext cx="11292840" cy="640080"/>
          </a:xfrm>
          <a:prstGeom prst="rect">
            <a:avLst/>
          </a:prstGeom>
          <a:noFill/>
          <a:ln>
            <a:solidFill>
              <a:schemeClr val="bg1"/>
            </a:solidFill>
          </a:ln>
        </p:spPr>
        <p:txBody>
          <a:bodyPr wrap="square" rtlCol="0" anchor="ctr"/>
          <a:lstStyle/>
          <a:p>
            <a:pPr marL="0" indent="0">
              <a:buNone/>
            </a:pPr>
            <a:r>
              <a:rPr lang="en-US" sz="3600" b="1" dirty="0">
                <a:solidFill>
                  <a:srgbClr val="FFC000"/>
                </a:solidFill>
                <a:latin typeface="Arial" panose="020B0604020202020204" pitchFamily="34" charset="0"/>
                <a:ea typeface="Arial" pitchFamily="34" charset="-122"/>
                <a:cs typeface="Arial" panose="020B0604020202020204" pitchFamily="34" charset="0"/>
              </a:rPr>
              <a:t>What This System Delivers</a:t>
            </a:r>
            <a:endParaRPr lang="en-US" sz="3600" dirty="0">
              <a:solidFill>
                <a:srgbClr val="FFC000"/>
              </a:solidFill>
              <a:latin typeface="Arial" panose="020B0604020202020204" pitchFamily="34" charset="0"/>
              <a:cs typeface="Arial" panose="020B0604020202020204" pitchFamily="34" charset="0"/>
            </a:endParaRPr>
          </a:p>
        </p:txBody>
      </p:sp>
      <p:sp>
        <p:nvSpPr>
          <p:cNvPr id="6" name="Shape 4"/>
          <p:cNvSpPr/>
          <p:nvPr/>
        </p:nvSpPr>
        <p:spPr>
          <a:xfrm>
            <a:off x="777240" y="1828800"/>
            <a:ext cx="2651760" cy="2606040"/>
          </a:xfrm>
          <a:prstGeom prst="roundRect">
            <a:avLst>
              <a:gd name="adj" fmla="val 3509"/>
            </a:avLst>
          </a:prstGeom>
          <a:solidFill>
            <a:schemeClr val="bg2"/>
          </a:solidFill>
          <a:ln w="12700">
            <a:solidFill>
              <a:srgbClr val="243B6E"/>
            </a:solidFill>
            <a:prstDash val="solid"/>
          </a:ln>
        </p:spPr>
        <p:txBody>
          <a:bodyPr/>
          <a:lstStyle/>
          <a:p>
            <a:endParaRPr lang="en-US">
              <a:latin typeface="Arial" panose="020B0604020202020204" pitchFamily="34" charset="0"/>
              <a:cs typeface="Arial" panose="020B0604020202020204" pitchFamily="34" charset="0"/>
            </a:endParaRPr>
          </a:p>
        </p:txBody>
      </p:sp>
      <p:sp>
        <p:nvSpPr>
          <p:cNvPr id="8" name="Text 6"/>
          <p:cNvSpPr/>
          <p:nvPr/>
        </p:nvSpPr>
        <p:spPr>
          <a:xfrm>
            <a:off x="868680" y="2033451"/>
            <a:ext cx="2468880" cy="411480"/>
          </a:xfrm>
          <a:prstGeom prst="rect">
            <a:avLst/>
          </a:prstGeom>
          <a:noFill/>
          <a:ln/>
        </p:spPr>
        <p:txBody>
          <a:bodyPr wrap="square" rtlCol="0" anchor="ctr"/>
          <a:lstStyle/>
          <a:p>
            <a:pPr marL="0" indent="0" algn="ctr">
              <a:buNone/>
            </a:pPr>
            <a:r>
              <a:rPr lang="en-US" sz="1400" b="1" dirty="0">
                <a:solidFill>
                  <a:srgbClr val="C8860A"/>
                </a:solidFill>
                <a:latin typeface="Arial" panose="020B0604020202020204" pitchFamily="34" charset="0"/>
                <a:ea typeface="Arial" pitchFamily="34" charset="-122"/>
                <a:cs typeface="Arial" panose="020B0604020202020204" pitchFamily="34" charset="0"/>
              </a:rPr>
              <a:t>Auditability</a:t>
            </a:r>
            <a:endParaRPr lang="en-US" sz="1400" dirty="0">
              <a:latin typeface="Arial" panose="020B0604020202020204" pitchFamily="34" charset="0"/>
              <a:cs typeface="Arial" panose="020B0604020202020204" pitchFamily="34" charset="0"/>
            </a:endParaRPr>
          </a:p>
        </p:txBody>
      </p:sp>
      <p:sp>
        <p:nvSpPr>
          <p:cNvPr id="9" name="Text 7"/>
          <p:cNvSpPr/>
          <p:nvPr/>
        </p:nvSpPr>
        <p:spPr>
          <a:xfrm>
            <a:off x="868680" y="2621279"/>
            <a:ext cx="2468880" cy="1371600"/>
          </a:xfrm>
          <a:prstGeom prst="rect">
            <a:avLst/>
          </a:prstGeom>
          <a:noFill/>
          <a:ln/>
        </p:spPr>
        <p:txBody>
          <a:bodyPr wrap="square" rtlCol="0" anchor="t"/>
          <a:lstStyle/>
          <a:p>
            <a:pPr marL="0" indent="0" algn="ctr">
              <a:lnSpc>
                <a:spcPct val="125000"/>
              </a:lnSpc>
              <a:buNone/>
            </a:pPr>
            <a:r>
              <a:rPr lang="en-US" sz="1200" dirty="0">
                <a:solidFill>
                  <a:schemeClr val="tx2"/>
                </a:solidFill>
                <a:latin typeface="Arial" panose="020B0604020202020204" pitchFamily="34" charset="0"/>
                <a:ea typeface="Arial" pitchFamily="34" charset="-122"/>
                <a:cs typeface="Arial" panose="020B0604020202020204" pitchFamily="34" charset="0"/>
              </a:rPr>
              <a:t>Every decision cites the exact signals that triggered it. No black box — full CRM compliance trail.</a:t>
            </a:r>
            <a:endParaRPr lang="en-US" sz="1200" dirty="0">
              <a:solidFill>
                <a:schemeClr val="tx2"/>
              </a:solidFill>
              <a:latin typeface="Arial" panose="020B0604020202020204" pitchFamily="34" charset="0"/>
              <a:cs typeface="Arial" panose="020B0604020202020204" pitchFamily="34" charset="0"/>
            </a:endParaRPr>
          </a:p>
        </p:txBody>
      </p:sp>
      <p:sp>
        <p:nvSpPr>
          <p:cNvPr id="10" name="Shape 8"/>
          <p:cNvSpPr/>
          <p:nvPr/>
        </p:nvSpPr>
        <p:spPr>
          <a:xfrm>
            <a:off x="3657600" y="1828800"/>
            <a:ext cx="2651760" cy="2606040"/>
          </a:xfrm>
          <a:prstGeom prst="roundRect">
            <a:avLst>
              <a:gd name="adj" fmla="val 3509"/>
            </a:avLst>
          </a:prstGeom>
          <a:solidFill>
            <a:schemeClr val="bg2"/>
          </a:solidFill>
          <a:ln w="12700">
            <a:solidFill>
              <a:srgbClr val="243B6E"/>
            </a:solidFill>
            <a:prstDash val="solid"/>
          </a:ln>
        </p:spPr>
        <p:txBody>
          <a:bodyPr/>
          <a:lstStyle/>
          <a:p>
            <a:endParaRPr lang="en-US">
              <a:latin typeface="Arial" panose="020B0604020202020204" pitchFamily="34" charset="0"/>
              <a:cs typeface="Arial" panose="020B0604020202020204" pitchFamily="34" charset="0"/>
            </a:endParaRPr>
          </a:p>
        </p:txBody>
      </p:sp>
      <p:sp>
        <p:nvSpPr>
          <p:cNvPr id="12" name="Text 10"/>
          <p:cNvSpPr/>
          <p:nvPr/>
        </p:nvSpPr>
        <p:spPr>
          <a:xfrm>
            <a:off x="3749040" y="2033451"/>
            <a:ext cx="2468880" cy="411480"/>
          </a:xfrm>
          <a:prstGeom prst="rect">
            <a:avLst/>
          </a:prstGeom>
          <a:noFill/>
          <a:ln/>
        </p:spPr>
        <p:txBody>
          <a:bodyPr wrap="square" rtlCol="0" anchor="ctr"/>
          <a:lstStyle/>
          <a:p>
            <a:pPr marL="0" indent="0" algn="ctr">
              <a:buNone/>
            </a:pPr>
            <a:r>
              <a:rPr lang="en-US" sz="1400" b="1" dirty="0">
                <a:solidFill>
                  <a:srgbClr val="C8860A"/>
                </a:solidFill>
                <a:latin typeface="Arial" panose="020B0604020202020204" pitchFamily="34" charset="0"/>
                <a:ea typeface="Arial" pitchFamily="34" charset="-122"/>
                <a:cs typeface="Arial" panose="020B0604020202020204" pitchFamily="34" charset="0"/>
              </a:rPr>
              <a:t>Speed &amp; Scale</a:t>
            </a:r>
            <a:endParaRPr lang="en-US" sz="1400" dirty="0">
              <a:latin typeface="Arial" panose="020B0604020202020204" pitchFamily="34" charset="0"/>
              <a:cs typeface="Arial" panose="020B0604020202020204" pitchFamily="34" charset="0"/>
            </a:endParaRPr>
          </a:p>
        </p:txBody>
      </p:sp>
      <p:sp>
        <p:nvSpPr>
          <p:cNvPr id="13" name="Text 11"/>
          <p:cNvSpPr/>
          <p:nvPr/>
        </p:nvSpPr>
        <p:spPr>
          <a:xfrm>
            <a:off x="3749040" y="2621279"/>
            <a:ext cx="2468880" cy="1371600"/>
          </a:xfrm>
          <a:prstGeom prst="rect">
            <a:avLst/>
          </a:prstGeom>
          <a:noFill/>
          <a:ln/>
        </p:spPr>
        <p:txBody>
          <a:bodyPr wrap="square" rtlCol="0" anchor="t"/>
          <a:lstStyle/>
          <a:p>
            <a:pPr marL="0" indent="0" algn="ctr">
              <a:lnSpc>
                <a:spcPct val="125000"/>
              </a:lnSpc>
              <a:buNone/>
            </a:pPr>
            <a:r>
              <a:rPr lang="en-US" sz="1200" dirty="0">
                <a:solidFill>
                  <a:schemeClr val="tx2"/>
                </a:solidFill>
                <a:latin typeface="Arial" panose="020B0604020202020204" pitchFamily="34" charset="0"/>
                <a:ea typeface="Arial" pitchFamily="34" charset="-122"/>
                <a:cs typeface="Arial" panose="020B0604020202020204" pitchFamily="34" charset="0"/>
              </a:rPr>
              <a:t>NBA decisions in seconds per customer. Processes the entire active base overnight without added headcount.</a:t>
            </a:r>
            <a:endParaRPr lang="en-US" sz="1200" dirty="0">
              <a:solidFill>
                <a:schemeClr val="tx2"/>
              </a:solidFill>
              <a:latin typeface="Arial" panose="020B0604020202020204" pitchFamily="34" charset="0"/>
              <a:cs typeface="Arial" panose="020B0604020202020204" pitchFamily="34" charset="0"/>
            </a:endParaRPr>
          </a:p>
        </p:txBody>
      </p:sp>
      <p:sp>
        <p:nvSpPr>
          <p:cNvPr id="14" name="Shape 12"/>
          <p:cNvSpPr/>
          <p:nvPr/>
        </p:nvSpPr>
        <p:spPr>
          <a:xfrm>
            <a:off x="6537960" y="1828800"/>
            <a:ext cx="2651760" cy="2606040"/>
          </a:xfrm>
          <a:prstGeom prst="roundRect">
            <a:avLst>
              <a:gd name="adj" fmla="val 3509"/>
            </a:avLst>
          </a:prstGeom>
          <a:solidFill>
            <a:schemeClr val="bg2"/>
          </a:solidFill>
          <a:ln w="12700">
            <a:solidFill>
              <a:srgbClr val="243B6E"/>
            </a:solidFill>
            <a:prstDash val="solid"/>
          </a:ln>
        </p:spPr>
        <p:txBody>
          <a:bodyPr/>
          <a:lstStyle/>
          <a:p>
            <a:endParaRPr lang="en-US">
              <a:latin typeface="Arial" panose="020B0604020202020204" pitchFamily="34" charset="0"/>
              <a:cs typeface="Arial" panose="020B0604020202020204" pitchFamily="34" charset="0"/>
            </a:endParaRPr>
          </a:p>
        </p:txBody>
      </p:sp>
      <p:sp>
        <p:nvSpPr>
          <p:cNvPr id="16" name="Text 14"/>
          <p:cNvSpPr/>
          <p:nvPr/>
        </p:nvSpPr>
        <p:spPr>
          <a:xfrm>
            <a:off x="6629400" y="2033451"/>
            <a:ext cx="2468880" cy="411480"/>
          </a:xfrm>
          <a:prstGeom prst="rect">
            <a:avLst/>
          </a:prstGeom>
          <a:noFill/>
          <a:ln/>
        </p:spPr>
        <p:txBody>
          <a:bodyPr wrap="square" rtlCol="0" anchor="ctr"/>
          <a:lstStyle/>
          <a:p>
            <a:pPr marL="0" indent="0" algn="ctr">
              <a:buNone/>
            </a:pPr>
            <a:r>
              <a:rPr lang="en-US" sz="1400" b="1" dirty="0">
                <a:solidFill>
                  <a:srgbClr val="C8860A"/>
                </a:solidFill>
                <a:latin typeface="Arial" panose="020B0604020202020204" pitchFamily="34" charset="0"/>
                <a:ea typeface="Arial" pitchFamily="34" charset="-122"/>
                <a:cs typeface="Arial" panose="020B0604020202020204" pitchFamily="34" charset="0"/>
              </a:rPr>
              <a:t>Consistency</a:t>
            </a:r>
            <a:endParaRPr lang="en-US" sz="1400" dirty="0">
              <a:latin typeface="Arial" panose="020B0604020202020204" pitchFamily="34" charset="0"/>
              <a:cs typeface="Arial" panose="020B0604020202020204" pitchFamily="34" charset="0"/>
            </a:endParaRPr>
          </a:p>
        </p:txBody>
      </p:sp>
      <p:sp>
        <p:nvSpPr>
          <p:cNvPr id="17" name="Text 15"/>
          <p:cNvSpPr/>
          <p:nvPr/>
        </p:nvSpPr>
        <p:spPr>
          <a:xfrm>
            <a:off x="6629400" y="2621279"/>
            <a:ext cx="2468880" cy="1371600"/>
          </a:xfrm>
          <a:prstGeom prst="rect">
            <a:avLst/>
          </a:prstGeom>
          <a:noFill/>
          <a:ln/>
        </p:spPr>
        <p:txBody>
          <a:bodyPr wrap="square" rtlCol="0" anchor="t"/>
          <a:lstStyle/>
          <a:p>
            <a:pPr marL="0" indent="0" algn="ctr">
              <a:lnSpc>
                <a:spcPct val="125000"/>
              </a:lnSpc>
              <a:buNone/>
            </a:pPr>
            <a:r>
              <a:rPr lang="en-US" sz="1200" dirty="0">
                <a:solidFill>
                  <a:schemeClr val="tx2"/>
                </a:solidFill>
                <a:latin typeface="Arial" panose="020B0604020202020204" pitchFamily="34" charset="0"/>
                <a:ea typeface="Arial" pitchFamily="34" charset="-122"/>
                <a:cs typeface="Arial" panose="020B0604020202020204" pitchFamily="34" charset="0"/>
              </a:rPr>
              <a:t>Every customer gets a standardised, policy-compliant treatment — eliminating agent variability and regional inconsistency.</a:t>
            </a:r>
            <a:endParaRPr lang="en-US" sz="1200" dirty="0">
              <a:solidFill>
                <a:schemeClr val="tx2"/>
              </a:solidFill>
              <a:latin typeface="Arial" panose="020B0604020202020204" pitchFamily="34" charset="0"/>
              <a:cs typeface="Arial" panose="020B0604020202020204" pitchFamily="34" charset="0"/>
            </a:endParaRPr>
          </a:p>
        </p:txBody>
      </p:sp>
      <p:sp>
        <p:nvSpPr>
          <p:cNvPr id="18" name="Shape 16"/>
          <p:cNvSpPr/>
          <p:nvPr/>
        </p:nvSpPr>
        <p:spPr>
          <a:xfrm>
            <a:off x="9418320" y="1828800"/>
            <a:ext cx="2651760" cy="2606040"/>
          </a:xfrm>
          <a:prstGeom prst="roundRect">
            <a:avLst>
              <a:gd name="adj" fmla="val 3509"/>
            </a:avLst>
          </a:prstGeom>
          <a:solidFill>
            <a:schemeClr val="bg2"/>
          </a:solidFill>
          <a:ln w="12700">
            <a:solidFill>
              <a:srgbClr val="243B6E"/>
            </a:solidFill>
            <a:prstDash val="solid"/>
          </a:ln>
        </p:spPr>
        <p:txBody>
          <a:bodyPr/>
          <a:lstStyle/>
          <a:p>
            <a:endParaRPr lang="en-US">
              <a:latin typeface="Arial" panose="020B0604020202020204" pitchFamily="34" charset="0"/>
              <a:cs typeface="Arial" panose="020B0604020202020204" pitchFamily="34" charset="0"/>
            </a:endParaRPr>
          </a:p>
        </p:txBody>
      </p:sp>
      <p:sp>
        <p:nvSpPr>
          <p:cNvPr id="20" name="Text 18"/>
          <p:cNvSpPr/>
          <p:nvPr/>
        </p:nvSpPr>
        <p:spPr>
          <a:xfrm>
            <a:off x="9509760" y="2033451"/>
            <a:ext cx="2468880" cy="411480"/>
          </a:xfrm>
          <a:prstGeom prst="rect">
            <a:avLst/>
          </a:prstGeom>
          <a:noFill/>
          <a:ln/>
        </p:spPr>
        <p:txBody>
          <a:bodyPr wrap="square" rtlCol="0" anchor="ctr"/>
          <a:lstStyle/>
          <a:p>
            <a:pPr marL="0" indent="0" algn="ctr">
              <a:buNone/>
            </a:pPr>
            <a:r>
              <a:rPr lang="en-US" sz="1400" b="1" dirty="0">
                <a:solidFill>
                  <a:srgbClr val="C8860A"/>
                </a:solidFill>
                <a:latin typeface="Arial" panose="020B0604020202020204" pitchFamily="34" charset="0"/>
                <a:ea typeface="Arial" pitchFamily="34" charset="-122"/>
                <a:cs typeface="Arial" panose="020B0604020202020204" pitchFamily="34" charset="0"/>
              </a:rPr>
              <a:t>CLV Intelligence</a:t>
            </a:r>
            <a:endParaRPr lang="en-US" sz="1400" dirty="0">
              <a:latin typeface="Arial" panose="020B0604020202020204" pitchFamily="34" charset="0"/>
              <a:cs typeface="Arial" panose="020B0604020202020204" pitchFamily="34" charset="0"/>
            </a:endParaRPr>
          </a:p>
        </p:txBody>
      </p:sp>
      <p:sp>
        <p:nvSpPr>
          <p:cNvPr id="21" name="Text 19"/>
          <p:cNvSpPr/>
          <p:nvPr/>
        </p:nvSpPr>
        <p:spPr>
          <a:xfrm>
            <a:off x="9509760" y="2621279"/>
            <a:ext cx="2468880" cy="1371600"/>
          </a:xfrm>
          <a:prstGeom prst="rect">
            <a:avLst/>
          </a:prstGeom>
          <a:noFill/>
          <a:ln/>
        </p:spPr>
        <p:txBody>
          <a:bodyPr wrap="square" rtlCol="0" anchor="t"/>
          <a:lstStyle/>
          <a:p>
            <a:pPr marL="0" indent="0" algn="ctr">
              <a:lnSpc>
                <a:spcPct val="125000"/>
              </a:lnSpc>
              <a:buNone/>
            </a:pPr>
            <a:r>
              <a:rPr lang="en-US" sz="1200" dirty="0">
                <a:solidFill>
                  <a:schemeClr val="tx2"/>
                </a:solidFill>
                <a:latin typeface="Arial" panose="020B0604020202020204" pitchFamily="34" charset="0"/>
                <a:ea typeface="Arial" pitchFamily="34" charset="-122"/>
                <a:cs typeface="Arial" panose="020B0604020202020204" pitchFamily="34" charset="0"/>
              </a:rPr>
              <a:t>Gold and Platinum customers receive higher-touch, higher-value treatment. Retention spend is always proportional to lifetime value.</a:t>
            </a:r>
            <a:endParaRPr lang="en-US" sz="1200" dirty="0">
              <a:solidFill>
                <a:schemeClr val="tx2"/>
              </a:solidFill>
              <a:latin typeface="Arial" panose="020B0604020202020204" pitchFamily="34" charset="0"/>
              <a:cs typeface="Arial" panose="020B0604020202020204" pitchFamily="34" charset="0"/>
            </a:endParaRPr>
          </a:p>
        </p:txBody>
      </p:sp>
      <p:sp>
        <p:nvSpPr>
          <p:cNvPr id="22" name="Shape 20"/>
          <p:cNvSpPr/>
          <p:nvPr/>
        </p:nvSpPr>
        <p:spPr>
          <a:xfrm>
            <a:off x="777240" y="4754880"/>
            <a:ext cx="11292840" cy="685800"/>
          </a:xfrm>
          <a:prstGeom prst="roundRect">
            <a:avLst>
              <a:gd name="adj" fmla="val 10667"/>
            </a:avLst>
          </a:prstGeom>
          <a:solidFill>
            <a:srgbClr val="14274E"/>
          </a:solidFill>
          <a:ln w="12700">
            <a:solidFill>
              <a:srgbClr val="C8860A"/>
            </a:solidFill>
            <a:prstDash val="solid"/>
          </a:ln>
        </p:spPr>
        <p:txBody>
          <a:bodyPr/>
          <a:lstStyle/>
          <a:p>
            <a:endParaRPr lang="en-US">
              <a:latin typeface="Arial" panose="020B0604020202020204" pitchFamily="34" charset="0"/>
              <a:cs typeface="Arial" panose="020B0604020202020204" pitchFamily="34" charset="0"/>
            </a:endParaRPr>
          </a:p>
        </p:txBody>
      </p:sp>
      <p:sp>
        <p:nvSpPr>
          <p:cNvPr id="23" name="Text 21"/>
          <p:cNvSpPr/>
          <p:nvPr/>
        </p:nvSpPr>
        <p:spPr>
          <a:xfrm>
            <a:off x="868679" y="4754880"/>
            <a:ext cx="11096443" cy="685800"/>
          </a:xfrm>
          <a:prstGeom prst="rect">
            <a:avLst/>
          </a:prstGeom>
          <a:noFill/>
          <a:ln/>
        </p:spPr>
        <p:txBody>
          <a:bodyPr wrap="square" rtlCol="0" anchor="ctr"/>
          <a:lstStyle/>
          <a:p>
            <a:pPr marL="0" indent="0" algn="ctr">
              <a:buNone/>
            </a:pPr>
            <a:r>
              <a:rPr lang="en-US" sz="1400" i="1" dirty="0">
                <a:solidFill>
                  <a:srgbClr val="FFFFFF"/>
                </a:solidFill>
                <a:latin typeface="Arial" panose="020B0604020202020204" pitchFamily="34" charset="0"/>
                <a:ea typeface="Arial" pitchFamily="34" charset="-122"/>
                <a:cs typeface="Arial" panose="020B0604020202020204" pitchFamily="34" charset="0"/>
              </a:rPr>
              <a:t>"AI in CRM doesn't have to be a black box. Every decision comes with the signals that triggered it, the playbook it came from, and a clear owner for the action — that's what makes it something a retention team can actually trust."</a:t>
            </a:r>
            <a:endParaRPr lang="en-US" sz="1400" dirty="0">
              <a:latin typeface="Arial" panose="020B0604020202020204" pitchFamily="34" charset="0"/>
              <a:cs typeface="Arial" panose="020B0604020202020204" pitchFamily="34" charset="0"/>
            </a:endParaRPr>
          </a:p>
        </p:txBody>
      </p:sp>
      <p:sp>
        <p:nvSpPr>
          <p:cNvPr id="24" name="Text 22"/>
          <p:cNvSpPr/>
          <p:nvPr/>
        </p:nvSpPr>
        <p:spPr>
          <a:xfrm>
            <a:off x="960120" y="5760720"/>
            <a:ext cx="10515600" cy="411480"/>
          </a:xfrm>
          <a:prstGeom prst="rect">
            <a:avLst/>
          </a:prstGeom>
          <a:noFill/>
          <a:ln/>
        </p:spPr>
        <p:txBody>
          <a:bodyPr wrap="square" rtlCol="0" anchor="ctr"/>
          <a:lstStyle/>
          <a:p>
            <a:pPr marL="0" indent="0" algn="ctr">
              <a:buNone/>
            </a:pPr>
            <a:r>
              <a:rPr lang="en-US" sz="1400" dirty="0">
                <a:solidFill>
                  <a:schemeClr val="accent1">
                    <a:lumMod val="40000"/>
                    <a:lumOff val="60000"/>
                  </a:schemeClr>
                </a:solidFill>
                <a:latin typeface="Arial" panose="020B0604020202020204" pitchFamily="34" charset="0"/>
                <a:ea typeface="Arial" pitchFamily="34" charset="-122"/>
                <a:cs typeface="Arial" panose="020B0604020202020204" pitchFamily="34" charset="0"/>
              </a:rPr>
              <a:t>Thank you  </a:t>
            </a:r>
            <a:r>
              <a:rPr lang="en-US" sz="1400" b="1" dirty="0">
                <a:solidFill>
                  <a:schemeClr val="accent1">
                    <a:lumMod val="40000"/>
                    <a:lumOff val="60000"/>
                  </a:schemeClr>
                </a:solidFill>
                <a:latin typeface="Arial" panose="020B0604020202020204" pitchFamily="34" charset="0"/>
                <a:ea typeface="Arial" pitchFamily="34" charset="-122"/>
                <a:cs typeface="Arial" panose="020B0604020202020204" pitchFamily="34" charset="0"/>
              </a:rPr>
              <a:t>·</a:t>
            </a:r>
            <a:r>
              <a:rPr lang="en-US" sz="1400" dirty="0">
                <a:solidFill>
                  <a:schemeClr val="accent1">
                    <a:lumMod val="40000"/>
                    <a:lumOff val="60000"/>
                  </a:schemeClr>
                </a:solidFill>
                <a:latin typeface="Arial" panose="020B0604020202020204" pitchFamily="34" charset="0"/>
                <a:ea typeface="Arial" pitchFamily="34" charset="-122"/>
                <a:cs typeface="Arial" panose="020B0604020202020204" pitchFamily="34" charset="0"/>
              </a:rPr>
              <a:t>  Questions welcome</a:t>
            </a:r>
            <a:endParaRPr lang="en-US" sz="1400" dirty="0">
              <a:solidFill>
                <a:schemeClr val="accent1">
                  <a:lumMod val="40000"/>
                  <a:lumOff val="60000"/>
                </a:schemeClr>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8FBF67-4BA3-4A4F-936A-5D2AD9765DA8}">
  <we:reference id="wa200005566" version="3.0.1.2" store="en-US" storeType="OMEX"/>
  <we:alternateReferences>
    <we:reference id="WA200005566" version="3.0.1.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385</TotalTime>
  <Words>1204</Words>
  <Application>Microsoft Office PowerPoint</Application>
  <PresentationFormat>Widescreen</PresentationFormat>
  <Paragraphs>267</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dentsu International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Anantakumaar Raviprasath</dc:creator>
  <cp:lastModifiedBy>Anantakumaar Raviprasath</cp:lastModifiedBy>
  <cp:revision>6</cp:revision>
  <dcterms:created xsi:type="dcterms:W3CDTF">2026-07-21T08:04:29Z</dcterms:created>
  <dcterms:modified xsi:type="dcterms:W3CDTF">2026-07-30T07:24:23Z</dcterms:modified>
</cp:coreProperties>
</file>